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6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8288000" cy="10287000"/>
  <p:notesSz cx="6858000" cy="9144000"/>
  <p:embeddedFontLst>
    <p:embeddedFont>
      <p:font typeface="Anton" pitchFamily="2" charset="0"/>
      <p:regular r:id="rId24"/>
    </p:embeddedFont>
    <p:embeddedFont>
      <p:font typeface="Apricots" panose="020B0604020202020204" charset="0"/>
      <p:regular r:id="rId25"/>
    </p:embeddedFont>
    <p:embeddedFont>
      <p:font typeface="Extenda 30 Deca" panose="020B0604020202020204" charset="0"/>
      <p:regular r:id="rId26"/>
    </p:embeddedFont>
    <p:embeddedFont>
      <p:font typeface="JetBrains Mono" panose="020B0604020202020204" charset="0"/>
      <p:regular r:id="rId27"/>
    </p:embeddedFont>
    <p:embeddedFont>
      <p:font typeface="Neue Machina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600">
                <a:solidFill>
                  <a:srgbClr val="1F3A4D"/>
                </a:solidFill>
              </a:rPr>
              <a:t>D + V + F (out of 30)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 /30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D9764A"/>
              </a:solidFill>
            </c:spPr>
            <c:extLst>
              <c:ext xmlns:c16="http://schemas.microsoft.com/office/drawing/2014/chart" uri="{C3380CC4-5D6E-409C-BE32-E72D297353CC}">
                <c16:uniqueId val="{00000001-BB4C-409F-8525-9ED96D248E89}"/>
              </c:ext>
            </c:extLst>
          </c:dPt>
          <c:dPt>
            <c:idx val="1"/>
            <c:invertIfNegative val="1"/>
            <c:bubble3D val="0"/>
            <c:spPr>
              <a:solidFill>
                <a:srgbClr val="3A6A82"/>
              </a:solidFill>
            </c:spPr>
            <c:extLst>
              <c:ext xmlns:c16="http://schemas.microsoft.com/office/drawing/2014/chart" uri="{C3380CC4-5D6E-409C-BE32-E72D297353CC}">
                <c16:uniqueId val="{00000003-BB4C-409F-8525-9ED96D248E89}"/>
              </c:ext>
            </c:extLst>
          </c:dPt>
          <c:dPt>
            <c:idx val="2"/>
            <c:invertIfNegative val="1"/>
            <c:bubble3D val="0"/>
            <c:spPr>
              <a:solidFill>
                <a:srgbClr val="3A6A82"/>
              </a:solidFill>
            </c:spPr>
            <c:extLst>
              <c:ext xmlns:c16="http://schemas.microsoft.com/office/drawing/2014/chart" uri="{C3380CC4-5D6E-409C-BE32-E72D297353CC}">
                <c16:uniqueId val="{00000005-BB4C-409F-8525-9ED96D248E89}"/>
              </c:ext>
            </c:extLst>
          </c:dPt>
          <c:dPt>
            <c:idx val="3"/>
            <c:invertIfNegative val="1"/>
            <c:bubble3D val="0"/>
            <c:spPr>
              <a:solidFill>
                <a:srgbClr val="3A6A82"/>
              </a:solidFill>
            </c:spPr>
            <c:extLst>
              <c:ext xmlns:c16="http://schemas.microsoft.com/office/drawing/2014/chart" uri="{C3380CC4-5D6E-409C-BE32-E72D297353CC}">
                <c16:uniqueId val="{00000007-BB4C-409F-8525-9ED96D248E8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1F3A4D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21</c:v>
                </c:pt>
                <c:pt idx="2">
                  <c:v>18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B4C-409F-8525-9ED96D248E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1F3A4D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8040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CausalOps: a causal AIOps platform that detects incidents in microservice systems, names the root cause, simulates the fix and applies it safely. Team: Vedant Bist (14), Aayush Gupta (35), Mayank Jaiswal (54). Guide: Ms. Swati Mude.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2W1H. What: detect, explain, fix. Why: alarms spread along call paths; the hunt for the cause is most of the outage; automation is distrusted. How: the closed loop on the right — observe, learn, detect, explain, simulate, act,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3W model with environmental and cost relevance. All software is open source; the only cost is a small cloud VM for a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Target users, inputs, design parameters, outputs, measurables and safety, each linked to something we measure (e.g. calibrated gate → early detection → recall ≥ 80%, achieved 100%). The Miro version mirrors this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users and how we researched them: interviews, observation of today's incident handling, and experiments with real faults on our testbed. Replace the bracket with your real interview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Semi-structured interviews: eight questions for engineers, six for managers (report Tables 5 and 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Literature survey: SRE practice, causal inference, microservice RCA (MicroRCA, CIRCA, Ikram et al.), surveys and OpenTelemetry. The gap: nobody closes the loop from cause to a verified, reversible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On-call engineer at 3 a.m.: thinks, says, does, feels. Pains: slow root cause, alert noise, manual fixes, fear of unsafe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needs from the empathy map, research and literature, each mapped to the module that meets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specific pain points; the diagram shows the alarm storm we reproduced on our testbed.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 ideas scored on desirability, viability and feasibility. Idea C is honest history: our first prototype learned a formula, not the real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Reached through 2W1H, 3W, mind map, research, empathy map, literature gap and D/V/F ideation.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Architecture: any service with OpenTelemetry → collector → Prometheus/Tempo/Loki; Spring Boot platform API and FastAPI AI engine; executors act back on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USP. Low-risk, reversible fixes run automatically when all 17 rules pass; higher tiers wait for one-click approval; blocked actions escalate. Every fix is verified on live measurements and rolled back if it does not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Charter: goal, scope, deliverables, success criteria, budget, team and technology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Phases 1–5 done and verified: real telemetry, ingestion and topology, self-calibrating ML, tiered remediation, live console. Next: security and Helm (6), long evidence campaigns (7).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Risk register with probability × impact and the mitigation built into the platform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 demo follows. Every number on these screens comes from the API; there is no mock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numbers are the platform's own (Calibration page and live verification). Weakest case today: network-link faults (link usually ranked second).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26-page report follows the same structure; the journey shows how each step led to the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Close: detect the problem, name the cause, show what the fix will change, fix it safely or ask you — and prove it worked. Then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888" b="-5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53903" y="4549866"/>
            <a:ext cx="16380194" cy="368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16"/>
              </a:lnSpc>
            </a:pPr>
            <a:r>
              <a:rPr lang="en-US" sz="42833">
                <a:solidFill>
                  <a:srgbClr val="FFFFFF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CAUSALOPS</a:t>
            </a:r>
          </a:p>
        </p:txBody>
      </p:sp>
      <p:grpSp>
        <p:nvGrpSpPr>
          <p:cNvPr id="4" name="Group 4"/>
          <p:cNvGrpSpPr/>
          <p:nvPr/>
        </p:nvGrpSpPr>
        <p:grpSpPr>
          <a:xfrm rot="-10800000">
            <a:off x="0" y="0"/>
            <a:ext cx="18288000" cy="1765851"/>
            <a:chOff x="0" y="0"/>
            <a:chExt cx="6740451" cy="6508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40451" cy="650844"/>
            </a:xfrm>
            <a:custGeom>
              <a:avLst/>
              <a:gdLst/>
              <a:ahLst/>
              <a:cxnLst/>
              <a:rect l="l" t="t" r="r" b="b"/>
              <a:pathLst>
                <a:path w="6740451" h="650844">
                  <a:moveTo>
                    <a:pt x="0" y="0"/>
                  </a:moveTo>
                  <a:lnTo>
                    <a:pt x="6740451" y="0"/>
                  </a:lnTo>
                  <a:lnTo>
                    <a:pt x="6740451" y="650844"/>
                  </a:lnTo>
                  <a:lnTo>
                    <a:pt x="0" y="650844"/>
                  </a:lnTo>
                  <a:close/>
                </a:path>
              </a:pathLst>
            </a:custGeom>
            <a:gradFill rotWithShape="1">
              <a:gsLst>
                <a:gs pos="0">
                  <a:srgbClr val="599CDB">
                    <a:alpha val="42000"/>
                  </a:srgbClr>
                </a:gs>
                <a:gs pos="100000">
                  <a:srgbClr val="1F5689">
                    <a:alpha val="42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740451" cy="688944"/>
            </a:xfrm>
            <a:prstGeom prst="rect">
              <a:avLst/>
            </a:prstGeom>
          </p:spPr>
          <p:txBody>
            <a:bodyPr lIns="29041" tIns="29041" rIns="29041" bIns="29041" rtlCol="0" anchor="ctr"/>
            <a:lstStyle/>
            <a:p>
              <a:pPr marL="0" lvl="0" indent="0" algn="ctr">
                <a:lnSpc>
                  <a:spcPts val="243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139208" y="245745"/>
            <a:ext cx="10009583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3A6A82"/>
                </a:solidFill>
                <a:latin typeface="Anton"/>
                <a:ea typeface="Anton"/>
                <a:cs typeface="Anton"/>
                <a:sym typeface="Anton"/>
              </a:rPr>
              <a:t>PBL MIDTERM EVALUATION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28800" y="1185471"/>
            <a:ext cx="14630400" cy="449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  <a:spcBef>
                <a:spcPct val="0"/>
              </a:spcBef>
            </a:pPr>
            <a:r>
              <a:rPr lang="en-US" sz="2543" spc="745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AI&amp;DS-A : SEMESTER V  ·  GUIDE: MS. SWATI MUDE</a:t>
            </a:r>
          </a:p>
        </p:txBody>
      </p:sp>
      <p:grpSp>
        <p:nvGrpSpPr>
          <p:cNvPr id="9" name="Group 9"/>
          <p:cNvGrpSpPr/>
          <p:nvPr/>
        </p:nvGrpSpPr>
        <p:grpSpPr>
          <a:xfrm rot="-10800000">
            <a:off x="0" y="7179742"/>
            <a:ext cx="18288000" cy="3668920"/>
            <a:chOff x="0" y="0"/>
            <a:chExt cx="6740451" cy="13522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40451" cy="1352263"/>
            </a:xfrm>
            <a:custGeom>
              <a:avLst/>
              <a:gdLst/>
              <a:ahLst/>
              <a:cxnLst/>
              <a:rect l="l" t="t" r="r" b="b"/>
              <a:pathLst>
                <a:path w="6740451" h="1352263">
                  <a:moveTo>
                    <a:pt x="0" y="0"/>
                  </a:moveTo>
                  <a:lnTo>
                    <a:pt x="6740451" y="0"/>
                  </a:lnTo>
                  <a:lnTo>
                    <a:pt x="6740451" y="1352263"/>
                  </a:lnTo>
                  <a:lnTo>
                    <a:pt x="0" y="1352263"/>
                  </a:lnTo>
                  <a:close/>
                </a:path>
              </a:pathLst>
            </a:custGeom>
            <a:solidFill>
              <a:srgbClr val="F2D7C3">
                <a:alpha val="57647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6740451" cy="1390363"/>
            </a:xfrm>
            <a:prstGeom prst="rect">
              <a:avLst/>
            </a:prstGeom>
          </p:spPr>
          <p:txBody>
            <a:bodyPr lIns="29041" tIns="29041" rIns="29041" bIns="29041" rtlCol="0" anchor="ctr"/>
            <a:lstStyle/>
            <a:p>
              <a:pPr marL="0" lvl="0" indent="0" algn="ctr">
                <a:lnSpc>
                  <a:spcPts val="24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363575" y="7719981"/>
            <a:ext cx="5609232" cy="2196936"/>
            <a:chOff x="0" y="0"/>
            <a:chExt cx="7478975" cy="2929248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85725"/>
              <a:ext cx="7478975" cy="1061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778"/>
                </a:lnSpc>
                <a:spcBef>
                  <a:spcPct val="0"/>
                </a:spcBef>
              </a:pPr>
              <a:r>
                <a:rPr lang="en-US" sz="4841">
                  <a:solidFill>
                    <a:srgbClr val="3A6A82"/>
                  </a:solidFill>
                  <a:latin typeface="Anton"/>
                  <a:ea typeface="Anton"/>
                  <a:cs typeface="Anton"/>
                  <a:sym typeface="Anton"/>
                </a:rPr>
                <a:t>TEAM MEMBERS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168288"/>
              <a:ext cx="7478975" cy="1760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591"/>
                </a:lnSpc>
                <a:spcBef>
                  <a:spcPct val="0"/>
                </a:spcBef>
              </a:pPr>
              <a:r>
                <a:rPr lang="en-US" sz="2565" u="none" strike="noStrike" spc="751">
                  <a:solidFill>
                    <a:srgbClr val="000000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14-Vedant Bist</a:t>
              </a:r>
            </a:p>
            <a:p>
              <a:pPr marL="0" lvl="0" indent="0" algn="ctr">
                <a:lnSpc>
                  <a:spcPts val="3591"/>
                </a:lnSpc>
                <a:spcBef>
                  <a:spcPct val="0"/>
                </a:spcBef>
              </a:pPr>
              <a:r>
                <a:rPr lang="en-US" sz="2565" u="none" strike="noStrike" spc="751">
                  <a:solidFill>
                    <a:srgbClr val="000000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35-Aayush Gupta</a:t>
              </a:r>
            </a:p>
            <a:p>
              <a:pPr marL="0" lvl="0" indent="0" algn="ctr">
                <a:lnSpc>
                  <a:spcPts val="3591"/>
                </a:lnSpc>
                <a:spcBef>
                  <a:spcPct val="0"/>
                </a:spcBef>
              </a:pPr>
              <a:r>
                <a:rPr lang="en-US" sz="2565" u="none" strike="noStrike" spc="751">
                  <a:solidFill>
                    <a:srgbClr val="000000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54-Mayank Jaiswal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888" b="-5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19456" y="207645"/>
            <a:ext cx="1872691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3A6A82"/>
                </a:solidFill>
                <a:latin typeface="Anton"/>
                <a:ea typeface="Anton"/>
                <a:cs typeface="Anton"/>
                <a:sym typeface="Anton"/>
              </a:rPr>
              <a:t>INTRODUCTION</a:t>
            </a:r>
          </a:p>
        </p:txBody>
      </p:sp>
      <p:sp>
        <p:nvSpPr>
          <p:cNvPr id="4" name="AutoShape 4"/>
          <p:cNvSpPr/>
          <p:nvPr/>
        </p:nvSpPr>
        <p:spPr>
          <a:xfrm>
            <a:off x="1050871" y="1028700"/>
            <a:ext cx="16208429" cy="0"/>
          </a:xfrm>
          <a:prstGeom prst="line">
            <a:avLst/>
          </a:prstGeom>
          <a:ln w="38100" cap="flat">
            <a:gradFill>
              <a:gsLst>
                <a:gs pos="0">
                  <a:srgbClr val="599CDB">
                    <a:alpha val="100000"/>
                  </a:srgbClr>
                </a:gs>
                <a:gs pos="100000">
                  <a:srgbClr val="1F568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0800000">
            <a:off x="432788" y="1488795"/>
            <a:ext cx="17412610" cy="8157652"/>
            <a:chOff x="0" y="0"/>
            <a:chExt cx="6417704" cy="30069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17704" cy="3006923"/>
            </a:xfrm>
            <a:custGeom>
              <a:avLst/>
              <a:gdLst/>
              <a:ahLst/>
              <a:cxnLst/>
              <a:rect l="l" t="t" r="r" b="b"/>
              <a:pathLst>
                <a:path w="6417704" h="3006923">
                  <a:moveTo>
                    <a:pt x="6417704" y="22231"/>
                  </a:moveTo>
                  <a:lnTo>
                    <a:pt x="6417704" y="2984692"/>
                  </a:lnTo>
                  <a:cubicBezTo>
                    <a:pt x="6417704" y="2996970"/>
                    <a:pt x="6407752" y="3006923"/>
                    <a:pt x="6395474" y="3006923"/>
                  </a:cubicBezTo>
                  <a:lnTo>
                    <a:pt x="22231" y="3006923"/>
                  </a:lnTo>
                  <a:cubicBezTo>
                    <a:pt x="9953" y="3006923"/>
                    <a:pt x="0" y="2996970"/>
                    <a:pt x="0" y="2984692"/>
                  </a:cubicBezTo>
                  <a:lnTo>
                    <a:pt x="0" y="22231"/>
                  </a:lnTo>
                  <a:cubicBezTo>
                    <a:pt x="0" y="9953"/>
                    <a:pt x="9953" y="0"/>
                    <a:pt x="22231" y="0"/>
                  </a:cubicBezTo>
                  <a:lnTo>
                    <a:pt x="6395474" y="0"/>
                  </a:lnTo>
                  <a:cubicBezTo>
                    <a:pt x="6407752" y="0"/>
                    <a:pt x="6417704" y="9953"/>
                    <a:pt x="6417704" y="22231"/>
                  </a:cubicBezTo>
                  <a:close/>
                </a:path>
              </a:pathLst>
            </a:custGeom>
            <a:solidFill>
              <a:srgbClr val="5F95AD">
                <a:alpha val="5098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417704" cy="3045023"/>
            </a:xfrm>
            <a:prstGeom prst="rect">
              <a:avLst/>
            </a:prstGeom>
          </p:spPr>
          <p:txBody>
            <a:bodyPr lIns="29041" tIns="29041" rIns="29041" bIns="29041" rtlCol="0" anchor="ctr"/>
            <a:lstStyle/>
            <a:p>
              <a:pPr marL="0" lvl="0" indent="0" algn="ctr">
                <a:lnSpc>
                  <a:spcPts val="243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143000" y="1783080"/>
            <a:ext cx="7406640" cy="6035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buNone/>
            </a:pPr>
            <a:r>
              <a:rPr sz="2700" b="1">
                <a:solidFill>
                  <a:srgbClr val="3A6A82"/>
                </a:solidFill>
                <a:latin typeface="JetBrains Mono"/>
              </a:rPr>
              <a:t>WHAT?</a:t>
            </a:r>
          </a:p>
          <a:p>
            <a:pPr>
              <a:spcAft>
                <a:spcPts val="600"/>
              </a:spcAft>
              <a:buNone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An AI platform that detects microservice incidents, names the root cause and fixes it safely.</a:t>
            </a:r>
          </a:p>
          <a:p>
            <a:pPr>
              <a:spcBef>
                <a:spcPts val="600"/>
              </a:spcBef>
              <a:spcAft>
                <a:spcPts val="800"/>
              </a:spcAft>
              <a:buNone/>
            </a:pPr>
            <a:r>
              <a:rPr sz="2700" b="1">
                <a:solidFill>
                  <a:srgbClr val="3A6A82"/>
                </a:solidFill>
                <a:latin typeface="JetBrains Mono"/>
              </a:rPr>
              <a:t>WHY?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One failure → alarms on many services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Finding the cause is most of the outage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Unexplained automation isn't trusted</a:t>
            </a:r>
          </a:p>
          <a:p>
            <a:pPr>
              <a:spcBef>
                <a:spcPts val="600"/>
              </a:spcBef>
              <a:spcAft>
                <a:spcPts val="800"/>
              </a:spcAft>
              <a:buNone/>
            </a:pPr>
            <a:r>
              <a:rPr sz="2700" b="1">
                <a:solidFill>
                  <a:srgbClr val="3A6A82"/>
                </a:solidFill>
                <a:latin typeface="JetBrains Mono"/>
              </a:rPr>
              <a:t>HOW?</a:t>
            </a:r>
          </a:p>
          <a:p>
            <a:pPr>
              <a:spcAft>
                <a:spcPts val="600"/>
              </a:spcAft>
              <a:buNone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Telemetry → causal model → what-if → policy-checked fix → verified</a:t>
            </a:r>
          </a:p>
        </p:txBody>
      </p:sp>
      <p:pic>
        <p:nvPicPr>
          <p:cNvPr id="9" name="Picture 8" descr="workflow_lo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1997327"/>
            <a:ext cx="8503920" cy="55608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8001000"/>
            <a:ext cx="1609344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buNone/>
            </a:pPr>
            <a:r>
              <a:rPr sz="2700" b="1">
                <a:solidFill>
                  <a:srgbClr val="3A6A82"/>
                </a:solidFill>
                <a:latin typeface="JetBrains Mono"/>
              </a:rPr>
              <a:t>SOCIAL RELEVANCE</a:t>
            </a:r>
          </a:p>
          <a:p>
            <a:pPr>
              <a:spcAft>
                <a:spcPts val="600"/>
              </a:spcAft>
              <a:buNone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Reliable payment, hospital and e-governance systems · fewer night-time pages and less burnout · SRE-grade reliability for start-ups and colleges, open source and self-hosted</a:t>
            </a:r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888" b="-5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19456" y="207645"/>
            <a:ext cx="1872691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3A6A82"/>
                </a:solidFill>
                <a:latin typeface="Anton"/>
                <a:ea typeface="Anton"/>
                <a:cs typeface="Anton"/>
                <a:sym typeface="Anton"/>
              </a:rPr>
              <a:t>OBJECTIVES</a:t>
            </a:r>
          </a:p>
        </p:txBody>
      </p:sp>
      <p:sp>
        <p:nvSpPr>
          <p:cNvPr id="4" name="AutoShape 4"/>
          <p:cNvSpPr/>
          <p:nvPr/>
        </p:nvSpPr>
        <p:spPr>
          <a:xfrm>
            <a:off x="1050871" y="1028700"/>
            <a:ext cx="16208429" cy="0"/>
          </a:xfrm>
          <a:prstGeom prst="line">
            <a:avLst/>
          </a:prstGeom>
          <a:ln w="38100" cap="flat">
            <a:gradFill>
              <a:gsLst>
                <a:gs pos="0">
                  <a:srgbClr val="599CDB">
                    <a:alpha val="100000"/>
                  </a:srgbClr>
                </a:gs>
                <a:gs pos="100000">
                  <a:srgbClr val="1F568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0800000">
            <a:off x="432788" y="1488795"/>
            <a:ext cx="17412610" cy="8157652"/>
            <a:chOff x="0" y="0"/>
            <a:chExt cx="6417704" cy="30069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17704" cy="3006923"/>
            </a:xfrm>
            <a:custGeom>
              <a:avLst/>
              <a:gdLst/>
              <a:ahLst/>
              <a:cxnLst/>
              <a:rect l="l" t="t" r="r" b="b"/>
              <a:pathLst>
                <a:path w="6417704" h="3006923">
                  <a:moveTo>
                    <a:pt x="6417704" y="22231"/>
                  </a:moveTo>
                  <a:lnTo>
                    <a:pt x="6417704" y="2984692"/>
                  </a:lnTo>
                  <a:cubicBezTo>
                    <a:pt x="6417704" y="2996970"/>
                    <a:pt x="6407752" y="3006923"/>
                    <a:pt x="6395474" y="3006923"/>
                  </a:cubicBezTo>
                  <a:lnTo>
                    <a:pt x="22231" y="3006923"/>
                  </a:lnTo>
                  <a:cubicBezTo>
                    <a:pt x="9953" y="3006923"/>
                    <a:pt x="0" y="2996970"/>
                    <a:pt x="0" y="2984692"/>
                  </a:cubicBezTo>
                  <a:lnTo>
                    <a:pt x="0" y="22231"/>
                  </a:lnTo>
                  <a:cubicBezTo>
                    <a:pt x="0" y="9953"/>
                    <a:pt x="9953" y="0"/>
                    <a:pt x="22231" y="0"/>
                  </a:cubicBezTo>
                  <a:lnTo>
                    <a:pt x="6395474" y="0"/>
                  </a:lnTo>
                  <a:cubicBezTo>
                    <a:pt x="6407752" y="0"/>
                    <a:pt x="6417704" y="9953"/>
                    <a:pt x="6417704" y="22231"/>
                  </a:cubicBezTo>
                  <a:close/>
                </a:path>
              </a:pathLst>
            </a:custGeom>
            <a:solidFill>
              <a:srgbClr val="5F95AD">
                <a:alpha val="5098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417704" cy="3045023"/>
            </a:xfrm>
            <a:prstGeom prst="rect">
              <a:avLst/>
            </a:prstGeom>
          </p:spPr>
          <p:txBody>
            <a:bodyPr lIns="29041" tIns="29041" rIns="29041" bIns="29041" rtlCol="0" anchor="ctr"/>
            <a:lstStyle/>
            <a:p>
              <a:pPr marL="0" lvl="0" indent="0" algn="ctr">
                <a:lnSpc>
                  <a:spcPts val="243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143000" y="1783080"/>
            <a:ext cx="7863840" cy="7680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buNone/>
            </a:pPr>
            <a:r>
              <a:rPr sz="2700" b="1">
                <a:solidFill>
                  <a:srgbClr val="3A6A82"/>
                </a:solidFill>
                <a:latin typeface="JetBrains Mono"/>
              </a:rPr>
              <a:t>WHEN?</a:t>
            </a:r>
          </a:p>
          <a:p>
            <a:pPr>
              <a:spcAft>
                <a:spcPts val="600"/>
              </a:spcAft>
              <a:buNone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Continuously — every 5 s on live telemetry. Semester V (Jul–Dec 2026): Phases 1–5 done, 6–7 next.</a:t>
            </a:r>
          </a:p>
          <a:p>
            <a:pPr>
              <a:spcBef>
                <a:spcPts val="600"/>
              </a:spcBef>
              <a:spcAft>
                <a:spcPts val="800"/>
              </a:spcAft>
              <a:buNone/>
            </a:pPr>
            <a:r>
              <a:rPr sz="2700" b="1">
                <a:solidFill>
                  <a:srgbClr val="3A6A82"/>
                </a:solidFill>
                <a:latin typeface="JetBrains Mono"/>
              </a:rPr>
              <a:t>WHERE?</a:t>
            </a:r>
          </a:p>
          <a:p>
            <a:pPr>
              <a:spcAft>
                <a:spcPts val="600"/>
              </a:spcAft>
              <a:buNone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Any Docker / Kubernetes system that exports OpenTelemetry. Built and tested at TCET on a 5-service reference shop.</a:t>
            </a:r>
          </a:p>
          <a:p>
            <a:pPr>
              <a:spcBef>
                <a:spcPts val="600"/>
              </a:spcBef>
              <a:spcAft>
                <a:spcPts val="800"/>
              </a:spcAft>
              <a:buNone/>
            </a:pPr>
            <a:r>
              <a:rPr sz="2700" b="1">
                <a:solidFill>
                  <a:srgbClr val="3A6A82"/>
                </a:solidFill>
                <a:latin typeface="JetBrains Mono"/>
              </a:rPr>
              <a:t>WHO?</a:t>
            </a:r>
          </a:p>
          <a:p>
            <a:pPr>
              <a:spcAft>
                <a:spcPts val="600"/>
              </a:spcAft>
              <a:buNone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SRE, DevOps and on-call engineers · developers · IT-ops of banks, hospitals, e-gov · start-ups without an SRE team.</a:t>
            </a:r>
          </a:p>
          <a:p>
            <a:pPr>
              <a:spcBef>
                <a:spcPts val="600"/>
              </a:spcBef>
              <a:spcAft>
                <a:spcPts val="800"/>
              </a:spcAft>
              <a:buNone/>
            </a:pPr>
            <a:r>
              <a:rPr sz="2700" b="1">
                <a:solidFill>
                  <a:srgbClr val="3A6A82"/>
                </a:solidFill>
                <a:latin typeface="JetBrains Mono"/>
              </a:rPr>
              <a:t>ENVIRONMENTAL RELEVANCE</a:t>
            </a:r>
          </a:p>
          <a:p>
            <a:pPr>
              <a:spcAft>
                <a:spcPts val="600"/>
              </a:spcAft>
              <a:buNone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Shorter incidents → fewer failed and retried requests → less wasted compute. Fixes one component instead of over-provisioning everything; one small machine, no GPU.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1828800"/>
            <a:ext cx="76809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buNone/>
            </a:pPr>
            <a:r>
              <a:rPr sz="2700" b="1">
                <a:solidFill>
                  <a:srgbClr val="3A6A82"/>
                </a:solidFill>
                <a:latin typeface="JetBrains Mono"/>
              </a:rPr>
              <a:t>COST RELEVANCE · 3-MONTH PILOT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509760" y="2514600"/>
          <a:ext cx="7680960" cy="4224528"/>
        </p:xfrm>
        <a:graphic>
          <a:graphicData uri="http://schemas.openxmlformats.org/drawingml/2006/table">
            <a:tbl>
              <a:tblPr firstRow="1"/>
              <a:tblGrid>
                <a:gridCol w="4608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2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JetBrains Mono"/>
                        </a:rPr>
                        <a:t>Item</a:t>
                      </a:r>
                    </a:p>
                  </a:txBody>
                  <a:tcPr marL="73152" marR="73152" marT="36576" marB="36576" anchor="ctr">
                    <a:solidFill>
                      <a:srgbClr val="3A6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JetBrains Mono"/>
                        </a:rPr>
                        <a:t>₹ (estimate)</a:t>
                      </a:r>
                    </a:p>
                  </a:txBody>
                  <a:tcPr marL="73152" marR="73152" marT="36576" marB="36576" anchor="ctr">
                    <a:solidFill>
                      <a:srgbClr val="3A6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3A4D"/>
                          </a:solidFill>
                          <a:latin typeface="JetBrains Mono"/>
                        </a:rPr>
                        <a:t>Open-source software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3A4D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3A4D"/>
                          </a:solidFill>
                          <a:latin typeface="JetBrains Mono"/>
                        </a:rPr>
                        <a:t>Team laptops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3A4D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3A4D"/>
                          </a:solidFill>
                          <a:latin typeface="JetBrains Mono"/>
                        </a:rPr>
                        <a:t>Cloud VM 4 vCPU / 8 GB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3A4D"/>
                          </a:solidFill>
                          <a:latin typeface="JetBrains Mono"/>
                        </a:rPr>
                        <a:t>7,500–12,000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3A4D"/>
                          </a:solidFill>
                          <a:latin typeface="JetBrains Mono"/>
                        </a:rPr>
                        <a:t>Domain + TLS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3A4D"/>
                          </a:solidFill>
                          <a:latin typeface="JetBrains Mono"/>
                        </a:rPr>
                        <a:t>0–1,000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3A4D"/>
                          </a:solidFill>
                          <a:latin typeface="JetBrains Mono"/>
                        </a:rPr>
                        <a:t>Contingency 15%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3A4D"/>
                          </a:solidFill>
                          <a:latin typeface="JetBrains Mono"/>
                        </a:rPr>
                        <a:t>1,100–2,000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3A4D"/>
                          </a:solidFill>
                          <a:latin typeface="JetBrains Mono"/>
                        </a:rPr>
                        <a:t>Total</a:t>
                      </a:r>
                    </a:p>
                  </a:txBody>
                  <a:tcPr marL="73152" marR="73152" marT="36576" marB="36576" anchor="ctr">
                    <a:solidFill>
                      <a:srgbClr val="F6C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3A4D"/>
                          </a:solidFill>
                          <a:latin typeface="JetBrains Mono"/>
                        </a:rPr>
                        <a:t>8,600–15,000</a:t>
                      </a:r>
                    </a:p>
                  </a:txBody>
                  <a:tcPr marL="73152" marR="73152" marT="36576" marB="36576" anchor="ctr">
                    <a:solidFill>
                      <a:srgbClr val="F6C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09760" y="6949440"/>
            <a:ext cx="7680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Estimates for an Indian-region VM; confirm before the pilot. Payback: every minute of downtime avoided.</a:t>
            </a:r>
          </a:p>
        </p:txBody>
      </p:sp>
    </p:spTree>
  </p:cSld>
  <p:clrMapOvr>
    <a:masterClrMapping/>
  </p:clrMapOvr>
  <p:transition spd="slow">
    <p:cover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888" b="-5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19456" y="207645"/>
            <a:ext cx="1872691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3A6A82"/>
                </a:solidFill>
                <a:latin typeface="Anton"/>
                <a:ea typeface="Anton"/>
                <a:cs typeface="Anton"/>
                <a:sym typeface="Anton"/>
              </a:rPr>
              <a:t>MIND MAP</a:t>
            </a:r>
          </a:p>
        </p:txBody>
      </p:sp>
      <p:sp>
        <p:nvSpPr>
          <p:cNvPr id="4" name="AutoShape 4"/>
          <p:cNvSpPr/>
          <p:nvPr/>
        </p:nvSpPr>
        <p:spPr>
          <a:xfrm>
            <a:off x="1050871" y="1028700"/>
            <a:ext cx="16208429" cy="0"/>
          </a:xfrm>
          <a:prstGeom prst="line">
            <a:avLst/>
          </a:prstGeom>
          <a:ln w="38100" cap="flat">
            <a:gradFill>
              <a:gsLst>
                <a:gs pos="0">
                  <a:srgbClr val="599CDB">
                    <a:alpha val="100000"/>
                  </a:srgbClr>
                </a:gs>
                <a:gs pos="100000">
                  <a:srgbClr val="1F568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0800000">
            <a:off x="432788" y="1488795"/>
            <a:ext cx="17412610" cy="8157652"/>
            <a:chOff x="0" y="0"/>
            <a:chExt cx="6417704" cy="30069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17704" cy="3006923"/>
            </a:xfrm>
            <a:custGeom>
              <a:avLst/>
              <a:gdLst/>
              <a:ahLst/>
              <a:cxnLst/>
              <a:rect l="l" t="t" r="r" b="b"/>
              <a:pathLst>
                <a:path w="6417704" h="3006923">
                  <a:moveTo>
                    <a:pt x="6417704" y="22231"/>
                  </a:moveTo>
                  <a:lnTo>
                    <a:pt x="6417704" y="2984692"/>
                  </a:lnTo>
                  <a:cubicBezTo>
                    <a:pt x="6417704" y="2996970"/>
                    <a:pt x="6407752" y="3006923"/>
                    <a:pt x="6395474" y="3006923"/>
                  </a:cubicBezTo>
                  <a:lnTo>
                    <a:pt x="22231" y="3006923"/>
                  </a:lnTo>
                  <a:cubicBezTo>
                    <a:pt x="9953" y="3006923"/>
                    <a:pt x="0" y="2996970"/>
                    <a:pt x="0" y="2984692"/>
                  </a:cubicBezTo>
                  <a:lnTo>
                    <a:pt x="0" y="22231"/>
                  </a:lnTo>
                  <a:cubicBezTo>
                    <a:pt x="0" y="9953"/>
                    <a:pt x="9953" y="0"/>
                    <a:pt x="22231" y="0"/>
                  </a:cubicBezTo>
                  <a:lnTo>
                    <a:pt x="6395474" y="0"/>
                  </a:lnTo>
                  <a:cubicBezTo>
                    <a:pt x="6407752" y="0"/>
                    <a:pt x="6417704" y="9953"/>
                    <a:pt x="6417704" y="22231"/>
                  </a:cubicBezTo>
                  <a:close/>
                </a:path>
              </a:pathLst>
            </a:custGeom>
            <a:solidFill>
              <a:srgbClr val="5F95AD">
                <a:alpha val="5098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417704" cy="3045023"/>
            </a:xfrm>
            <a:prstGeom prst="rect">
              <a:avLst/>
            </a:prstGeom>
          </p:spPr>
          <p:txBody>
            <a:bodyPr lIns="29041" tIns="29041" rIns="29041" bIns="29041" rtlCol="0" anchor="ctr"/>
            <a:lstStyle/>
            <a:p>
              <a:pPr marL="0" lvl="0" indent="0" algn="ctr">
                <a:lnSpc>
                  <a:spcPts val="2437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8" name="Picture 7" descr="mind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669808"/>
            <a:ext cx="16642080" cy="7770342"/>
          </a:xfrm>
          <a:prstGeom prst="rect">
            <a:avLst/>
          </a:prstGeom>
        </p:spPr>
      </p:pic>
    </p:spTree>
  </p:cSld>
  <p:clrMapOvr>
    <a:masterClrMapping/>
  </p:clrMapOvr>
  <p:transition spd="slow">
    <p:cover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888" b="-5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19456" y="207645"/>
            <a:ext cx="1872691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3A6A82"/>
                </a:solidFill>
                <a:latin typeface="Anton"/>
                <a:ea typeface="Anton"/>
                <a:cs typeface="Anton"/>
                <a:sym typeface="Anton"/>
              </a:rPr>
              <a:t>PRIMARY RESEARCH</a:t>
            </a:r>
          </a:p>
        </p:txBody>
      </p:sp>
      <p:sp>
        <p:nvSpPr>
          <p:cNvPr id="4" name="AutoShape 4"/>
          <p:cNvSpPr/>
          <p:nvPr/>
        </p:nvSpPr>
        <p:spPr>
          <a:xfrm>
            <a:off x="1050871" y="1028700"/>
            <a:ext cx="16208429" cy="0"/>
          </a:xfrm>
          <a:prstGeom prst="line">
            <a:avLst/>
          </a:prstGeom>
          <a:ln w="38100" cap="flat">
            <a:gradFill>
              <a:gsLst>
                <a:gs pos="0">
                  <a:srgbClr val="599CDB">
                    <a:alpha val="100000"/>
                  </a:srgbClr>
                </a:gs>
                <a:gs pos="100000">
                  <a:srgbClr val="1F568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0800000">
            <a:off x="432788" y="1488795"/>
            <a:ext cx="17412610" cy="8157652"/>
            <a:chOff x="0" y="0"/>
            <a:chExt cx="6417704" cy="30069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17704" cy="3006923"/>
            </a:xfrm>
            <a:custGeom>
              <a:avLst/>
              <a:gdLst/>
              <a:ahLst/>
              <a:cxnLst/>
              <a:rect l="l" t="t" r="r" b="b"/>
              <a:pathLst>
                <a:path w="6417704" h="3006923">
                  <a:moveTo>
                    <a:pt x="6417704" y="22231"/>
                  </a:moveTo>
                  <a:lnTo>
                    <a:pt x="6417704" y="2984692"/>
                  </a:lnTo>
                  <a:cubicBezTo>
                    <a:pt x="6417704" y="2996970"/>
                    <a:pt x="6407752" y="3006923"/>
                    <a:pt x="6395474" y="3006923"/>
                  </a:cubicBezTo>
                  <a:lnTo>
                    <a:pt x="22231" y="3006923"/>
                  </a:lnTo>
                  <a:cubicBezTo>
                    <a:pt x="9953" y="3006923"/>
                    <a:pt x="0" y="2996970"/>
                    <a:pt x="0" y="2984692"/>
                  </a:cubicBezTo>
                  <a:lnTo>
                    <a:pt x="0" y="22231"/>
                  </a:lnTo>
                  <a:cubicBezTo>
                    <a:pt x="0" y="9953"/>
                    <a:pt x="9953" y="0"/>
                    <a:pt x="22231" y="0"/>
                  </a:cubicBezTo>
                  <a:lnTo>
                    <a:pt x="6395474" y="0"/>
                  </a:lnTo>
                  <a:cubicBezTo>
                    <a:pt x="6407752" y="0"/>
                    <a:pt x="6417704" y="9953"/>
                    <a:pt x="6417704" y="22231"/>
                  </a:cubicBezTo>
                  <a:close/>
                </a:path>
              </a:pathLst>
            </a:custGeom>
            <a:solidFill>
              <a:srgbClr val="5F95AD">
                <a:alpha val="5098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417704" cy="3045023"/>
            </a:xfrm>
            <a:prstGeom prst="rect">
              <a:avLst/>
            </a:prstGeom>
          </p:spPr>
          <p:txBody>
            <a:bodyPr lIns="29041" tIns="29041" rIns="29041" bIns="29041" rtlCol="0" anchor="ctr"/>
            <a:lstStyle/>
            <a:p>
              <a:pPr marL="0" lvl="0" indent="0" algn="ctr">
                <a:lnSpc>
                  <a:spcPts val="243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143000" y="1783080"/>
            <a:ext cx="6949440" cy="7680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buNone/>
            </a:pPr>
            <a:r>
              <a:rPr sz="2700" b="1">
                <a:solidFill>
                  <a:srgbClr val="3A6A82"/>
                </a:solidFill>
                <a:latin typeface="JetBrains Mono"/>
              </a:rPr>
              <a:t>TARGET USERS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SRE / on-call engineers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DevOps &amp; platform teams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Service developers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IT-operations managers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Start-ups without an SRE team</a:t>
            </a:r>
          </a:p>
          <a:p>
            <a:pPr>
              <a:spcBef>
                <a:spcPts val="600"/>
              </a:spcBef>
              <a:spcAft>
                <a:spcPts val="800"/>
              </a:spcAft>
              <a:buNone/>
            </a:pPr>
            <a:r>
              <a:rPr sz="2700" b="1">
                <a:solidFill>
                  <a:srgbClr val="3A6A82"/>
                </a:solidFill>
                <a:latin typeface="JetBrains Mono"/>
              </a:rPr>
              <a:t>AGE GROUP</a:t>
            </a:r>
          </a:p>
          <a:p>
            <a:pPr>
              <a:spcAft>
                <a:spcPts val="600"/>
              </a:spcAft>
              <a:buNone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21–55 years (mostly 22–45)</a:t>
            </a:r>
          </a:p>
          <a:p>
            <a:pPr>
              <a:spcBef>
                <a:spcPts val="600"/>
              </a:spcBef>
              <a:spcAft>
                <a:spcPts val="800"/>
              </a:spcAft>
              <a:buNone/>
            </a:pPr>
            <a:r>
              <a:rPr sz="2700" b="1">
                <a:solidFill>
                  <a:srgbClr val="3A6A82"/>
                </a:solidFill>
                <a:latin typeface="JetBrains Mono"/>
              </a:rPr>
              <a:t>PROFESSION</a:t>
            </a:r>
          </a:p>
          <a:p>
            <a:pPr>
              <a:spcAft>
                <a:spcPts val="600"/>
              </a:spcAft>
              <a:buNone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Engineers and managers who run production software</a:t>
            </a:r>
          </a:p>
          <a:p>
            <a:pPr>
              <a:spcBef>
                <a:spcPts val="600"/>
              </a:spcBef>
              <a:spcAft>
                <a:spcPts val="800"/>
              </a:spcAft>
              <a:buNone/>
            </a:pPr>
            <a:r>
              <a:rPr sz="2700" b="1">
                <a:solidFill>
                  <a:srgbClr val="3A6A82"/>
                </a:solidFill>
                <a:latin typeface="JetBrains Mono"/>
              </a:rPr>
              <a:t>GENDER</a:t>
            </a:r>
          </a:p>
          <a:p>
            <a:pPr>
              <a:spcAft>
                <a:spcPts val="600"/>
              </a:spcAft>
              <a:buNone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All genders</a:t>
            </a:r>
          </a:p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[Add: number of people interviewed and organisations]</a:t>
            </a:r>
          </a:p>
        </p:txBody>
      </p:sp>
      <p:pic>
        <p:nvPicPr>
          <p:cNvPr id="9" name="Picture 8" descr="research_meth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3058376"/>
            <a:ext cx="8778240" cy="4856047"/>
          </a:xfrm>
          <a:prstGeom prst="rect">
            <a:avLst/>
          </a:prstGeom>
        </p:spPr>
      </p:pic>
    </p:spTree>
  </p:cSld>
  <p:clrMapOvr>
    <a:masterClrMapping/>
  </p:clrMapOvr>
  <p:transition spd="slow">
    <p:cover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888" b="-5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19456" y="207645"/>
            <a:ext cx="1872691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3A6A82"/>
                </a:solidFill>
                <a:latin typeface="Anton"/>
                <a:ea typeface="Anton"/>
                <a:cs typeface="Anton"/>
                <a:sym typeface="Anton"/>
              </a:rPr>
              <a:t>INTERVIEW QUESTIONS</a:t>
            </a:r>
          </a:p>
        </p:txBody>
      </p:sp>
      <p:sp>
        <p:nvSpPr>
          <p:cNvPr id="4" name="AutoShape 4"/>
          <p:cNvSpPr/>
          <p:nvPr/>
        </p:nvSpPr>
        <p:spPr>
          <a:xfrm>
            <a:off x="1050871" y="1028700"/>
            <a:ext cx="16208429" cy="0"/>
          </a:xfrm>
          <a:prstGeom prst="line">
            <a:avLst/>
          </a:prstGeom>
          <a:ln w="38100" cap="flat">
            <a:gradFill>
              <a:gsLst>
                <a:gs pos="0">
                  <a:srgbClr val="599CDB">
                    <a:alpha val="100000"/>
                  </a:srgbClr>
                </a:gs>
                <a:gs pos="100000">
                  <a:srgbClr val="1F568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0800000">
            <a:off x="432788" y="1488795"/>
            <a:ext cx="17412610" cy="8157652"/>
            <a:chOff x="0" y="0"/>
            <a:chExt cx="6417704" cy="30069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17704" cy="3006923"/>
            </a:xfrm>
            <a:custGeom>
              <a:avLst/>
              <a:gdLst/>
              <a:ahLst/>
              <a:cxnLst/>
              <a:rect l="l" t="t" r="r" b="b"/>
              <a:pathLst>
                <a:path w="6417704" h="3006923">
                  <a:moveTo>
                    <a:pt x="6417704" y="22231"/>
                  </a:moveTo>
                  <a:lnTo>
                    <a:pt x="6417704" y="2984692"/>
                  </a:lnTo>
                  <a:cubicBezTo>
                    <a:pt x="6417704" y="2996970"/>
                    <a:pt x="6407752" y="3006923"/>
                    <a:pt x="6395474" y="3006923"/>
                  </a:cubicBezTo>
                  <a:lnTo>
                    <a:pt x="22231" y="3006923"/>
                  </a:lnTo>
                  <a:cubicBezTo>
                    <a:pt x="9953" y="3006923"/>
                    <a:pt x="0" y="2996970"/>
                    <a:pt x="0" y="2984692"/>
                  </a:cubicBezTo>
                  <a:lnTo>
                    <a:pt x="0" y="22231"/>
                  </a:lnTo>
                  <a:cubicBezTo>
                    <a:pt x="0" y="9953"/>
                    <a:pt x="9953" y="0"/>
                    <a:pt x="22231" y="0"/>
                  </a:cubicBezTo>
                  <a:lnTo>
                    <a:pt x="6395474" y="0"/>
                  </a:lnTo>
                  <a:cubicBezTo>
                    <a:pt x="6407752" y="0"/>
                    <a:pt x="6417704" y="9953"/>
                    <a:pt x="6417704" y="22231"/>
                  </a:cubicBezTo>
                  <a:close/>
                </a:path>
              </a:pathLst>
            </a:custGeom>
            <a:solidFill>
              <a:srgbClr val="5F95AD">
                <a:alpha val="5098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417704" cy="3045023"/>
            </a:xfrm>
            <a:prstGeom prst="rect">
              <a:avLst/>
            </a:prstGeom>
          </p:spPr>
          <p:txBody>
            <a:bodyPr lIns="29041" tIns="29041" rIns="29041" bIns="29041" rtlCol="0" anchor="ctr"/>
            <a:lstStyle/>
            <a:p>
              <a:pPr marL="0" lvl="0" indent="0" algn="ctr">
                <a:lnSpc>
                  <a:spcPts val="243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Rounded Rectangle 7"/>
          <p:cNvSpPr/>
          <p:nvPr/>
        </p:nvSpPr>
        <p:spPr>
          <a:xfrm>
            <a:off x="1005840" y="1828800"/>
            <a:ext cx="7863840" cy="740664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 w="15875">
            <a:solidFill>
              <a:srgbClr val="D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418320" y="1828800"/>
            <a:ext cx="7863840" cy="740664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 w="15875">
            <a:solidFill>
              <a:srgbClr val="D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2011680"/>
            <a:ext cx="7315200" cy="7132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buNone/>
            </a:pPr>
            <a:r>
              <a:rPr sz="2700" b="1">
                <a:solidFill>
                  <a:srgbClr val="3A6A82"/>
                </a:solidFill>
                <a:latin typeface="JetBrains Mono"/>
              </a:rPr>
              <a:t>ENGINEERS</a:t>
            </a:r>
          </a:p>
          <a:p>
            <a:pPr>
              <a:spcAft>
                <a:spcPts val="400"/>
              </a:spcAft>
              <a:buNone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1. How do you learn something is wrong in production?</a:t>
            </a:r>
          </a:p>
          <a:p>
            <a:pPr>
              <a:spcAft>
                <a:spcPts val="400"/>
              </a:spcAft>
              <a:buNone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2. When many services alert, how do you find the cause? How long?</a:t>
            </a:r>
          </a:p>
          <a:p>
            <a:pPr>
              <a:spcAft>
                <a:spcPts val="400"/>
              </a:spcAft>
              <a:buNone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3. Which tools do you open, in what order?</a:t>
            </a:r>
          </a:p>
          <a:p>
            <a:pPr>
              <a:spcAft>
                <a:spcPts val="400"/>
              </a:spcAft>
              <a:buNone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4. What do you do first to recover?</a:t>
            </a:r>
          </a:p>
          <a:p>
            <a:pPr>
              <a:spcAft>
                <a:spcPts val="400"/>
              </a:spcAft>
              <a:buNone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5. Would you let a tool restart a service? When?</a:t>
            </a:r>
          </a:p>
          <a:p>
            <a:pPr>
              <a:spcAft>
                <a:spcPts val="400"/>
              </a:spcAft>
              <a:buNone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6. What must you see before trusting an automatic fix?</a:t>
            </a:r>
          </a:p>
          <a:p>
            <a:pPr>
              <a:spcAft>
                <a:spcPts val="400"/>
              </a:spcAft>
              <a:buNone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7. Do you measure detection time and MTTR?</a:t>
            </a:r>
          </a:p>
          <a:p>
            <a:pPr>
              <a:spcAft>
                <a:spcPts val="400"/>
              </a:spcAft>
              <a:buNone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8. How many night-time pages per month?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2011680"/>
            <a:ext cx="7315200" cy="7132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buNone/>
            </a:pPr>
            <a:r>
              <a:rPr sz="2700" b="1">
                <a:solidFill>
                  <a:srgbClr val="3A6A82"/>
                </a:solidFill>
                <a:latin typeface="JetBrains Mono"/>
              </a:rPr>
              <a:t>MANAGERS</a:t>
            </a:r>
          </a:p>
          <a:p>
            <a:pPr>
              <a:spcAft>
                <a:spcPts val="400"/>
              </a:spcAft>
              <a:buNone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1. What does an hour of downtime cost?</a:t>
            </a:r>
          </a:p>
          <a:p>
            <a:pPr>
              <a:spcAft>
                <a:spcPts val="400"/>
              </a:spcAft>
              <a:buNone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2. Who may change production during an incident?</a:t>
            </a:r>
          </a:p>
          <a:p>
            <a:pPr>
              <a:spcAft>
                <a:spcPts val="400"/>
              </a:spcAft>
              <a:buNone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3. What audit records do you need for changes?</a:t>
            </a:r>
          </a:p>
          <a:p>
            <a:pPr>
              <a:spcAft>
                <a:spcPts val="400"/>
              </a:spcAft>
              <a:buNone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4. Would you adopt a self-hosted open-source tool?</a:t>
            </a:r>
          </a:p>
          <a:p>
            <a:pPr>
              <a:spcAft>
                <a:spcPts val="400"/>
              </a:spcAft>
              <a:buNone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5. What would make you approve auto-remediation?</a:t>
            </a:r>
          </a:p>
          <a:p>
            <a:pPr>
              <a:spcAft>
                <a:spcPts val="400"/>
              </a:spcAft>
              <a:buNone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6. How do you report reliability to leadership?</a:t>
            </a:r>
          </a:p>
        </p:txBody>
      </p:sp>
    </p:spTree>
  </p:cSld>
  <p:clrMapOvr>
    <a:masterClrMapping/>
  </p:clrMapOvr>
  <p:transition spd="slow">
    <p:cover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888" b="-5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19456" y="207645"/>
            <a:ext cx="1872691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3A6A82"/>
                </a:solidFill>
                <a:latin typeface="Anton"/>
                <a:ea typeface="Anton"/>
                <a:cs typeface="Anton"/>
                <a:sym typeface="Anton"/>
              </a:rPr>
              <a:t>SECONDARY RESEARCH</a:t>
            </a:r>
          </a:p>
        </p:txBody>
      </p:sp>
      <p:sp>
        <p:nvSpPr>
          <p:cNvPr id="4" name="AutoShape 4"/>
          <p:cNvSpPr/>
          <p:nvPr/>
        </p:nvSpPr>
        <p:spPr>
          <a:xfrm>
            <a:off x="1050871" y="1028700"/>
            <a:ext cx="16208429" cy="0"/>
          </a:xfrm>
          <a:prstGeom prst="line">
            <a:avLst/>
          </a:prstGeom>
          <a:ln w="38100" cap="flat">
            <a:gradFill>
              <a:gsLst>
                <a:gs pos="0">
                  <a:srgbClr val="599CDB">
                    <a:alpha val="100000"/>
                  </a:srgbClr>
                </a:gs>
                <a:gs pos="100000">
                  <a:srgbClr val="1F568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0800000">
            <a:off x="432788" y="1488795"/>
            <a:ext cx="17412610" cy="8157652"/>
            <a:chOff x="0" y="0"/>
            <a:chExt cx="6417704" cy="30069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17704" cy="3006923"/>
            </a:xfrm>
            <a:custGeom>
              <a:avLst/>
              <a:gdLst/>
              <a:ahLst/>
              <a:cxnLst/>
              <a:rect l="l" t="t" r="r" b="b"/>
              <a:pathLst>
                <a:path w="6417704" h="3006923">
                  <a:moveTo>
                    <a:pt x="6417704" y="22231"/>
                  </a:moveTo>
                  <a:lnTo>
                    <a:pt x="6417704" y="2984692"/>
                  </a:lnTo>
                  <a:cubicBezTo>
                    <a:pt x="6417704" y="2996970"/>
                    <a:pt x="6407752" y="3006923"/>
                    <a:pt x="6395474" y="3006923"/>
                  </a:cubicBezTo>
                  <a:lnTo>
                    <a:pt x="22231" y="3006923"/>
                  </a:lnTo>
                  <a:cubicBezTo>
                    <a:pt x="9953" y="3006923"/>
                    <a:pt x="0" y="2996970"/>
                    <a:pt x="0" y="2984692"/>
                  </a:cubicBezTo>
                  <a:lnTo>
                    <a:pt x="0" y="22231"/>
                  </a:lnTo>
                  <a:cubicBezTo>
                    <a:pt x="0" y="9953"/>
                    <a:pt x="9953" y="0"/>
                    <a:pt x="22231" y="0"/>
                  </a:cubicBezTo>
                  <a:lnTo>
                    <a:pt x="6395474" y="0"/>
                  </a:lnTo>
                  <a:cubicBezTo>
                    <a:pt x="6407752" y="0"/>
                    <a:pt x="6417704" y="9953"/>
                    <a:pt x="6417704" y="22231"/>
                  </a:cubicBezTo>
                  <a:close/>
                </a:path>
              </a:pathLst>
            </a:custGeom>
            <a:solidFill>
              <a:srgbClr val="5F95AD">
                <a:alpha val="5098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417704" cy="3045023"/>
            </a:xfrm>
            <a:prstGeom prst="rect">
              <a:avLst/>
            </a:prstGeom>
          </p:spPr>
          <p:txBody>
            <a:bodyPr lIns="29041" tIns="29041" rIns="29041" bIns="29041" rtlCol="0" anchor="ctr"/>
            <a:lstStyle/>
            <a:p>
              <a:pPr marL="0" lvl="0" indent="0" algn="ctr">
                <a:lnSpc>
                  <a:spcPts val="243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05840" y="7086600"/>
            <a:ext cx="16276320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RESEARCH GAP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Research ranks root causes but never acts; automation acts without knowing the cause or checking the result.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02675" y="1731645"/>
            <a:ext cx="7482650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LITERATURE SURVEY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05840" y="2331720"/>
          <a:ext cx="16276319" cy="4480560"/>
        </p:xfrm>
        <a:graphic>
          <a:graphicData uri="http://schemas.openxmlformats.org/drawingml/2006/table">
            <a:tbl>
              <a:tblPr firstRow="1"/>
              <a:tblGrid>
                <a:gridCol w="5859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8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84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JetBrains Mono"/>
                        </a:rPr>
                        <a:t>Source</a:t>
                      </a:r>
                    </a:p>
                  </a:txBody>
                  <a:tcPr marL="73152" marR="73152" marT="36576" marB="36576" anchor="ctr">
                    <a:solidFill>
                      <a:srgbClr val="3A6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JetBrains Mono"/>
                        </a:rPr>
                        <a:t>Key idea</a:t>
                      </a:r>
                    </a:p>
                  </a:txBody>
                  <a:tcPr marL="73152" marR="73152" marT="36576" marB="36576" anchor="ctr">
                    <a:solidFill>
                      <a:srgbClr val="3A6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JetBrains Mono"/>
                        </a:rPr>
                        <a:t>Use in CausalOps</a:t>
                      </a:r>
                    </a:p>
                  </a:txBody>
                  <a:tcPr marL="73152" marR="73152" marT="36576" marB="36576" anchor="ctr">
                    <a:solidFill>
                      <a:srgbClr val="3A6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F3A4D"/>
                          </a:solidFill>
                          <a:latin typeface="JetBrains Mono"/>
                        </a:rPr>
                        <a:t>Google SRE book (2016)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SLOs, MTTR; automate toil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SLO detection · MTTR metric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F3A4D"/>
                          </a:solidFill>
                          <a:latin typeface="JetBrains Mono"/>
                        </a:rPr>
                        <a:t>Pearl, Causality (2009)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Interventions &amp; counterfactuals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Causal model + what-if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F3A4D"/>
                          </a:solidFill>
                          <a:latin typeface="JetBrains Mono"/>
                        </a:rPr>
                        <a:t>MicroRCA (NOMS 2020)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Graph ranking of faulty services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PageRank signal in RCA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F3A4D"/>
                          </a:solidFill>
                          <a:latin typeface="JetBrains Mono"/>
                        </a:rPr>
                        <a:t>CIRCA (KDD 2022) · Ikram (NeurIPS 2022)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Causal RCA beats correlation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Residual + causal ranking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F3A4D"/>
                          </a:solidFill>
                          <a:latin typeface="JetBrains Mono"/>
                        </a:rPr>
                        <a:t>Soldani &amp; Brogi (ACM CSUR 2022)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RCA methods rarely act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Gap: close the loop safely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F3A4D"/>
                          </a:solidFill>
                          <a:latin typeface="JetBrains Mono"/>
                        </a:rPr>
                        <a:t>OpenTelemetry (CNCF)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Vendor-neutral telemetry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Works on any system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5840" y="8549640"/>
            <a:ext cx="162763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2300" b="1">
                <a:solidFill>
                  <a:srgbClr val="D9764A"/>
                </a:solidFill>
                <a:latin typeface="JetBrains Mono"/>
              </a:rPr>
              <a:t>OUR APPROACH  </a:t>
            </a:r>
            <a:r>
              <a:rPr sz="2300" b="1">
                <a:solidFill>
                  <a:srgbClr val="1F3A4D"/>
                </a:solidFill>
                <a:latin typeface="JetBrains Mono"/>
              </a:rPr>
              <a:t>Detect → Explain → Simulate → Remediate safely → Verify</a:t>
            </a:r>
          </a:p>
        </p:txBody>
      </p:sp>
    </p:spTree>
  </p:cSld>
  <p:clrMapOvr>
    <a:masterClrMapping/>
  </p:clrMapOvr>
  <p:transition spd="slow">
    <p:cover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888" b="-5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19456" y="207645"/>
            <a:ext cx="1872691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3A6A82"/>
                </a:solidFill>
                <a:latin typeface="Anton"/>
                <a:ea typeface="Anton"/>
                <a:cs typeface="Anton"/>
                <a:sym typeface="Anton"/>
              </a:rPr>
              <a:t>EMPATHY MAP</a:t>
            </a:r>
          </a:p>
        </p:txBody>
      </p:sp>
      <p:sp>
        <p:nvSpPr>
          <p:cNvPr id="4" name="AutoShape 4"/>
          <p:cNvSpPr/>
          <p:nvPr/>
        </p:nvSpPr>
        <p:spPr>
          <a:xfrm>
            <a:off x="1050871" y="1028700"/>
            <a:ext cx="16208429" cy="0"/>
          </a:xfrm>
          <a:prstGeom prst="line">
            <a:avLst/>
          </a:prstGeom>
          <a:ln w="38100" cap="flat">
            <a:gradFill>
              <a:gsLst>
                <a:gs pos="0">
                  <a:srgbClr val="599CDB">
                    <a:alpha val="100000"/>
                  </a:srgbClr>
                </a:gs>
                <a:gs pos="100000">
                  <a:srgbClr val="1F568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0800000">
            <a:off x="575845" y="1447793"/>
            <a:ext cx="16980945" cy="8492528"/>
            <a:chOff x="0" y="0"/>
            <a:chExt cx="6258707" cy="31301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58707" cy="3130111"/>
            </a:xfrm>
            <a:custGeom>
              <a:avLst/>
              <a:gdLst/>
              <a:ahLst/>
              <a:cxnLst/>
              <a:rect l="l" t="t" r="r" b="b"/>
              <a:pathLst>
                <a:path w="6258707" h="3130111">
                  <a:moveTo>
                    <a:pt x="22796" y="0"/>
                  </a:moveTo>
                  <a:lnTo>
                    <a:pt x="6235911" y="0"/>
                  </a:lnTo>
                  <a:cubicBezTo>
                    <a:pt x="6241957" y="0"/>
                    <a:pt x="6247755" y="2402"/>
                    <a:pt x="6252030" y="6677"/>
                  </a:cubicBezTo>
                  <a:cubicBezTo>
                    <a:pt x="6256305" y="10952"/>
                    <a:pt x="6258707" y="16750"/>
                    <a:pt x="6258707" y="22796"/>
                  </a:cubicBezTo>
                  <a:lnTo>
                    <a:pt x="6258707" y="3107315"/>
                  </a:lnTo>
                  <a:cubicBezTo>
                    <a:pt x="6258707" y="3119905"/>
                    <a:pt x="6248501" y="3130111"/>
                    <a:pt x="6235911" y="3130111"/>
                  </a:cubicBezTo>
                  <a:lnTo>
                    <a:pt x="22796" y="3130111"/>
                  </a:lnTo>
                  <a:cubicBezTo>
                    <a:pt x="16750" y="3130111"/>
                    <a:pt x="10952" y="3127709"/>
                    <a:pt x="6677" y="3123434"/>
                  </a:cubicBezTo>
                  <a:cubicBezTo>
                    <a:pt x="2402" y="3119159"/>
                    <a:pt x="0" y="3113361"/>
                    <a:pt x="0" y="3107315"/>
                  </a:cubicBezTo>
                  <a:lnTo>
                    <a:pt x="0" y="22796"/>
                  </a:lnTo>
                  <a:cubicBezTo>
                    <a:pt x="0" y="10206"/>
                    <a:pt x="10206" y="0"/>
                    <a:pt x="22796" y="0"/>
                  </a:cubicBezTo>
                  <a:close/>
                </a:path>
              </a:pathLst>
            </a:custGeom>
            <a:solidFill>
              <a:srgbClr val="F2D7C3">
                <a:alpha val="5098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258707" cy="3168211"/>
            </a:xfrm>
            <a:prstGeom prst="rect">
              <a:avLst/>
            </a:prstGeom>
          </p:spPr>
          <p:txBody>
            <a:bodyPr lIns="29041" tIns="29041" rIns="29041" bIns="29041" rtlCol="0" anchor="ctr"/>
            <a:lstStyle/>
            <a:p>
              <a:pPr marL="0" lvl="0" indent="0" algn="ctr">
                <a:lnSpc>
                  <a:spcPts val="2437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8" name="Picture 7" descr="empath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379" y="1691640"/>
            <a:ext cx="14949241" cy="7223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8869680"/>
            <a:ext cx="160934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2200" b="1">
                <a:solidFill>
                  <a:srgbClr val="D9764A"/>
                </a:solidFill>
                <a:latin typeface="JetBrains Mono"/>
              </a:rPr>
              <a:t>Insight  </a:t>
            </a:r>
            <a:r>
              <a:rPr sz="2200" b="0">
                <a:solidFill>
                  <a:srgbClr val="1F3A4D"/>
                </a:solidFill>
                <a:latin typeface="JetBrains Mono"/>
              </a:rPr>
              <a:t>not short of data — short of answers, and wary of automation that can't explain or undo itself.</a:t>
            </a:r>
          </a:p>
        </p:txBody>
      </p:sp>
    </p:spTree>
  </p:cSld>
  <p:clrMapOvr>
    <a:masterClrMapping/>
  </p:clrMapOvr>
  <p:transition spd="slow">
    <p:cover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888" b="-5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19456" y="207645"/>
            <a:ext cx="1872691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3A6A82"/>
                </a:solidFill>
                <a:latin typeface="Anton"/>
                <a:ea typeface="Anton"/>
                <a:cs typeface="Anton"/>
                <a:sym typeface="Anton"/>
              </a:rPr>
              <a:t>USER NEEDS</a:t>
            </a:r>
          </a:p>
        </p:txBody>
      </p:sp>
      <p:sp>
        <p:nvSpPr>
          <p:cNvPr id="4" name="AutoShape 4"/>
          <p:cNvSpPr/>
          <p:nvPr/>
        </p:nvSpPr>
        <p:spPr>
          <a:xfrm>
            <a:off x="1050871" y="1028700"/>
            <a:ext cx="16208429" cy="0"/>
          </a:xfrm>
          <a:prstGeom prst="line">
            <a:avLst/>
          </a:prstGeom>
          <a:ln w="38100" cap="flat">
            <a:gradFill>
              <a:gsLst>
                <a:gs pos="0">
                  <a:srgbClr val="599CDB">
                    <a:alpha val="100000"/>
                  </a:srgbClr>
                </a:gs>
                <a:gs pos="100000">
                  <a:srgbClr val="1F568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0800000">
            <a:off x="416014" y="1447793"/>
            <a:ext cx="17487077" cy="8492528"/>
            <a:chOff x="0" y="0"/>
            <a:chExt cx="6445253" cy="31301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45253" cy="3130111"/>
            </a:xfrm>
            <a:custGeom>
              <a:avLst/>
              <a:gdLst/>
              <a:ahLst/>
              <a:cxnLst/>
              <a:rect l="l" t="t" r="r" b="b"/>
              <a:pathLst>
                <a:path w="6445253" h="3130111">
                  <a:moveTo>
                    <a:pt x="22136" y="0"/>
                  </a:moveTo>
                  <a:lnTo>
                    <a:pt x="6423116" y="0"/>
                  </a:lnTo>
                  <a:cubicBezTo>
                    <a:pt x="6435342" y="0"/>
                    <a:pt x="6445253" y="9911"/>
                    <a:pt x="6445253" y="22136"/>
                  </a:cubicBezTo>
                  <a:lnTo>
                    <a:pt x="6445253" y="3107975"/>
                  </a:lnTo>
                  <a:cubicBezTo>
                    <a:pt x="6445253" y="3113846"/>
                    <a:pt x="6442921" y="3119476"/>
                    <a:pt x="6438769" y="3123627"/>
                  </a:cubicBezTo>
                  <a:cubicBezTo>
                    <a:pt x="6434618" y="3127779"/>
                    <a:pt x="6428987" y="3130111"/>
                    <a:pt x="6423116" y="3130111"/>
                  </a:cubicBezTo>
                  <a:lnTo>
                    <a:pt x="22136" y="3130111"/>
                  </a:lnTo>
                  <a:cubicBezTo>
                    <a:pt x="16265" y="3130111"/>
                    <a:pt x="10635" y="3127779"/>
                    <a:pt x="6484" y="3123627"/>
                  </a:cubicBezTo>
                  <a:cubicBezTo>
                    <a:pt x="2332" y="3119476"/>
                    <a:pt x="0" y="3113846"/>
                    <a:pt x="0" y="3107975"/>
                  </a:cubicBezTo>
                  <a:lnTo>
                    <a:pt x="0" y="22136"/>
                  </a:lnTo>
                  <a:cubicBezTo>
                    <a:pt x="0" y="16265"/>
                    <a:pt x="2332" y="10635"/>
                    <a:pt x="6484" y="6484"/>
                  </a:cubicBezTo>
                  <a:cubicBezTo>
                    <a:pt x="10635" y="2332"/>
                    <a:pt x="16265" y="0"/>
                    <a:pt x="22136" y="0"/>
                  </a:cubicBezTo>
                  <a:close/>
                </a:path>
              </a:pathLst>
            </a:custGeom>
            <a:solidFill>
              <a:srgbClr val="F2D7C3">
                <a:alpha val="5098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445253" cy="3168211"/>
            </a:xfrm>
            <a:prstGeom prst="rect">
              <a:avLst/>
            </a:prstGeom>
          </p:spPr>
          <p:txBody>
            <a:bodyPr lIns="29041" tIns="29041" rIns="29041" bIns="29041" rtlCol="0" anchor="ctr"/>
            <a:lstStyle/>
            <a:p>
              <a:pPr marL="0" lvl="0" indent="0" algn="ctr">
                <a:lnSpc>
                  <a:spcPts val="2437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8" name="Picture 7" descr="needs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9478" y="1691640"/>
            <a:ext cx="12549042" cy="6949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8778240"/>
            <a:ext cx="160934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2400" b="1">
                <a:solidFill>
                  <a:srgbClr val="D9764A"/>
                </a:solidFill>
                <a:latin typeface="JetBrains Mono"/>
              </a:rPr>
              <a:t>Core need  </a:t>
            </a:r>
            <a:r>
              <a:rPr sz="2400" b="1">
                <a:solidFill>
                  <a:srgbClr val="1F3A4D"/>
                </a:solidFill>
                <a:latin typeface="JetBrains Mono"/>
              </a:rPr>
              <a:t>faster, trustworthy recovery — with humans in control.</a:t>
            </a:r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888" b="-5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19456" y="207645"/>
            <a:ext cx="1872691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3A6A82"/>
                </a:solidFill>
                <a:latin typeface="Anton"/>
                <a:ea typeface="Anton"/>
                <a:cs typeface="Anton"/>
                <a:sym typeface="Anton"/>
              </a:rPr>
              <a:t>PAIN POINTS</a:t>
            </a:r>
          </a:p>
        </p:txBody>
      </p:sp>
      <p:sp>
        <p:nvSpPr>
          <p:cNvPr id="4" name="AutoShape 4"/>
          <p:cNvSpPr/>
          <p:nvPr/>
        </p:nvSpPr>
        <p:spPr>
          <a:xfrm>
            <a:off x="1050871" y="1028700"/>
            <a:ext cx="16208429" cy="0"/>
          </a:xfrm>
          <a:prstGeom prst="line">
            <a:avLst/>
          </a:prstGeom>
          <a:ln w="38100" cap="flat">
            <a:gradFill>
              <a:gsLst>
                <a:gs pos="0">
                  <a:srgbClr val="599CDB">
                    <a:alpha val="100000"/>
                  </a:srgbClr>
                </a:gs>
                <a:gs pos="100000">
                  <a:srgbClr val="1F568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0800000">
            <a:off x="575845" y="1447793"/>
            <a:ext cx="16980945" cy="8492528"/>
            <a:chOff x="0" y="0"/>
            <a:chExt cx="6258707" cy="31301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58707" cy="3130111"/>
            </a:xfrm>
            <a:custGeom>
              <a:avLst/>
              <a:gdLst/>
              <a:ahLst/>
              <a:cxnLst/>
              <a:rect l="l" t="t" r="r" b="b"/>
              <a:pathLst>
                <a:path w="6258707" h="3130111">
                  <a:moveTo>
                    <a:pt x="22796" y="0"/>
                  </a:moveTo>
                  <a:lnTo>
                    <a:pt x="6235911" y="0"/>
                  </a:lnTo>
                  <a:cubicBezTo>
                    <a:pt x="6241957" y="0"/>
                    <a:pt x="6247755" y="2402"/>
                    <a:pt x="6252030" y="6677"/>
                  </a:cubicBezTo>
                  <a:cubicBezTo>
                    <a:pt x="6256305" y="10952"/>
                    <a:pt x="6258707" y="16750"/>
                    <a:pt x="6258707" y="22796"/>
                  </a:cubicBezTo>
                  <a:lnTo>
                    <a:pt x="6258707" y="3107315"/>
                  </a:lnTo>
                  <a:cubicBezTo>
                    <a:pt x="6258707" y="3119905"/>
                    <a:pt x="6248501" y="3130111"/>
                    <a:pt x="6235911" y="3130111"/>
                  </a:cubicBezTo>
                  <a:lnTo>
                    <a:pt x="22796" y="3130111"/>
                  </a:lnTo>
                  <a:cubicBezTo>
                    <a:pt x="16750" y="3130111"/>
                    <a:pt x="10952" y="3127709"/>
                    <a:pt x="6677" y="3123434"/>
                  </a:cubicBezTo>
                  <a:cubicBezTo>
                    <a:pt x="2402" y="3119159"/>
                    <a:pt x="0" y="3113361"/>
                    <a:pt x="0" y="3107315"/>
                  </a:cubicBezTo>
                  <a:lnTo>
                    <a:pt x="0" y="22796"/>
                  </a:lnTo>
                  <a:cubicBezTo>
                    <a:pt x="0" y="10206"/>
                    <a:pt x="10206" y="0"/>
                    <a:pt x="22796" y="0"/>
                  </a:cubicBezTo>
                  <a:close/>
                </a:path>
              </a:pathLst>
            </a:custGeom>
            <a:solidFill>
              <a:srgbClr val="F2D7C3">
                <a:alpha val="5098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258707" cy="3168211"/>
            </a:xfrm>
            <a:prstGeom prst="rect">
              <a:avLst/>
            </a:prstGeom>
          </p:spPr>
          <p:txBody>
            <a:bodyPr lIns="29041" tIns="29041" rIns="29041" bIns="29041" rtlCol="0" anchor="ctr"/>
            <a:lstStyle/>
            <a:p>
              <a:pPr marL="0" lvl="0" indent="0" algn="ctr">
                <a:lnSpc>
                  <a:spcPts val="243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097280" y="1828800"/>
            <a:ext cx="7680960" cy="7589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2300" b="1">
                <a:solidFill>
                  <a:srgbClr val="1F3A4D"/>
                </a:solidFill>
                <a:latin typeface="JetBrains Mono"/>
              </a:rPr>
              <a:t>1. Alarm storms</a:t>
            </a:r>
          </a:p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One failure makes several services alert; the real cause is hidden.</a:t>
            </a:r>
          </a:p>
          <a:p>
            <a:pPr>
              <a:spcAft>
                <a:spcPts val="600"/>
              </a:spcAft>
              <a:buNone/>
            </a:pPr>
            <a:r>
              <a:rPr sz="2300" b="1">
                <a:solidFill>
                  <a:srgbClr val="1F3A4D"/>
                </a:solidFill>
                <a:latin typeface="JetBrains Mono"/>
              </a:rPr>
              <a:t>2. Root-cause hunt</a:t>
            </a:r>
          </a:p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Switching between dashboards, logs and traces under pressure.</a:t>
            </a:r>
          </a:p>
          <a:p>
            <a:pPr>
              <a:spcAft>
                <a:spcPts val="600"/>
              </a:spcAft>
              <a:buNone/>
            </a:pPr>
            <a:r>
              <a:rPr sz="2300" b="1">
                <a:solidFill>
                  <a:srgbClr val="1F3A4D"/>
                </a:solidFill>
                <a:latin typeface="JetBrains Mono"/>
              </a:rPr>
              <a:t>3. Manual night-time fixes</a:t>
            </a:r>
          </a:p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Routine restarts done by hand, often at 3 a.m.</a:t>
            </a:r>
          </a:p>
          <a:p>
            <a:pPr>
              <a:spcAft>
                <a:spcPts val="600"/>
              </a:spcAft>
              <a:buNone/>
            </a:pPr>
            <a:r>
              <a:rPr sz="2300" b="1">
                <a:solidFill>
                  <a:srgbClr val="1F3A4D"/>
                </a:solidFill>
                <a:latin typeface="JetBrains Mono"/>
              </a:rPr>
              <a:t>4. Untrusted automation</a:t>
            </a:r>
          </a:p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Fixes that can't explain themselves or be undone.</a:t>
            </a:r>
          </a:p>
          <a:p>
            <a:pPr>
              <a:spcAft>
                <a:spcPts val="600"/>
              </a:spcAft>
              <a:buNone/>
            </a:pPr>
            <a:r>
              <a:rPr sz="2300" b="1">
                <a:solidFill>
                  <a:srgbClr val="1F3A4D"/>
                </a:solidFill>
                <a:latin typeface="JetBrains Mono"/>
              </a:rPr>
              <a:t>5. Stale dependency maps</a:t>
            </a:r>
          </a:p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Hand-drawn topologies go out of date.</a:t>
            </a:r>
          </a:p>
          <a:p>
            <a:pPr>
              <a:spcAft>
                <a:spcPts val="600"/>
              </a:spcAft>
              <a:buNone/>
            </a:pPr>
            <a:r>
              <a:rPr sz="2300" b="1">
                <a:solidFill>
                  <a:srgbClr val="1F3A4D"/>
                </a:solidFill>
                <a:latin typeface="JetBrains Mono"/>
              </a:rPr>
              <a:t>6. No outcome numbers</a:t>
            </a:r>
          </a:p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Detection time, MTTR and downtime are not measured.</a:t>
            </a:r>
          </a:p>
        </p:txBody>
      </p:sp>
      <p:pic>
        <p:nvPicPr>
          <p:cNvPr id="9" name="Picture 8" descr="alarm_st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2246732"/>
            <a:ext cx="8138160" cy="41018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26880" y="6858000"/>
            <a:ext cx="7863840" cy="2377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2200" b="1">
                <a:solidFill>
                  <a:srgbClr val="D9764A"/>
                </a:solidFill>
                <a:latin typeface="JetBrains Mono"/>
              </a:rPr>
              <a:t>Example  </a:t>
            </a:r>
            <a:r>
              <a:rPr sz="2200" b="0">
                <a:solidFill>
                  <a:srgbClr val="1F3A4D"/>
                </a:solidFill>
                <a:latin typeface="JetBrains Mono"/>
              </a:rPr>
              <a:t>inventory-db slows down — three services alarm. Which one do you fix?</a:t>
            </a:r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888" b="-5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19456" y="207645"/>
            <a:ext cx="1872691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3A6A82"/>
                </a:solidFill>
                <a:latin typeface="Anton"/>
                <a:ea typeface="Anton"/>
                <a:cs typeface="Anton"/>
                <a:sym typeface="Anton"/>
              </a:rPr>
              <a:t>IDEATION</a:t>
            </a:r>
          </a:p>
        </p:txBody>
      </p:sp>
      <p:sp>
        <p:nvSpPr>
          <p:cNvPr id="4" name="AutoShape 4"/>
          <p:cNvSpPr/>
          <p:nvPr/>
        </p:nvSpPr>
        <p:spPr>
          <a:xfrm>
            <a:off x="1050871" y="1028700"/>
            <a:ext cx="16208429" cy="0"/>
          </a:xfrm>
          <a:prstGeom prst="line">
            <a:avLst/>
          </a:prstGeom>
          <a:ln w="38100" cap="flat">
            <a:gradFill>
              <a:gsLst>
                <a:gs pos="0">
                  <a:srgbClr val="599CDB">
                    <a:alpha val="100000"/>
                  </a:srgbClr>
                </a:gs>
                <a:gs pos="100000">
                  <a:srgbClr val="1F568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0800000">
            <a:off x="575845" y="1447793"/>
            <a:ext cx="16980945" cy="8492528"/>
            <a:chOff x="0" y="0"/>
            <a:chExt cx="6258707" cy="31301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58707" cy="3130111"/>
            </a:xfrm>
            <a:custGeom>
              <a:avLst/>
              <a:gdLst/>
              <a:ahLst/>
              <a:cxnLst/>
              <a:rect l="l" t="t" r="r" b="b"/>
              <a:pathLst>
                <a:path w="6258707" h="3130111">
                  <a:moveTo>
                    <a:pt x="22796" y="0"/>
                  </a:moveTo>
                  <a:lnTo>
                    <a:pt x="6235911" y="0"/>
                  </a:lnTo>
                  <a:cubicBezTo>
                    <a:pt x="6241957" y="0"/>
                    <a:pt x="6247755" y="2402"/>
                    <a:pt x="6252030" y="6677"/>
                  </a:cubicBezTo>
                  <a:cubicBezTo>
                    <a:pt x="6256305" y="10952"/>
                    <a:pt x="6258707" y="16750"/>
                    <a:pt x="6258707" y="22796"/>
                  </a:cubicBezTo>
                  <a:lnTo>
                    <a:pt x="6258707" y="3107315"/>
                  </a:lnTo>
                  <a:cubicBezTo>
                    <a:pt x="6258707" y="3119905"/>
                    <a:pt x="6248501" y="3130111"/>
                    <a:pt x="6235911" y="3130111"/>
                  </a:cubicBezTo>
                  <a:lnTo>
                    <a:pt x="22796" y="3130111"/>
                  </a:lnTo>
                  <a:cubicBezTo>
                    <a:pt x="16750" y="3130111"/>
                    <a:pt x="10952" y="3127709"/>
                    <a:pt x="6677" y="3123434"/>
                  </a:cubicBezTo>
                  <a:cubicBezTo>
                    <a:pt x="2402" y="3119159"/>
                    <a:pt x="0" y="3113361"/>
                    <a:pt x="0" y="3107315"/>
                  </a:cubicBezTo>
                  <a:lnTo>
                    <a:pt x="0" y="22796"/>
                  </a:lnTo>
                  <a:cubicBezTo>
                    <a:pt x="0" y="10206"/>
                    <a:pt x="10206" y="0"/>
                    <a:pt x="22796" y="0"/>
                  </a:cubicBezTo>
                  <a:close/>
                </a:path>
              </a:pathLst>
            </a:custGeom>
            <a:solidFill>
              <a:srgbClr val="F2D7C3">
                <a:alpha val="5098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258707" cy="3168211"/>
            </a:xfrm>
            <a:prstGeom prst="rect">
              <a:avLst/>
            </a:prstGeom>
          </p:spPr>
          <p:txBody>
            <a:bodyPr lIns="29041" tIns="29041" rIns="29041" bIns="29041" rtlCol="0" anchor="ctr"/>
            <a:lstStyle/>
            <a:p>
              <a:pPr marL="0" lvl="0" indent="0" algn="ctr">
                <a:lnSpc>
                  <a:spcPts val="243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13826" y="6995160"/>
            <a:ext cx="14860349" cy="1188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</a:pPr>
            <a:r>
              <a:rPr lang="en-US" sz="2336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SELECTED: IDEA A — CAUSALOPS (24/30)</a:t>
            </a:r>
          </a:p>
          <a:p>
            <a:pPr algn="ctr">
              <a:lnSpc>
                <a:spcPts val="3270"/>
              </a:lnSpc>
            </a:pPr>
            <a:r>
              <a:rPr lang="en-US" sz="2336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Self-calibrating causal RCA + counterfactual + tiered, verified auto-remediation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05840" y="1874519"/>
          <a:ext cx="10241279" cy="4800600"/>
        </p:xfrm>
        <a:graphic>
          <a:graphicData uri="http://schemas.openxmlformats.org/drawingml/2006/table">
            <a:tbl>
              <a:tblPr firstRow="1"/>
              <a:tblGrid>
                <a:gridCol w="6554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1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7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JetBrains Mono"/>
                        </a:rPr>
                        <a:t>Idea</a:t>
                      </a:r>
                    </a:p>
                  </a:txBody>
                  <a:tcPr marL="73152" marR="73152" marT="36576" marB="36576" anchor="ctr">
                    <a:solidFill>
                      <a:srgbClr val="3A6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JetBrains Mono"/>
                        </a:rPr>
                        <a:t>D</a:t>
                      </a:r>
                    </a:p>
                  </a:txBody>
                  <a:tcPr marL="73152" marR="73152" marT="36576" marB="36576" anchor="ctr">
                    <a:solidFill>
                      <a:srgbClr val="3A6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JetBrains Mono"/>
                        </a:rPr>
                        <a:t>V</a:t>
                      </a:r>
                    </a:p>
                  </a:txBody>
                  <a:tcPr marL="73152" marR="73152" marT="36576" marB="36576" anchor="ctr">
                    <a:solidFill>
                      <a:srgbClr val="3A6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JetBrains Mono"/>
                        </a:rPr>
                        <a:t>F</a:t>
                      </a:r>
                    </a:p>
                  </a:txBody>
                  <a:tcPr marL="73152" marR="73152" marT="36576" marB="36576" anchor="ctr">
                    <a:solidFill>
                      <a:srgbClr val="3A6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JetBrains Mono"/>
                        </a:rPr>
                        <a:t>Total</a:t>
                      </a:r>
                    </a:p>
                  </a:txBody>
                  <a:tcPr marL="73152" marR="73152" marT="36576" marB="36576" anchor="ctr">
                    <a:solidFill>
                      <a:srgbClr val="3A6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A · CausalOps: causal RCA + counterfactual + tiered, verified remediation</a:t>
                      </a:r>
                    </a:p>
                  </a:txBody>
                  <a:tcPr marL="73152" marR="73152" marT="36576" marB="36576" anchor="ctr">
                    <a:solidFill>
                      <a:srgbClr val="F6C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9</a:t>
                      </a:r>
                    </a:p>
                  </a:txBody>
                  <a:tcPr marL="73152" marR="73152" marT="36576" marB="36576" anchor="ctr">
                    <a:solidFill>
                      <a:srgbClr val="F6C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8</a:t>
                      </a:r>
                    </a:p>
                  </a:txBody>
                  <a:tcPr marL="73152" marR="73152" marT="36576" marB="36576" anchor="ctr">
                    <a:solidFill>
                      <a:srgbClr val="F6C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7</a:t>
                      </a:r>
                    </a:p>
                  </a:txBody>
                  <a:tcPr marL="73152" marR="73152" marT="36576" marB="36576" anchor="ctr">
                    <a:solidFill>
                      <a:srgbClr val="F6C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24</a:t>
                      </a:r>
                    </a:p>
                  </a:txBody>
                  <a:tcPr marL="73152" marR="73152" marT="36576" marB="36576" anchor="ctr">
                    <a:solidFill>
                      <a:srgbClr val="F6C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B · Better threshold alerts and dashboards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7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9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21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C · ML classifier trained once on synthetic data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18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D · Fully autonomous agent, no policy or approval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7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F3A4D"/>
                          </a:solidFill>
                          <a:latin typeface="JetBrains Mono"/>
                        </a:rPr>
                        <a:t>15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1704320" y="1828800"/>
          <a:ext cx="55778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888" b="-5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19456" y="207645"/>
            <a:ext cx="1872691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3A6A82"/>
                </a:solidFill>
                <a:latin typeface="Anton"/>
                <a:ea typeface="Anton"/>
                <a:cs typeface="Anton"/>
                <a:sym typeface="Anton"/>
              </a:rPr>
              <a:t>FINAL PROBLEM STATEMENT</a:t>
            </a:r>
          </a:p>
        </p:txBody>
      </p:sp>
      <p:sp>
        <p:nvSpPr>
          <p:cNvPr id="4" name="AutoShape 4"/>
          <p:cNvSpPr/>
          <p:nvPr/>
        </p:nvSpPr>
        <p:spPr>
          <a:xfrm>
            <a:off x="1050871" y="1028700"/>
            <a:ext cx="16208429" cy="0"/>
          </a:xfrm>
          <a:prstGeom prst="line">
            <a:avLst/>
          </a:prstGeom>
          <a:ln w="38100" cap="flat">
            <a:gradFill>
              <a:gsLst>
                <a:gs pos="0">
                  <a:srgbClr val="599CDB">
                    <a:alpha val="100000"/>
                  </a:srgbClr>
                </a:gs>
                <a:gs pos="100000">
                  <a:srgbClr val="1F568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0800000">
            <a:off x="575845" y="1447793"/>
            <a:ext cx="17373980" cy="8492528"/>
            <a:chOff x="0" y="0"/>
            <a:chExt cx="6403568" cy="31301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03568" cy="3130111"/>
            </a:xfrm>
            <a:custGeom>
              <a:avLst/>
              <a:gdLst/>
              <a:ahLst/>
              <a:cxnLst/>
              <a:rect l="l" t="t" r="r" b="b"/>
              <a:pathLst>
                <a:path w="6403568" h="3130111">
                  <a:moveTo>
                    <a:pt x="22280" y="0"/>
                  </a:moveTo>
                  <a:lnTo>
                    <a:pt x="6381288" y="0"/>
                  </a:lnTo>
                  <a:cubicBezTo>
                    <a:pt x="6393593" y="0"/>
                    <a:pt x="6403568" y="9975"/>
                    <a:pt x="6403568" y="22280"/>
                  </a:cubicBezTo>
                  <a:lnTo>
                    <a:pt x="6403568" y="3107831"/>
                  </a:lnTo>
                  <a:cubicBezTo>
                    <a:pt x="6403568" y="3120136"/>
                    <a:pt x="6393593" y="3130111"/>
                    <a:pt x="6381288" y="3130111"/>
                  </a:cubicBezTo>
                  <a:lnTo>
                    <a:pt x="22280" y="3130111"/>
                  </a:lnTo>
                  <a:cubicBezTo>
                    <a:pt x="9975" y="3130111"/>
                    <a:pt x="0" y="3120136"/>
                    <a:pt x="0" y="3107831"/>
                  </a:cubicBezTo>
                  <a:lnTo>
                    <a:pt x="0" y="22280"/>
                  </a:lnTo>
                  <a:cubicBezTo>
                    <a:pt x="0" y="9975"/>
                    <a:pt x="9975" y="0"/>
                    <a:pt x="22280" y="0"/>
                  </a:cubicBezTo>
                  <a:close/>
                </a:path>
              </a:pathLst>
            </a:custGeom>
            <a:solidFill>
              <a:srgbClr val="F2D7C3">
                <a:alpha val="5098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403568" cy="3168211"/>
            </a:xfrm>
            <a:prstGeom prst="rect">
              <a:avLst/>
            </a:prstGeom>
          </p:spPr>
          <p:txBody>
            <a:bodyPr lIns="29041" tIns="29041" rIns="29041" bIns="29041" rtlCol="0" anchor="ctr"/>
            <a:lstStyle/>
            <a:p>
              <a:pPr marL="0" lvl="0" indent="0" algn="ctr">
                <a:lnSpc>
                  <a:spcPts val="243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36144" y="1877026"/>
            <a:ext cx="14860349" cy="397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</a:pPr>
            <a:r>
              <a:rPr lang="en-US" sz="2336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PROBLEM STATEMENT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423160"/>
            <a:ext cx="16276320" cy="379476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 w="15875">
            <a:solidFill>
              <a:srgbClr val="D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2606040"/>
            <a:ext cx="15544800" cy="34747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2600" b="1">
                <a:solidFill>
                  <a:srgbClr val="D9764A"/>
                </a:solidFill>
                <a:latin typeface="JetBrains Mono"/>
              </a:rPr>
              <a:t>How might we </a:t>
            </a:r>
            <a:r>
              <a:rPr sz="2400" b="0">
                <a:solidFill>
                  <a:srgbClr val="1F3A4D"/>
                </a:solidFill>
                <a:latin typeface="JetBrains Mono"/>
              </a:rPr>
              <a:t>help engineers restore any microservice system faster — by automatically naming the component that caused an incident, showing what fixing it would change, and applying low-risk fixes safely with verification, rollback and human approval for the rest — while the platform learns each system on its own?</a:t>
            </a:r>
          </a:p>
        </p:txBody>
      </p:sp>
      <p:pic>
        <p:nvPicPr>
          <p:cNvPr id="11" name="Picture 10" descr="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1097" y="6537960"/>
            <a:ext cx="12565805" cy="292608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888" b="-5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19456" y="207645"/>
            <a:ext cx="1872691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3A6A82"/>
                </a:solidFill>
                <a:latin typeface="Anton"/>
                <a:ea typeface="Anton"/>
                <a:cs typeface="Anton"/>
                <a:sym typeface="Anton"/>
              </a:rPr>
              <a:t>PROPOSED SOLUTION</a:t>
            </a:r>
          </a:p>
        </p:txBody>
      </p:sp>
      <p:sp>
        <p:nvSpPr>
          <p:cNvPr id="4" name="AutoShape 4"/>
          <p:cNvSpPr/>
          <p:nvPr/>
        </p:nvSpPr>
        <p:spPr>
          <a:xfrm>
            <a:off x="1050871" y="1028700"/>
            <a:ext cx="16208429" cy="0"/>
          </a:xfrm>
          <a:prstGeom prst="line">
            <a:avLst/>
          </a:prstGeom>
          <a:ln w="38100" cap="flat">
            <a:gradFill>
              <a:gsLst>
                <a:gs pos="0">
                  <a:srgbClr val="599CDB">
                    <a:alpha val="100000"/>
                  </a:srgbClr>
                </a:gs>
                <a:gs pos="100000">
                  <a:srgbClr val="1F568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0800000">
            <a:off x="575845" y="1447793"/>
            <a:ext cx="17373980" cy="8492528"/>
            <a:chOff x="0" y="0"/>
            <a:chExt cx="6403568" cy="31301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03568" cy="3130111"/>
            </a:xfrm>
            <a:custGeom>
              <a:avLst/>
              <a:gdLst/>
              <a:ahLst/>
              <a:cxnLst/>
              <a:rect l="l" t="t" r="r" b="b"/>
              <a:pathLst>
                <a:path w="6403568" h="3130111">
                  <a:moveTo>
                    <a:pt x="22280" y="0"/>
                  </a:moveTo>
                  <a:lnTo>
                    <a:pt x="6381288" y="0"/>
                  </a:lnTo>
                  <a:cubicBezTo>
                    <a:pt x="6393593" y="0"/>
                    <a:pt x="6403568" y="9975"/>
                    <a:pt x="6403568" y="22280"/>
                  </a:cubicBezTo>
                  <a:lnTo>
                    <a:pt x="6403568" y="3107831"/>
                  </a:lnTo>
                  <a:cubicBezTo>
                    <a:pt x="6403568" y="3120136"/>
                    <a:pt x="6393593" y="3130111"/>
                    <a:pt x="6381288" y="3130111"/>
                  </a:cubicBezTo>
                  <a:lnTo>
                    <a:pt x="22280" y="3130111"/>
                  </a:lnTo>
                  <a:cubicBezTo>
                    <a:pt x="9975" y="3130111"/>
                    <a:pt x="0" y="3120136"/>
                    <a:pt x="0" y="3107831"/>
                  </a:cubicBezTo>
                  <a:lnTo>
                    <a:pt x="0" y="22280"/>
                  </a:lnTo>
                  <a:cubicBezTo>
                    <a:pt x="0" y="9975"/>
                    <a:pt x="9975" y="0"/>
                    <a:pt x="22280" y="0"/>
                  </a:cubicBezTo>
                  <a:close/>
                </a:path>
              </a:pathLst>
            </a:custGeom>
            <a:solidFill>
              <a:srgbClr val="F2D7C3">
                <a:alpha val="5098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403568" cy="3168211"/>
            </a:xfrm>
            <a:prstGeom prst="rect">
              <a:avLst/>
            </a:prstGeom>
          </p:spPr>
          <p:txBody>
            <a:bodyPr lIns="29041" tIns="29041" rIns="29041" bIns="29041" rtlCol="0" anchor="ctr"/>
            <a:lstStyle/>
            <a:p>
              <a:pPr marL="0" lvl="0" indent="0" algn="ctr">
                <a:lnSpc>
                  <a:spcPts val="243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097280" y="1783080"/>
            <a:ext cx="6035040" cy="7772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buNone/>
            </a:pPr>
            <a:r>
              <a:rPr sz="2700" b="1">
                <a:solidFill>
                  <a:srgbClr val="3A6A82"/>
                </a:solidFill>
                <a:latin typeface="JetBrains Mono"/>
              </a:rPr>
              <a:t>HOW IT WORKS</a:t>
            </a:r>
          </a:p>
          <a:p>
            <a:pPr>
              <a:spcAft>
                <a:spcPts val="600"/>
              </a:spcAft>
              <a:buNone/>
            </a:pPr>
            <a:r>
              <a:rPr sz="2300" b="1">
                <a:solidFill>
                  <a:srgbClr val="1F3A4D"/>
                </a:solidFill>
                <a:latin typeface="JetBrains Mono"/>
              </a:rPr>
              <a:t>1. Observe</a:t>
            </a:r>
          </a:p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OpenTelemetry traces, metrics and logs; topology discovered from traces</a:t>
            </a:r>
          </a:p>
          <a:p>
            <a:pPr>
              <a:spcAft>
                <a:spcPts val="600"/>
              </a:spcAft>
              <a:buNone/>
            </a:pPr>
            <a:r>
              <a:rPr sz="2300" b="1">
                <a:solidFill>
                  <a:srgbClr val="1F3A4D"/>
                </a:solidFill>
                <a:latin typeface="JetBrains Mono"/>
              </a:rPr>
              <a:t>2. Learn</a:t>
            </a:r>
          </a:p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baselines, anomaly gate and causal model, per environment (≤ 24 h, weekly retrain)</a:t>
            </a:r>
          </a:p>
          <a:p>
            <a:pPr>
              <a:spcAft>
                <a:spcPts val="600"/>
              </a:spcAft>
              <a:buNone/>
            </a:pPr>
            <a:r>
              <a:rPr sz="2300" b="1">
                <a:solidFill>
                  <a:srgbClr val="1F3A4D"/>
                </a:solidFill>
                <a:latin typeface="JetBrains Mono"/>
              </a:rPr>
              <a:t>3. Detect</a:t>
            </a:r>
          </a:p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SLO breach or calibrated anomaly gate</a:t>
            </a:r>
          </a:p>
          <a:p>
            <a:pPr>
              <a:spcAft>
                <a:spcPts val="600"/>
              </a:spcAft>
              <a:buNone/>
            </a:pPr>
            <a:r>
              <a:rPr sz="2300" b="1">
                <a:solidFill>
                  <a:srgbClr val="1F3A4D"/>
                </a:solidFill>
                <a:latin typeface="JetBrains Mono"/>
              </a:rPr>
              <a:t>4. Explain</a:t>
            </a:r>
          </a:p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ranked root causes with evidence</a:t>
            </a:r>
          </a:p>
          <a:p>
            <a:pPr>
              <a:spcAft>
                <a:spcPts val="600"/>
              </a:spcAft>
              <a:buNone/>
            </a:pPr>
            <a:r>
              <a:rPr sz="2300" b="1">
                <a:solidFill>
                  <a:srgbClr val="1F3A4D"/>
                </a:solidFill>
                <a:latin typeface="JetBrains Mono"/>
              </a:rPr>
              <a:t>5. Simulate</a:t>
            </a:r>
          </a:p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counterfactual: what if this had stayed normal?</a:t>
            </a:r>
          </a:p>
          <a:p>
            <a:pPr>
              <a:spcAft>
                <a:spcPts val="600"/>
              </a:spcAft>
              <a:buNone/>
            </a:pPr>
            <a:r>
              <a:rPr sz="2300" b="1">
                <a:solidFill>
                  <a:srgbClr val="1F3A4D"/>
                </a:solidFill>
                <a:latin typeface="JetBrains Mono"/>
              </a:rPr>
              <a:t>6. Act &amp; verify</a:t>
            </a:r>
          </a:p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tiered policy → executor → verified on live data</a:t>
            </a:r>
          </a:p>
        </p:txBody>
      </p:sp>
      <p:pic>
        <p:nvPicPr>
          <p:cNvPr id="9" name="Picture 8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851223"/>
            <a:ext cx="10058400" cy="5544672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888" b="-5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19456" y="207645"/>
            <a:ext cx="1872691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3A6A82"/>
                </a:solidFill>
                <a:latin typeface="Anton"/>
                <a:ea typeface="Anton"/>
                <a:cs typeface="Anton"/>
                <a:sym typeface="Anton"/>
              </a:rPr>
              <a:t>TIERED AUTO-REMEDIATION (USP)</a:t>
            </a:r>
          </a:p>
        </p:txBody>
      </p:sp>
      <p:sp>
        <p:nvSpPr>
          <p:cNvPr id="4" name="AutoShape 4"/>
          <p:cNvSpPr/>
          <p:nvPr/>
        </p:nvSpPr>
        <p:spPr>
          <a:xfrm>
            <a:off x="1050871" y="1028700"/>
            <a:ext cx="16208429" cy="0"/>
          </a:xfrm>
          <a:prstGeom prst="line">
            <a:avLst/>
          </a:prstGeom>
          <a:ln w="38100" cap="flat">
            <a:gradFill>
              <a:gsLst>
                <a:gs pos="0">
                  <a:srgbClr val="599CDB">
                    <a:alpha val="100000"/>
                  </a:srgbClr>
                </a:gs>
                <a:gs pos="100000">
                  <a:srgbClr val="1F568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0800000">
            <a:off x="575845" y="1447793"/>
            <a:ext cx="17373980" cy="8492528"/>
            <a:chOff x="0" y="0"/>
            <a:chExt cx="6403568" cy="31301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03568" cy="3130111"/>
            </a:xfrm>
            <a:custGeom>
              <a:avLst/>
              <a:gdLst/>
              <a:ahLst/>
              <a:cxnLst/>
              <a:rect l="l" t="t" r="r" b="b"/>
              <a:pathLst>
                <a:path w="6403568" h="3130111">
                  <a:moveTo>
                    <a:pt x="22280" y="0"/>
                  </a:moveTo>
                  <a:lnTo>
                    <a:pt x="6381288" y="0"/>
                  </a:lnTo>
                  <a:cubicBezTo>
                    <a:pt x="6393593" y="0"/>
                    <a:pt x="6403568" y="9975"/>
                    <a:pt x="6403568" y="22280"/>
                  </a:cubicBezTo>
                  <a:lnTo>
                    <a:pt x="6403568" y="3107831"/>
                  </a:lnTo>
                  <a:cubicBezTo>
                    <a:pt x="6403568" y="3120136"/>
                    <a:pt x="6393593" y="3130111"/>
                    <a:pt x="6381288" y="3130111"/>
                  </a:cubicBezTo>
                  <a:lnTo>
                    <a:pt x="22280" y="3130111"/>
                  </a:lnTo>
                  <a:cubicBezTo>
                    <a:pt x="9975" y="3130111"/>
                    <a:pt x="0" y="3120136"/>
                    <a:pt x="0" y="3107831"/>
                  </a:cubicBezTo>
                  <a:lnTo>
                    <a:pt x="0" y="22280"/>
                  </a:lnTo>
                  <a:cubicBezTo>
                    <a:pt x="0" y="9975"/>
                    <a:pt x="9975" y="0"/>
                    <a:pt x="22280" y="0"/>
                  </a:cubicBezTo>
                  <a:close/>
                </a:path>
              </a:pathLst>
            </a:custGeom>
            <a:solidFill>
              <a:srgbClr val="F2D7C3">
                <a:alpha val="5098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403568" cy="3168211"/>
            </a:xfrm>
            <a:prstGeom prst="rect">
              <a:avLst/>
            </a:prstGeom>
          </p:spPr>
          <p:txBody>
            <a:bodyPr lIns="29041" tIns="29041" rIns="29041" bIns="29041" rtlCol="0" anchor="ctr"/>
            <a:lstStyle/>
            <a:p>
              <a:pPr marL="0" lvl="0" indent="0" algn="ctr">
                <a:lnSpc>
                  <a:spcPts val="2437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8" name="Picture 7" descr="remediation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8800" y="1737360"/>
            <a:ext cx="15410399" cy="6675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005840" y="8732520"/>
            <a:ext cx="2606040" cy="475488"/>
          </a:xfrm>
          <a:prstGeom prst="roundRect">
            <a:avLst>
              <a:gd name="adj" fmla="val 50000"/>
            </a:avLst>
          </a:prstGeom>
          <a:solidFill>
            <a:srgbClr val="D97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Kill switch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30752" y="8732520"/>
            <a:ext cx="2606040" cy="475488"/>
          </a:xfrm>
          <a:prstGeom prst="roundRect">
            <a:avLst>
              <a:gd name="adj" fmla="val 50000"/>
            </a:avLst>
          </a:prstGeom>
          <a:solidFill>
            <a:srgbClr val="3A6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Blast-radius limit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55664" y="8732520"/>
            <a:ext cx="2606040" cy="475488"/>
          </a:xfrm>
          <a:prstGeom prst="roundRect">
            <a:avLst>
              <a:gd name="adj" fmla="val 50000"/>
            </a:avLst>
          </a:prstGeom>
          <a:solidFill>
            <a:srgbClr val="3A6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Top root cause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0576" y="8732520"/>
            <a:ext cx="2606040" cy="475488"/>
          </a:xfrm>
          <a:prstGeom prst="roundRect">
            <a:avLst>
              <a:gd name="adj" fmla="val 50000"/>
            </a:avLst>
          </a:prstGeom>
          <a:solidFill>
            <a:srgbClr val="3A6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No change in progress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905488" y="8732520"/>
            <a:ext cx="2606040" cy="475488"/>
          </a:xfrm>
          <a:prstGeom prst="roundRect">
            <a:avLst>
              <a:gd name="adj" fmla="val 50000"/>
            </a:avLst>
          </a:prstGeom>
          <a:solidFill>
            <a:srgbClr val="3A6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Never repeat a failed fix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0" y="8732520"/>
            <a:ext cx="2606040" cy="475488"/>
          </a:xfrm>
          <a:prstGeom prst="roundRect">
            <a:avLst>
              <a:gd name="adj" fmla="val 50000"/>
            </a:avLst>
          </a:prstGeom>
          <a:solidFill>
            <a:srgbClr val="D97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Rollback if it doesn't help</a:t>
            </a:r>
          </a:p>
        </p:txBody>
      </p:sp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888" b="-5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19456" y="207645"/>
            <a:ext cx="1872691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3A6A82"/>
                </a:solidFill>
                <a:latin typeface="Anton"/>
                <a:ea typeface="Anton"/>
                <a:cs typeface="Anton"/>
                <a:sym typeface="Anton"/>
              </a:rPr>
              <a:t>PROJECT CHARTER</a:t>
            </a:r>
          </a:p>
        </p:txBody>
      </p:sp>
      <p:sp>
        <p:nvSpPr>
          <p:cNvPr id="4" name="AutoShape 4"/>
          <p:cNvSpPr/>
          <p:nvPr/>
        </p:nvSpPr>
        <p:spPr>
          <a:xfrm>
            <a:off x="1050871" y="1028700"/>
            <a:ext cx="16208429" cy="0"/>
          </a:xfrm>
          <a:prstGeom prst="line">
            <a:avLst/>
          </a:prstGeom>
          <a:ln w="38100" cap="flat">
            <a:gradFill>
              <a:gsLst>
                <a:gs pos="0">
                  <a:srgbClr val="599CDB">
                    <a:alpha val="100000"/>
                  </a:srgbClr>
                </a:gs>
                <a:gs pos="100000">
                  <a:srgbClr val="1F568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0800000">
            <a:off x="575845" y="1447793"/>
            <a:ext cx="17373980" cy="8492528"/>
            <a:chOff x="0" y="0"/>
            <a:chExt cx="6403568" cy="31301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03568" cy="3130111"/>
            </a:xfrm>
            <a:custGeom>
              <a:avLst/>
              <a:gdLst/>
              <a:ahLst/>
              <a:cxnLst/>
              <a:rect l="l" t="t" r="r" b="b"/>
              <a:pathLst>
                <a:path w="6403568" h="3130111">
                  <a:moveTo>
                    <a:pt x="22280" y="0"/>
                  </a:moveTo>
                  <a:lnTo>
                    <a:pt x="6381288" y="0"/>
                  </a:lnTo>
                  <a:cubicBezTo>
                    <a:pt x="6393593" y="0"/>
                    <a:pt x="6403568" y="9975"/>
                    <a:pt x="6403568" y="22280"/>
                  </a:cubicBezTo>
                  <a:lnTo>
                    <a:pt x="6403568" y="3107831"/>
                  </a:lnTo>
                  <a:cubicBezTo>
                    <a:pt x="6403568" y="3120136"/>
                    <a:pt x="6393593" y="3130111"/>
                    <a:pt x="6381288" y="3130111"/>
                  </a:cubicBezTo>
                  <a:lnTo>
                    <a:pt x="22280" y="3130111"/>
                  </a:lnTo>
                  <a:cubicBezTo>
                    <a:pt x="9975" y="3130111"/>
                    <a:pt x="0" y="3120136"/>
                    <a:pt x="0" y="3107831"/>
                  </a:cubicBezTo>
                  <a:lnTo>
                    <a:pt x="0" y="22280"/>
                  </a:lnTo>
                  <a:cubicBezTo>
                    <a:pt x="0" y="9975"/>
                    <a:pt x="9975" y="0"/>
                    <a:pt x="22280" y="0"/>
                  </a:cubicBezTo>
                  <a:close/>
                </a:path>
              </a:pathLst>
            </a:custGeom>
            <a:solidFill>
              <a:srgbClr val="F2D7C3">
                <a:alpha val="5098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403568" cy="3168211"/>
            </a:xfrm>
            <a:prstGeom prst="rect">
              <a:avLst/>
            </a:prstGeom>
          </p:spPr>
          <p:txBody>
            <a:bodyPr lIns="29041" tIns="29041" rIns="29041" bIns="29041" rtlCol="0" anchor="ctr"/>
            <a:lstStyle/>
            <a:p>
              <a:pPr marL="0" lvl="0" indent="0" algn="ctr">
                <a:lnSpc>
                  <a:spcPts val="2437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05840" y="1874519"/>
          <a:ext cx="9692639" cy="6949440"/>
        </p:xfrm>
        <a:graphic>
          <a:graphicData uri="http://schemas.openxmlformats.org/drawingml/2006/table">
            <a:tbl>
              <a:tblPr firstRow="1"/>
              <a:tblGrid>
                <a:gridCol w="2132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0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JetBrains Mono"/>
                        </a:rPr>
                        <a:t>Item</a:t>
                      </a:r>
                    </a:p>
                  </a:txBody>
                  <a:tcPr marL="73152" marR="73152" marT="36576" marB="36576" anchor="ctr">
                    <a:solidFill>
                      <a:srgbClr val="3A6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JetBrains Mono"/>
                        </a:rPr>
                        <a:t>Details</a:t>
                      </a:r>
                    </a:p>
                  </a:txBody>
                  <a:tcPr marL="73152" marR="73152" marT="36576" marB="36576" anchor="ctr">
                    <a:solidFill>
                      <a:srgbClr val="3A6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F3A4D"/>
                          </a:solidFill>
                          <a:latin typeface="JetBrains Mono"/>
                        </a:rPr>
                        <a:t>Goal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Detect, explain and safely fix incidents on any OpenTelemetry system, with measured MTTR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F3A4D"/>
                          </a:solidFill>
                          <a:latin typeface="JetBrains Mono"/>
                        </a:rPr>
                        <a:t>Users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SREs, DevOps and on-call engineers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F3A4D"/>
                          </a:solidFill>
                          <a:latin typeface="JetBrains Mono"/>
                        </a:rPr>
                        <a:t>In scope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Telemetry, topology, self-calibration, causal RCA, counterfactual, tiered remediation, console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F3A4D"/>
                          </a:solidFill>
                          <a:latin typeface="JetBrains Mono"/>
                        </a:rPr>
                        <a:t>Deliverables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Platform, PPT, poster, reports, setup &amp; demo guide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F3A4D"/>
                          </a:solidFill>
                          <a:latin typeface="JetBrains Mono"/>
                        </a:rPr>
                        <a:t>Success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Recall ≥ 80% · RCA top-1 ≥ 60% · false alarms ≤ 1% · auto MTTR &lt; manual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F3A4D"/>
                          </a:solidFill>
                          <a:latin typeface="JetBrains Mono"/>
                        </a:rPr>
                        <a:t>Budget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≈ ₹8,600–15,000 (3-month pilot)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F3A4D"/>
                          </a:solidFill>
                          <a:latin typeface="JetBrains Mono"/>
                        </a:rPr>
                        <a:t>Team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Vedant Bist · Aayush Gupta · Mayank Jaiswal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247120" y="1828800"/>
            <a:ext cx="60350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buNone/>
            </a:pPr>
            <a:r>
              <a:rPr sz="2700" b="1">
                <a:solidFill>
                  <a:srgbClr val="3A6A82"/>
                </a:solidFill>
                <a:latin typeface="JetBrains Mono"/>
              </a:rPr>
              <a:t>TECHNOLOGIES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247120" y="2514600"/>
            <a:ext cx="2926080" cy="475488"/>
          </a:xfrm>
          <a:prstGeom prst="roundRect">
            <a:avLst>
              <a:gd name="adj" fmla="val 50000"/>
            </a:avLst>
          </a:prstGeom>
          <a:solidFill>
            <a:srgbClr val="3A6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Java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310360" y="2514600"/>
            <a:ext cx="2926080" cy="475488"/>
          </a:xfrm>
          <a:prstGeom prst="roundRect">
            <a:avLst>
              <a:gd name="adj" fmla="val 50000"/>
            </a:avLst>
          </a:prstGeom>
          <a:solidFill>
            <a:srgbClr val="3A6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Spring Boot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247120" y="3172968"/>
            <a:ext cx="2926080" cy="475488"/>
          </a:xfrm>
          <a:prstGeom prst="roundRect">
            <a:avLst>
              <a:gd name="adj" fmla="val 50000"/>
            </a:avLst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310360" y="3172968"/>
            <a:ext cx="2926080" cy="475488"/>
          </a:xfrm>
          <a:prstGeom prst="roundRect">
            <a:avLst>
              <a:gd name="adj" fmla="val 50000"/>
            </a:avLst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FastAPI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247120" y="3831335"/>
            <a:ext cx="2926080" cy="475488"/>
          </a:xfrm>
          <a:prstGeom prst="roundRect">
            <a:avLst>
              <a:gd name="adj" fmla="val 50000"/>
            </a:avLst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scikit-learn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310360" y="3831335"/>
            <a:ext cx="2926080" cy="475488"/>
          </a:xfrm>
          <a:prstGeom prst="roundRect">
            <a:avLst>
              <a:gd name="adj" fmla="val 50000"/>
            </a:avLst>
          </a:prstGeom>
          <a:solidFill>
            <a:srgbClr val="3A6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React 19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247120" y="4489704"/>
            <a:ext cx="2926080" cy="475488"/>
          </a:xfrm>
          <a:prstGeom prst="roundRect">
            <a:avLst>
              <a:gd name="adj" fmla="val 50000"/>
            </a:avLst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PostgreSQL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310360" y="4489704"/>
            <a:ext cx="2926080" cy="475488"/>
          </a:xfrm>
          <a:prstGeom prst="roundRect">
            <a:avLst>
              <a:gd name="adj" fmla="val 50000"/>
            </a:avLst>
          </a:prstGeom>
          <a:solidFill>
            <a:srgbClr val="D97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OpenTelemetry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47120" y="5148072"/>
            <a:ext cx="2926080" cy="475488"/>
          </a:xfrm>
          <a:prstGeom prst="roundRect">
            <a:avLst>
              <a:gd name="adj" fmla="val 50000"/>
            </a:avLst>
          </a:prstGeom>
          <a:solidFill>
            <a:srgbClr val="D97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Prometheus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310360" y="5148072"/>
            <a:ext cx="2926080" cy="475488"/>
          </a:xfrm>
          <a:prstGeom prst="roundRect">
            <a:avLst>
              <a:gd name="adj" fmla="val 50000"/>
            </a:avLst>
          </a:prstGeom>
          <a:solidFill>
            <a:srgbClr val="D97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Tempo · Loki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247120" y="5806440"/>
            <a:ext cx="2926080" cy="475488"/>
          </a:xfrm>
          <a:prstGeom prst="roundRect">
            <a:avLst>
              <a:gd name="adj" fmla="val 50000"/>
            </a:avLst>
          </a:prstGeom>
          <a:solidFill>
            <a:srgbClr val="D97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Grafana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310360" y="5806440"/>
            <a:ext cx="2926080" cy="475488"/>
          </a:xfrm>
          <a:prstGeom prst="roundRect">
            <a:avLst>
              <a:gd name="adj" fmla="val 50000"/>
            </a:avLst>
          </a:prstGeom>
          <a:solidFill>
            <a:srgbClr val="3A6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Docker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247120" y="6464808"/>
            <a:ext cx="2926080" cy="475488"/>
          </a:xfrm>
          <a:prstGeom prst="roundRect">
            <a:avLst>
              <a:gd name="adj" fmla="val 50000"/>
            </a:avLst>
          </a:prstGeom>
          <a:solidFill>
            <a:srgbClr val="3A6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Kubernetes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310360" y="6464808"/>
            <a:ext cx="2926080" cy="475488"/>
          </a:xfrm>
          <a:prstGeom prst="roundRect">
            <a:avLst>
              <a:gd name="adj" fmla="val 50000"/>
            </a:avLst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Toxiproxy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7269480"/>
            <a:ext cx="603504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buNone/>
            </a:pPr>
            <a:r>
              <a:rPr sz="2700" b="1">
                <a:solidFill>
                  <a:srgbClr val="3A6A82"/>
                </a:solidFill>
                <a:latin typeface="JetBrains Mono"/>
              </a:rPr>
              <a:t>OUTPUT</a:t>
            </a:r>
          </a:p>
          <a:p>
            <a:pPr>
              <a:spcAft>
                <a:spcPts val="600"/>
              </a:spcAft>
              <a:buNone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Detection + root cause + what-if + verified, reversible fix + audit trail</a:t>
            </a:r>
          </a:p>
        </p:txBody>
      </p:sp>
    </p:spTree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888" b="-5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19456" y="207645"/>
            <a:ext cx="1872691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3A6A82"/>
                </a:solidFill>
                <a:latin typeface="Anton"/>
                <a:ea typeface="Anton"/>
                <a:cs typeface="Anton"/>
                <a:sym typeface="Anton"/>
              </a:rPr>
              <a:t>IMPLEMENTATION PROGRESS</a:t>
            </a:r>
          </a:p>
        </p:txBody>
      </p:sp>
      <p:sp>
        <p:nvSpPr>
          <p:cNvPr id="4" name="AutoShape 4"/>
          <p:cNvSpPr/>
          <p:nvPr/>
        </p:nvSpPr>
        <p:spPr>
          <a:xfrm>
            <a:off x="1050871" y="1028700"/>
            <a:ext cx="16208429" cy="0"/>
          </a:xfrm>
          <a:prstGeom prst="line">
            <a:avLst/>
          </a:prstGeom>
          <a:ln w="38100" cap="flat">
            <a:gradFill>
              <a:gsLst>
                <a:gs pos="0">
                  <a:srgbClr val="599CDB">
                    <a:alpha val="100000"/>
                  </a:srgbClr>
                </a:gs>
                <a:gs pos="100000">
                  <a:srgbClr val="1F568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0800000">
            <a:off x="575845" y="1447793"/>
            <a:ext cx="16980945" cy="7810507"/>
            <a:chOff x="0" y="0"/>
            <a:chExt cx="6258707" cy="28787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58707" cy="2878737"/>
            </a:xfrm>
            <a:custGeom>
              <a:avLst/>
              <a:gdLst/>
              <a:ahLst/>
              <a:cxnLst/>
              <a:rect l="l" t="t" r="r" b="b"/>
              <a:pathLst>
                <a:path w="6258707" h="2878737">
                  <a:moveTo>
                    <a:pt x="22796" y="0"/>
                  </a:moveTo>
                  <a:lnTo>
                    <a:pt x="6235911" y="0"/>
                  </a:lnTo>
                  <a:cubicBezTo>
                    <a:pt x="6241957" y="0"/>
                    <a:pt x="6247755" y="2402"/>
                    <a:pt x="6252030" y="6677"/>
                  </a:cubicBezTo>
                  <a:cubicBezTo>
                    <a:pt x="6256305" y="10952"/>
                    <a:pt x="6258707" y="16750"/>
                    <a:pt x="6258707" y="22796"/>
                  </a:cubicBezTo>
                  <a:lnTo>
                    <a:pt x="6258707" y="2855941"/>
                  </a:lnTo>
                  <a:cubicBezTo>
                    <a:pt x="6258707" y="2868531"/>
                    <a:pt x="6248501" y="2878737"/>
                    <a:pt x="6235911" y="2878737"/>
                  </a:cubicBezTo>
                  <a:lnTo>
                    <a:pt x="22796" y="2878737"/>
                  </a:lnTo>
                  <a:cubicBezTo>
                    <a:pt x="10206" y="2878737"/>
                    <a:pt x="0" y="2868531"/>
                    <a:pt x="0" y="2855941"/>
                  </a:cubicBezTo>
                  <a:lnTo>
                    <a:pt x="0" y="22796"/>
                  </a:lnTo>
                  <a:cubicBezTo>
                    <a:pt x="0" y="10206"/>
                    <a:pt x="10206" y="0"/>
                    <a:pt x="22796" y="0"/>
                  </a:cubicBezTo>
                  <a:close/>
                </a:path>
              </a:pathLst>
            </a:custGeom>
            <a:solidFill>
              <a:srgbClr val="F2D7C3">
                <a:alpha val="5098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258707" cy="2916837"/>
            </a:xfrm>
            <a:prstGeom prst="rect">
              <a:avLst/>
            </a:prstGeom>
          </p:spPr>
          <p:txBody>
            <a:bodyPr lIns="29041" tIns="29041" rIns="29041" bIns="29041" rtlCol="0" anchor="ctr"/>
            <a:lstStyle/>
            <a:p>
              <a:pPr marL="0" lvl="0" indent="0" algn="ctr">
                <a:lnSpc>
                  <a:spcPts val="2437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8" name="Picture 7" descr="tim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842835"/>
            <a:ext cx="16459200" cy="445248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005840" y="6629400"/>
            <a:ext cx="3840480" cy="251460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 w="15875">
            <a:solidFill>
              <a:srgbClr val="D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6766560"/>
            <a:ext cx="3474720" cy="228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5400" b="1">
                <a:solidFill>
                  <a:srgbClr val="D9764A"/>
                </a:solidFill>
                <a:latin typeface="JetBrains Mono"/>
              </a:rPr>
              <a:t>5 / 7</a:t>
            </a:r>
          </a:p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phases complete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6629400"/>
            <a:ext cx="3840480" cy="251460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 w="15875">
            <a:solidFill>
              <a:srgbClr val="D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0" y="6766560"/>
            <a:ext cx="3474720" cy="228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5400" b="1">
                <a:solidFill>
                  <a:srgbClr val="D9764A"/>
                </a:solidFill>
                <a:latin typeface="JetBrains Mono"/>
              </a:rPr>
              <a:t>27/27</a:t>
            </a:r>
          </a:p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backend tests (Testcontainers)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6629400"/>
            <a:ext cx="3840480" cy="251460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 w="15875">
            <a:solidFill>
              <a:srgbClr val="D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0" y="6766560"/>
            <a:ext cx="3474720" cy="228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5400" b="1">
                <a:solidFill>
                  <a:srgbClr val="D9764A"/>
                </a:solidFill>
                <a:latin typeface="JetBrains Mono"/>
              </a:rPr>
              <a:t>25/25</a:t>
            </a:r>
          </a:p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AI-engine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350240" y="6629400"/>
            <a:ext cx="3840480" cy="251460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 w="15875">
            <a:solidFill>
              <a:srgbClr val="D7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533120" y="6766560"/>
            <a:ext cx="3474720" cy="228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5400" b="1">
                <a:solidFill>
                  <a:srgbClr val="D9764A"/>
                </a:solidFill>
                <a:latin typeface="JetBrains Mono"/>
              </a:rPr>
              <a:t>live</a:t>
            </a:r>
          </a:p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end-to-end verification on real faults</a:t>
            </a:r>
          </a:p>
        </p:txBody>
      </p:sp>
    </p:spTree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888" b="-5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19456" y="207645"/>
            <a:ext cx="1872691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3A6A82"/>
                </a:solidFill>
                <a:latin typeface="Anton"/>
                <a:ea typeface="Anton"/>
                <a:cs typeface="Anton"/>
                <a:sym typeface="Anton"/>
              </a:rPr>
              <a:t>RISK MANAGEMENT</a:t>
            </a:r>
          </a:p>
        </p:txBody>
      </p:sp>
      <p:sp>
        <p:nvSpPr>
          <p:cNvPr id="4" name="AutoShape 4"/>
          <p:cNvSpPr/>
          <p:nvPr/>
        </p:nvSpPr>
        <p:spPr>
          <a:xfrm>
            <a:off x="1050871" y="1028700"/>
            <a:ext cx="16208429" cy="0"/>
          </a:xfrm>
          <a:prstGeom prst="line">
            <a:avLst/>
          </a:prstGeom>
          <a:ln w="38100" cap="flat">
            <a:gradFill>
              <a:gsLst>
                <a:gs pos="0">
                  <a:srgbClr val="599CDB">
                    <a:alpha val="100000"/>
                  </a:srgbClr>
                </a:gs>
                <a:gs pos="100000">
                  <a:srgbClr val="1F568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0800000">
            <a:off x="575845" y="1447793"/>
            <a:ext cx="17373980" cy="8492528"/>
            <a:chOff x="0" y="0"/>
            <a:chExt cx="6403568" cy="31301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03568" cy="3130111"/>
            </a:xfrm>
            <a:custGeom>
              <a:avLst/>
              <a:gdLst/>
              <a:ahLst/>
              <a:cxnLst/>
              <a:rect l="l" t="t" r="r" b="b"/>
              <a:pathLst>
                <a:path w="6403568" h="3130111">
                  <a:moveTo>
                    <a:pt x="22280" y="0"/>
                  </a:moveTo>
                  <a:lnTo>
                    <a:pt x="6381288" y="0"/>
                  </a:lnTo>
                  <a:cubicBezTo>
                    <a:pt x="6393593" y="0"/>
                    <a:pt x="6403568" y="9975"/>
                    <a:pt x="6403568" y="22280"/>
                  </a:cubicBezTo>
                  <a:lnTo>
                    <a:pt x="6403568" y="3107831"/>
                  </a:lnTo>
                  <a:cubicBezTo>
                    <a:pt x="6403568" y="3120136"/>
                    <a:pt x="6393593" y="3130111"/>
                    <a:pt x="6381288" y="3130111"/>
                  </a:cubicBezTo>
                  <a:lnTo>
                    <a:pt x="22280" y="3130111"/>
                  </a:lnTo>
                  <a:cubicBezTo>
                    <a:pt x="9975" y="3130111"/>
                    <a:pt x="0" y="3120136"/>
                    <a:pt x="0" y="3107831"/>
                  </a:cubicBezTo>
                  <a:lnTo>
                    <a:pt x="0" y="22280"/>
                  </a:lnTo>
                  <a:cubicBezTo>
                    <a:pt x="0" y="9975"/>
                    <a:pt x="9975" y="0"/>
                    <a:pt x="22280" y="0"/>
                  </a:cubicBezTo>
                  <a:close/>
                </a:path>
              </a:pathLst>
            </a:custGeom>
            <a:solidFill>
              <a:srgbClr val="F2D7C3">
                <a:alpha val="5098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403568" cy="3168211"/>
            </a:xfrm>
            <a:prstGeom prst="rect">
              <a:avLst/>
            </a:prstGeom>
          </p:spPr>
          <p:txBody>
            <a:bodyPr lIns="29041" tIns="29041" rIns="29041" bIns="29041" rtlCol="0" anchor="ctr"/>
            <a:lstStyle/>
            <a:p>
              <a:pPr marL="0" lvl="0" indent="0" algn="ctr">
                <a:lnSpc>
                  <a:spcPts val="2437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05840" y="1828800"/>
          <a:ext cx="10607038" cy="7315200"/>
        </p:xfrm>
        <a:graphic>
          <a:graphicData uri="http://schemas.openxmlformats.org/drawingml/2006/table">
            <a:tbl>
              <a:tblPr firstRow="1"/>
              <a:tblGrid>
                <a:gridCol w="742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0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46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95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JetBrains Mono"/>
                        </a:rPr>
                        <a:t>ID</a:t>
                      </a:r>
                    </a:p>
                  </a:txBody>
                  <a:tcPr marL="73152" marR="73152" marT="36576" marB="36576" anchor="ctr">
                    <a:solidFill>
                      <a:srgbClr val="3A6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JetBrains Mono"/>
                        </a:rPr>
                        <a:t>Risk</a:t>
                      </a:r>
                    </a:p>
                  </a:txBody>
                  <a:tcPr marL="73152" marR="73152" marT="36576" marB="36576" anchor="ctr">
                    <a:solidFill>
                      <a:srgbClr val="3A6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JetBrains Mono"/>
                        </a:rPr>
                        <a:t>P×I</a:t>
                      </a:r>
                    </a:p>
                  </a:txBody>
                  <a:tcPr marL="73152" marR="73152" marT="36576" marB="36576" anchor="ctr">
                    <a:solidFill>
                      <a:srgbClr val="3A6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JetBrains Mono"/>
                        </a:rPr>
                        <a:t>Mitigation</a:t>
                      </a:r>
                    </a:p>
                  </a:txBody>
                  <a:tcPr marL="73152" marR="73152" marT="36576" marB="36576" anchor="ctr">
                    <a:solidFill>
                      <a:srgbClr val="3A6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F3A4D"/>
                          </a:solidFill>
                          <a:latin typeface="JetBrains Mono"/>
                        </a:rPr>
                        <a:t>R1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Automatic fix makes it worse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Tiers, 17 rules, verify, rollback, kill switch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F3A4D"/>
                          </a:solidFill>
                          <a:latin typeface="JetBrains Mono"/>
                        </a:rPr>
                        <a:t>R2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Wrong root cause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12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Auto only on top cause; approval otherwise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F3A4D"/>
                          </a:solidFill>
                          <a:latin typeface="JetBrains Mono"/>
                        </a:rPr>
                        <a:t>R3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False alarms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Calibrated on quiet data; change windows excluded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F3A4D"/>
                          </a:solidFill>
                          <a:latin typeface="JetBrains Mono"/>
                        </a:rPr>
                        <a:t>R4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Executor misuse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10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Internal token, scoped executors, audit log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F3A4D"/>
                          </a:solidFill>
                          <a:latin typeface="JetBrains Mono"/>
                        </a:rPr>
                        <a:t>R5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Too few labelled incidents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Chaos campaigns; ACTIVE only after gates pass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F3A4D"/>
                          </a:solidFill>
                          <a:latin typeface="JetBrains Mono"/>
                        </a:rPr>
                        <a:t>R6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Behaviour shifts after deploys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12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Change events, weekly retrain, champion/challenger</a:t>
                      </a:r>
                    </a:p>
                  </a:txBody>
                  <a:tcPr marL="73152" marR="73152" marT="36576" marB="36576" anchor="ctr"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F3A4D"/>
                          </a:solidFill>
                          <a:latin typeface="JetBrains Mono"/>
                        </a:rPr>
                        <a:t>R7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Time clash with exams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3A4D"/>
                          </a:solidFill>
                          <a:latin typeface="JetBrains Mono"/>
                        </a:rPr>
                        <a:t>Phase-wise milestones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9" name="Picture 8" descr="risk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8640" y="2281810"/>
            <a:ext cx="5303520" cy="49461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978640" y="7863840"/>
            <a:ext cx="530352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Probability × impact, 1–5 each. No risk above 12 after mitigation.</a:t>
            </a:r>
          </a:p>
        </p:txBody>
      </p:sp>
    </p:spTree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888" b="-5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19456" y="207645"/>
            <a:ext cx="1872691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3A6A82"/>
                </a:solidFill>
                <a:latin typeface="Anton"/>
                <a:ea typeface="Anton"/>
                <a:cs typeface="Anton"/>
                <a:sym typeface="Anton"/>
              </a:rPr>
              <a:t>PROTOTYPE</a:t>
            </a:r>
          </a:p>
        </p:txBody>
      </p:sp>
      <p:sp>
        <p:nvSpPr>
          <p:cNvPr id="4" name="AutoShape 4"/>
          <p:cNvSpPr/>
          <p:nvPr/>
        </p:nvSpPr>
        <p:spPr>
          <a:xfrm>
            <a:off x="1050871" y="1028700"/>
            <a:ext cx="16208429" cy="0"/>
          </a:xfrm>
          <a:prstGeom prst="line">
            <a:avLst/>
          </a:prstGeom>
          <a:ln w="38100" cap="flat">
            <a:gradFill>
              <a:gsLst>
                <a:gs pos="0">
                  <a:srgbClr val="599CDB">
                    <a:alpha val="100000"/>
                  </a:srgbClr>
                </a:gs>
                <a:gs pos="100000">
                  <a:srgbClr val="1F568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0800000">
            <a:off x="575845" y="1447793"/>
            <a:ext cx="17373980" cy="8492528"/>
            <a:chOff x="0" y="0"/>
            <a:chExt cx="6403568" cy="31301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03568" cy="3130111"/>
            </a:xfrm>
            <a:custGeom>
              <a:avLst/>
              <a:gdLst/>
              <a:ahLst/>
              <a:cxnLst/>
              <a:rect l="l" t="t" r="r" b="b"/>
              <a:pathLst>
                <a:path w="6403568" h="3130111">
                  <a:moveTo>
                    <a:pt x="22280" y="0"/>
                  </a:moveTo>
                  <a:lnTo>
                    <a:pt x="6381288" y="0"/>
                  </a:lnTo>
                  <a:cubicBezTo>
                    <a:pt x="6393593" y="0"/>
                    <a:pt x="6403568" y="9975"/>
                    <a:pt x="6403568" y="22280"/>
                  </a:cubicBezTo>
                  <a:lnTo>
                    <a:pt x="6403568" y="3107831"/>
                  </a:lnTo>
                  <a:cubicBezTo>
                    <a:pt x="6403568" y="3120136"/>
                    <a:pt x="6393593" y="3130111"/>
                    <a:pt x="6381288" y="3130111"/>
                  </a:cubicBezTo>
                  <a:lnTo>
                    <a:pt x="22280" y="3130111"/>
                  </a:lnTo>
                  <a:cubicBezTo>
                    <a:pt x="9975" y="3130111"/>
                    <a:pt x="0" y="3120136"/>
                    <a:pt x="0" y="3107831"/>
                  </a:cubicBezTo>
                  <a:lnTo>
                    <a:pt x="0" y="22280"/>
                  </a:lnTo>
                  <a:cubicBezTo>
                    <a:pt x="0" y="9975"/>
                    <a:pt x="9975" y="0"/>
                    <a:pt x="22280" y="0"/>
                  </a:cubicBezTo>
                  <a:close/>
                </a:path>
              </a:pathLst>
            </a:custGeom>
            <a:solidFill>
              <a:srgbClr val="F2D7C3">
                <a:alpha val="50980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403568" cy="3168211"/>
            </a:xfrm>
            <a:prstGeom prst="rect">
              <a:avLst/>
            </a:prstGeom>
          </p:spPr>
          <p:txBody>
            <a:bodyPr lIns="29041" tIns="29041" rIns="29041" bIns="29041" rtlCol="0" anchor="ctr"/>
            <a:lstStyle/>
            <a:p>
              <a:pPr marL="0" lvl="0" indent="0" algn="ctr">
                <a:lnSpc>
                  <a:spcPts val="243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051560" y="1691640"/>
            <a:ext cx="5212080" cy="228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buNone/>
            </a:pPr>
            <a:r>
              <a:rPr sz="2700" b="1">
                <a:solidFill>
                  <a:srgbClr val="3A6A82"/>
                </a:solidFill>
                <a:latin typeface="JetBrains Mono"/>
              </a:rPr>
              <a:t>DETECT &amp; EXPLAIN</a:t>
            </a:r>
          </a:p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Live service graph · incidents with timeline · ranked root cause with evidence · counterfactual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91640"/>
            <a:ext cx="5212080" cy="228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buNone/>
            </a:pPr>
            <a:r>
              <a:rPr sz="2700" b="1">
                <a:solidFill>
                  <a:srgbClr val="3A6A82"/>
                </a:solidFill>
                <a:latin typeface="JetBrains Mono"/>
              </a:rPr>
              <a:t>REMEDIATE SAFELY</a:t>
            </a:r>
          </a:p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Tiered autonomy · one-click approval · verification · rollback · kill switch · audit trail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24360" y="1691640"/>
            <a:ext cx="5212080" cy="228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buNone/>
            </a:pPr>
            <a:r>
              <a:rPr sz="2700" b="1">
                <a:solidFill>
                  <a:srgbClr val="3A6A82"/>
                </a:solidFill>
                <a:latin typeface="JetBrains Mono"/>
              </a:rPr>
              <a:t>LEARN &amp; OBSERVE</a:t>
            </a:r>
          </a:p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Calibration &amp; model registry · fault lab · changes · metrics, logs (Loki), traces (Tempo) · setup wizard</a:t>
            </a:r>
          </a:p>
        </p:txBody>
      </p:sp>
      <p:pic>
        <p:nvPicPr>
          <p:cNvPr id="11" name="Picture 10" descr="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989070"/>
            <a:ext cx="7863840" cy="4914899"/>
          </a:xfrm>
          <a:prstGeom prst="rect">
            <a:avLst/>
          </a:prstGeom>
          <a:ln w="19050">
            <a:solidFill>
              <a:srgbClr val="3A6A82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1051560" y="8977121"/>
            <a:ext cx="7863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Command center: discovered graph, live health, recent remediation</a:t>
            </a:r>
          </a:p>
        </p:txBody>
      </p:sp>
      <p:pic>
        <p:nvPicPr>
          <p:cNvPr id="13" name="Picture 12" descr="incid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3989070"/>
            <a:ext cx="7863840" cy="4914899"/>
          </a:xfrm>
          <a:prstGeom prst="rect">
            <a:avLst/>
          </a:prstGeom>
          <a:ln w="19050">
            <a:solidFill>
              <a:srgbClr val="3A6A82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9372600" y="8977121"/>
            <a:ext cx="7863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Incident: root cause, verified automatic restart, resolved in 2 min 17 s</a:t>
            </a:r>
          </a:p>
        </p:txBody>
      </p:sp>
    </p:spTree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888" b="-5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19456" y="207645"/>
            <a:ext cx="1872691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3A6A82"/>
                </a:solidFill>
                <a:latin typeface="Anton"/>
                <a:ea typeface="Anton"/>
                <a:cs typeface="Anton"/>
                <a:sym typeface="Anton"/>
              </a:rPr>
              <a:t>RESULTS &amp; FUTURE SCOPE</a:t>
            </a:r>
          </a:p>
        </p:txBody>
      </p:sp>
      <p:sp>
        <p:nvSpPr>
          <p:cNvPr id="4" name="AutoShape 4"/>
          <p:cNvSpPr/>
          <p:nvPr/>
        </p:nvSpPr>
        <p:spPr>
          <a:xfrm>
            <a:off x="1050871" y="1028700"/>
            <a:ext cx="16208429" cy="0"/>
          </a:xfrm>
          <a:prstGeom prst="line">
            <a:avLst/>
          </a:prstGeom>
          <a:ln w="38100" cap="flat">
            <a:gradFill>
              <a:gsLst>
                <a:gs pos="0">
                  <a:srgbClr val="599CDB">
                    <a:alpha val="100000"/>
                  </a:srgbClr>
                </a:gs>
                <a:gs pos="100000">
                  <a:srgbClr val="1F568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0800000">
            <a:off x="1050871" y="1368769"/>
            <a:ext cx="6345120" cy="8819889"/>
            <a:chOff x="0" y="0"/>
            <a:chExt cx="2338636" cy="32507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38636" cy="3250767"/>
            </a:xfrm>
            <a:custGeom>
              <a:avLst/>
              <a:gdLst/>
              <a:ahLst/>
              <a:cxnLst/>
              <a:rect l="l" t="t" r="r" b="b"/>
              <a:pathLst>
                <a:path w="2338636" h="3250767">
                  <a:moveTo>
                    <a:pt x="0" y="0"/>
                  </a:moveTo>
                  <a:lnTo>
                    <a:pt x="2338636" y="0"/>
                  </a:lnTo>
                  <a:lnTo>
                    <a:pt x="2338636" y="3250767"/>
                  </a:lnTo>
                  <a:lnTo>
                    <a:pt x="0" y="3250767"/>
                  </a:lnTo>
                  <a:close/>
                </a:path>
              </a:pathLst>
            </a:custGeom>
            <a:solidFill>
              <a:srgbClr val="F2D7C3">
                <a:alpha val="78824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38636" cy="3288867"/>
            </a:xfrm>
            <a:prstGeom prst="rect">
              <a:avLst/>
            </a:prstGeom>
          </p:spPr>
          <p:txBody>
            <a:bodyPr lIns="29041" tIns="29041" rIns="29041" bIns="29041" rtlCol="0" anchor="ctr"/>
            <a:lstStyle/>
            <a:p>
              <a:pPr marL="0" lvl="0" indent="0" algn="ctr">
                <a:lnSpc>
                  <a:spcPts val="24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0911687" y="1368769"/>
            <a:ext cx="6355699" cy="8819889"/>
            <a:chOff x="0" y="0"/>
            <a:chExt cx="2342535" cy="32507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42535" cy="3250767"/>
            </a:xfrm>
            <a:custGeom>
              <a:avLst/>
              <a:gdLst/>
              <a:ahLst/>
              <a:cxnLst/>
              <a:rect l="l" t="t" r="r" b="b"/>
              <a:pathLst>
                <a:path w="2342535" h="3250767">
                  <a:moveTo>
                    <a:pt x="0" y="0"/>
                  </a:moveTo>
                  <a:lnTo>
                    <a:pt x="2342535" y="0"/>
                  </a:lnTo>
                  <a:lnTo>
                    <a:pt x="2342535" y="3250767"/>
                  </a:lnTo>
                  <a:lnTo>
                    <a:pt x="0" y="3250767"/>
                  </a:lnTo>
                  <a:close/>
                </a:path>
              </a:pathLst>
            </a:custGeom>
            <a:solidFill>
              <a:srgbClr val="5F95AD">
                <a:alpha val="5098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342535" cy="3288867"/>
            </a:xfrm>
            <a:prstGeom prst="rect">
              <a:avLst/>
            </a:prstGeom>
          </p:spPr>
          <p:txBody>
            <a:bodyPr lIns="29041" tIns="29041" rIns="29041" bIns="29041" rtlCol="0" anchor="ctr"/>
            <a:lstStyle/>
            <a:p>
              <a:pPr marL="0" lvl="0" indent="0" algn="ctr">
                <a:lnSpc>
                  <a:spcPts val="243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325880" y="1600200"/>
            <a:ext cx="5852160" cy="8321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buNone/>
            </a:pPr>
            <a:r>
              <a:rPr sz="2700" b="1">
                <a:solidFill>
                  <a:srgbClr val="3A6A82"/>
                </a:solidFill>
                <a:latin typeface="JetBrains Mono"/>
              </a:rPr>
              <a:t>MEASURED RESULTS</a:t>
            </a:r>
          </a:p>
          <a:p>
            <a:pPr>
              <a:spcAft>
                <a:spcPts val="600"/>
              </a:spcAft>
              <a:buNone/>
            </a:pPr>
            <a:r>
              <a:rPr sz="5400" b="1">
                <a:solidFill>
                  <a:srgbClr val="D9764A"/>
                </a:solidFill>
                <a:latin typeface="JetBrains Mono"/>
              </a:rPr>
              <a:t>100%</a:t>
            </a:r>
          </a:p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incidents detected (18 labelled), median 22 s</a:t>
            </a:r>
          </a:p>
          <a:p>
            <a:pPr>
              <a:spcAft>
                <a:spcPts val="600"/>
              </a:spcAft>
              <a:buNone/>
            </a:pPr>
            <a:r>
              <a:rPr sz="5400" b="1">
                <a:solidFill>
                  <a:srgbClr val="D9764A"/>
                </a:solidFill>
                <a:latin typeface="JetBrains Mono"/>
              </a:rPr>
              <a:t>83% / 100%</a:t>
            </a:r>
          </a:p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root cause ranked first / in top two</a:t>
            </a:r>
          </a:p>
          <a:p>
            <a:pPr>
              <a:spcAft>
                <a:spcPts val="600"/>
              </a:spcAft>
              <a:buNone/>
            </a:pPr>
            <a:r>
              <a:rPr sz="5400" b="1">
                <a:solidFill>
                  <a:srgbClr val="D9764A"/>
                </a:solidFill>
                <a:latin typeface="JetBrains Mono"/>
              </a:rPr>
              <a:t>0.94</a:t>
            </a:r>
          </a:p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causal-model fit (cross-validated R²)</a:t>
            </a:r>
          </a:p>
          <a:p>
            <a:pPr>
              <a:spcAft>
                <a:spcPts val="600"/>
              </a:spcAft>
              <a:buNone/>
            </a:pPr>
            <a:r>
              <a:rPr sz="5400" b="1">
                <a:solidFill>
                  <a:srgbClr val="D9764A"/>
                </a:solidFill>
                <a:latin typeface="JetBrains Mono"/>
              </a:rPr>
              <a:t>2m 17s</a:t>
            </a:r>
          </a:p>
          <a:p>
            <a:pPr>
              <a:spcAft>
                <a:spcPts val="400"/>
              </a:spcAft>
              <a:buNone/>
            </a:pPr>
            <a:r>
              <a:rPr sz="1900" b="0">
                <a:solidFill>
                  <a:srgbClr val="4E6370"/>
                </a:solidFill>
                <a:latin typeface="JetBrains Mono"/>
              </a:rPr>
              <a:t>live payment failure: auto-restart, verified, resolved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1600200"/>
            <a:ext cx="5760720" cy="8321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buNone/>
            </a:pPr>
            <a:r>
              <a:rPr sz="2700" b="1">
                <a:solidFill>
                  <a:srgbClr val="3A6A82"/>
                </a:solidFill>
                <a:latin typeface="JetBrains Mono"/>
              </a:rPr>
              <a:t>FUTURE SCOPE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Sign-in, roles and a Helm chart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Onboard a second real system via the wizard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Long chaos campaigns for evidence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Better network-link root causes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Learned failure forecasting with more data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More executors: databases, feature flags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Runbook marketplace via signed webhooks</a:t>
            </a:r>
          </a:p>
        </p:txBody>
      </p:sp>
    </p:spTree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888" b="-5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19456" y="207645"/>
            <a:ext cx="18726912" cy="2516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3A6A82"/>
                </a:solidFill>
                <a:latin typeface="Anton"/>
                <a:ea typeface="Anton"/>
                <a:cs typeface="Anton"/>
                <a:sym typeface="Anton"/>
              </a:rPr>
              <a:t>REPORT &amp; PROJECT JOURNEY</a:t>
            </a:r>
          </a:p>
        </p:txBody>
      </p:sp>
      <p:sp>
        <p:nvSpPr>
          <p:cNvPr id="4" name="AutoShape 4"/>
          <p:cNvSpPr/>
          <p:nvPr/>
        </p:nvSpPr>
        <p:spPr>
          <a:xfrm>
            <a:off x="1050871" y="1028700"/>
            <a:ext cx="16208429" cy="0"/>
          </a:xfrm>
          <a:prstGeom prst="line">
            <a:avLst/>
          </a:prstGeom>
          <a:ln w="38100" cap="flat">
            <a:gradFill>
              <a:gsLst>
                <a:gs pos="0">
                  <a:srgbClr val="599CDB">
                    <a:alpha val="100000"/>
                  </a:srgbClr>
                </a:gs>
                <a:gs pos="100000">
                  <a:srgbClr val="1F5689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0800000">
            <a:off x="1050871" y="1368769"/>
            <a:ext cx="6345120" cy="8819889"/>
            <a:chOff x="0" y="0"/>
            <a:chExt cx="2338636" cy="32507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38636" cy="3250767"/>
            </a:xfrm>
            <a:custGeom>
              <a:avLst/>
              <a:gdLst/>
              <a:ahLst/>
              <a:cxnLst/>
              <a:rect l="l" t="t" r="r" b="b"/>
              <a:pathLst>
                <a:path w="2338636" h="3250767">
                  <a:moveTo>
                    <a:pt x="0" y="0"/>
                  </a:moveTo>
                  <a:lnTo>
                    <a:pt x="2338636" y="0"/>
                  </a:lnTo>
                  <a:lnTo>
                    <a:pt x="2338636" y="3250767"/>
                  </a:lnTo>
                  <a:lnTo>
                    <a:pt x="0" y="3250767"/>
                  </a:lnTo>
                  <a:close/>
                </a:path>
              </a:pathLst>
            </a:custGeom>
            <a:solidFill>
              <a:srgbClr val="F2D7C3">
                <a:alpha val="78824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38636" cy="3288867"/>
            </a:xfrm>
            <a:prstGeom prst="rect">
              <a:avLst/>
            </a:prstGeom>
          </p:spPr>
          <p:txBody>
            <a:bodyPr lIns="29041" tIns="29041" rIns="29041" bIns="29041" rtlCol="0" anchor="ctr"/>
            <a:lstStyle/>
            <a:p>
              <a:pPr marL="0" lvl="0" indent="0" algn="ctr">
                <a:lnSpc>
                  <a:spcPts val="24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0911687" y="1368769"/>
            <a:ext cx="6355699" cy="8819889"/>
            <a:chOff x="0" y="0"/>
            <a:chExt cx="2342535" cy="32507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42535" cy="3250767"/>
            </a:xfrm>
            <a:custGeom>
              <a:avLst/>
              <a:gdLst/>
              <a:ahLst/>
              <a:cxnLst/>
              <a:rect l="l" t="t" r="r" b="b"/>
              <a:pathLst>
                <a:path w="2342535" h="3250767">
                  <a:moveTo>
                    <a:pt x="0" y="0"/>
                  </a:moveTo>
                  <a:lnTo>
                    <a:pt x="2342535" y="0"/>
                  </a:lnTo>
                  <a:lnTo>
                    <a:pt x="2342535" y="3250767"/>
                  </a:lnTo>
                  <a:lnTo>
                    <a:pt x="0" y="3250767"/>
                  </a:lnTo>
                  <a:close/>
                </a:path>
              </a:pathLst>
            </a:custGeom>
            <a:solidFill>
              <a:srgbClr val="5F95AD">
                <a:alpha val="5098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342535" cy="3288867"/>
            </a:xfrm>
            <a:prstGeom prst="rect">
              <a:avLst/>
            </a:prstGeom>
          </p:spPr>
          <p:txBody>
            <a:bodyPr lIns="29041" tIns="29041" rIns="29041" bIns="29041" rtlCol="0" anchor="ctr"/>
            <a:lstStyle/>
            <a:p>
              <a:pPr marL="0" lvl="0" indent="0" algn="ctr">
                <a:lnSpc>
                  <a:spcPts val="243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325880" y="1600200"/>
            <a:ext cx="5852160" cy="8321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buNone/>
            </a:pPr>
            <a:r>
              <a:rPr sz="2700" b="1">
                <a:solidFill>
                  <a:srgbClr val="3A6A82"/>
                </a:solidFill>
                <a:latin typeface="JetBrains Mono"/>
              </a:rPr>
              <a:t>PROJECT REPORT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Introduction (2W1H)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Objective (3W), cost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Mind map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Primary research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Literature survey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Empathy map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Needs · pain points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Ideation (D/V/F)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Problem statement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Charter · risks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Prototype · results</a:t>
            </a:r>
          </a:p>
          <a:p>
            <a:pPr marL="292608" indent="-256032">
              <a:spcAft>
                <a:spcPts val="400"/>
              </a:spcAft>
              <a:buChar char="•"/>
            </a:pPr>
            <a:r>
              <a:rPr sz="2300" b="0">
                <a:solidFill>
                  <a:srgbClr val="1F3A4D"/>
                </a:solidFill>
                <a:latin typeface="JetBrains Mono"/>
              </a:rPr>
              <a:t>Conclusion</a:t>
            </a:r>
          </a:p>
        </p:txBody>
      </p:sp>
      <p:pic>
        <p:nvPicPr>
          <p:cNvPr id="12" name="Picture 11" descr="jour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1872407"/>
            <a:ext cx="6035040" cy="77766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888" b="-5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53903" y="3904149"/>
            <a:ext cx="16380194" cy="368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16"/>
              </a:lnSpc>
            </a:pPr>
            <a:r>
              <a:rPr lang="en-US" sz="42833">
                <a:solidFill>
                  <a:srgbClr val="FFFFFF">
                    <a:alpha val="21961"/>
                  </a:srgbClr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CAUSALOPS</a:t>
            </a:r>
          </a:p>
        </p:txBody>
      </p:sp>
      <p:grpSp>
        <p:nvGrpSpPr>
          <p:cNvPr id="4" name="Group 4"/>
          <p:cNvGrpSpPr/>
          <p:nvPr/>
        </p:nvGrpSpPr>
        <p:grpSpPr>
          <a:xfrm rot="-10800000">
            <a:off x="0" y="6579980"/>
            <a:ext cx="18288000" cy="3668920"/>
            <a:chOff x="0" y="0"/>
            <a:chExt cx="6740451" cy="13522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40451" cy="1352263"/>
            </a:xfrm>
            <a:custGeom>
              <a:avLst/>
              <a:gdLst/>
              <a:ahLst/>
              <a:cxnLst/>
              <a:rect l="l" t="t" r="r" b="b"/>
              <a:pathLst>
                <a:path w="6740451" h="1352263">
                  <a:moveTo>
                    <a:pt x="0" y="0"/>
                  </a:moveTo>
                  <a:lnTo>
                    <a:pt x="6740451" y="0"/>
                  </a:lnTo>
                  <a:lnTo>
                    <a:pt x="6740451" y="1352263"/>
                  </a:lnTo>
                  <a:lnTo>
                    <a:pt x="0" y="1352263"/>
                  </a:lnTo>
                  <a:close/>
                </a:path>
              </a:pathLst>
            </a:custGeom>
            <a:solidFill>
              <a:srgbClr val="F2D7C3">
                <a:alpha val="57647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740451" cy="1390363"/>
            </a:xfrm>
            <a:prstGeom prst="rect">
              <a:avLst/>
            </a:prstGeom>
          </p:spPr>
          <p:txBody>
            <a:bodyPr lIns="29041" tIns="29041" rIns="29041" bIns="29041" rtlCol="0" anchor="ctr"/>
            <a:lstStyle/>
            <a:p>
              <a:pPr marL="0" lvl="0" indent="0" algn="ctr">
                <a:lnSpc>
                  <a:spcPts val="243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39384" y="8300140"/>
            <a:ext cx="5609232" cy="938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18"/>
              </a:lnSpc>
              <a:spcBef>
                <a:spcPct val="0"/>
              </a:spcBef>
            </a:pPr>
            <a:r>
              <a:rPr lang="en-US" sz="5441">
                <a:solidFill>
                  <a:srgbClr val="3A6A82"/>
                </a:solidFill>
                <a:latin typeface="Anton"/>
                <a:ea typeface="Anton"/>
                <a:cs typeface="Anton"/>
                <a:sym typeface="Anton"/>
              </a:rPr>
              <a:t>QUESTIONS?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91076" y="2035454"/>
            <a:ext cx="12105848" cy="321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85"/>
              </a:lnSpc>
              <a:spcBef>
                <a:spcPct val="0"/>
              </a:spcBef>
            </a:pPr>
            <a:r>
              <a:rPr lang="en-US" sz="18775">
                <a:solidFill>
                  <a:srgbClr val="1F5689"/>
                </a:solidFill>
                <a:latin typeface="Apricots"/>
                <a:ea typeface="Apricots"/>
                <a:cs typeface="Apricots"/>
                <a:sym typeface="Apricots"/>
              </a:rPr>
              <a:t>Thank You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573803" y="6796346"/>
            <a:ext cx="9140394" cy="624599"/>
            <a:chOff x="0" y="0"/>
            <a:chExt cx="12187192" cy="832798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47625"/>
              <a:ext cx="12187192" cy="848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11"/>
                </a:lnSpc>
                <a:spcBef>
                  <a:spcPct val="0"/>
                </a:spcBef>
              </a:pPr>
              <a:r>
                <a:rPr lang="en-US" sz="1865" spc="546">
                  <a:solidFill>
                    <a:srgbClr val="000000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Detect the Failure</a:t>
              </a:r>
            </a:p>
            <a:p>
              <a:pPr marL="0" lvl="0" indent="0" algn="l">
                <a:lnSpc>
                  <a:spcPts val="2611"/>
                </a:lnSpc>
                <a:spcBef>
                  <a:spcPct val="0"/>
                </a:spcBef>
              </a:pPr>
              <a:r>
                <a:rPr lang="en-US" sz="1865" spc="546">
                  <a:solidFill>
                    <a:srgbClr val="000000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Explain the Cause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5243"/>
              <a:ext cx="12187192" cy="848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2611"/>
                </a:lnSpc>
                <a:spcBef>
                  <a:spcPct val="0"/>
                </a:spcBef>
              </a:pPr>
              <a:r>
                <a:rPr lang="en-US" sz="1865" spc="546">
                  <a:solidFill>
                    <a:srgbClr val="000000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Simulate the Fix</a:t>
              </a:r>
            </a:p>
            <a:p>
              <a:pPr marL="0" lvl="0" indent="0" algn="r">
                <a:lnSpc>
                  <a:spcPts val="2611"/>
                </a:lnSpc>
                <a:spcBef>
                  <a:spcPct val="0"/>
                </a:spcBef>
              </a:pPr>
              <a:r>
                <a:rPr lang="en-US" sz="1865" spc="546">
                  <a:solidFill>
                    <a:srgbClr val="000000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Remediate Safely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2151</Words>
  <Application>Microsoft Office PowerPoint</Application>
  <PresentationFormat>Custom</PresentationFormat>
  <Paragraphs>318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Neue Machina</vt:lpstr>
      <vt:lpstr>Arial</vt:lpstr>
      <vt:lpstr>Extenda 30 Deca</vt:lpstr>
      <vt:lpstr>Apricots</vt:lpstr>
      <vt:lpstr>Anton</vt:lpstr>
      <vt:lpstr>JetBrains Mono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PBL sem 5</dc:title>
  <cp:lastModifiedBy>35 AIDS A Aayush Gupta</cp:lastModifiedBy>
  <cp:revision>2</cp:revision>
  <dcterms:created xsi:type="dcterms:W3CDTF">2006-08-16T00:00:00Z</dcterms:created>
  <dcterms:modified xsi:type="dcterms:W3CDTF">2026-10-03T02:57:46Z</dcterms:modified>
  <dc:identifier>DAHW4tW7gnw</dc:identifier>
</cp:coreProperties>
</file>