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A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4D"/>
                </a:solidFill>
              </a:rPr>
              <a:t>Problem and our answer</a:t>
            </a:r>
          </a:p>
          <a:p>
            <a:r>
              <a:rPr sz="1500">
                <a:solidFill>
                  <a:srgbClr val="5E6561"/>
                </a:solidFill>
              </a:rPr>
              <a:t>Every vendor logs differently; parsers break silently when firmware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561"/>
                </a:solidFill>
              </a:rPr>
              <a:t>CausalOps ULPF · SIH 2026 · PS 26156 · numbers measured on the running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6949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1700" b="1">
                <a:solidFill>
                  <a:srgbClr val="1F3A4D"/>
                </a:solidFill>
              </a:rPr>
              <a:t>The problem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71A19"/>
                </a:solidFill>
              </a:rPr>
              <a:t>Firewalls, routers, IDS, VPN and servers emit Syslog, CEF, LEEF, JSON, XML, CSV and proprietary text. Parsers are hand-written, fields get lost, nobody can prove what was kept, and a vendor's format change breaks parsing silently.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71800"/>
            <a:ext cx="6949440" cy="1417320"/>
          </a:xfrm>
          <a:prstGeom prst="roundRect">
            <a:avLst>
              <a:gd name="adj" fmla="val 8000"/>
            </a:avLst>
          </a:prstGeom>
          <a:solidFill>
            <a:srgbClr val="D7E7E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1700" b="1">
                <a:solidFill>
                  <a:srgbClr val="1F3A4D"/>
                </a:solidFill>
              </a:rPr>
              <a:t>CausalOps ULPF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71A19"/>
                </a:solidFill>
              </a:rPr>
              <a:t>Ingests any format, keeps every raw byte in a hash-chained vault, normalizes to OCSF 1.3, and proves for each event that the normalized record still contains the whole original.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26280"/>
            <a:ext cx="6949440" cy="1600200"/>
          </a:xfrm>
          <a:prstGeom prst="roundRect">
            <a:avLst>
              <a:gd name="adj" fmla="val 8000"/>
            </a:avLst>
          </a:prstGeom>
          <a:solidFill>
            <a:srgbClr val="F6CFB2"/>
          </a:solidFill>
          <a:ln w="15875">
            <a:solidFill>
              <a:srgbClr val="D97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1700" b="1">
                <a:solidFill>
                  <a:srgbClr val="1F3A4D"/>
                </a:solidFill>
              </a:rPr>
              <a:t>And it looks after itself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71A19"/>
                </a:solidFill>
              </a:rPr>
              <a:t>The CausalOps engine learns each source's normal quality and detects format drift, silence, clock skew and crashed workers, repairs them through a verified, reversible policy, and re-normalizes the affected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17320"/>
            <a:ext cx="3749039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3000" b="1">
                <a:solidFill>
                  <a:srgbClr val="1F3A4D"/>
                </a:solidFill>
              </a:rPr>
              <a:t>812,155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71A19"/>
                </a:solidFill>
              </a:rPr>
              <a:t>events stored, every one proven lossless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971800"/>
            <a:ext cx="3749039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3000" b="1">
                <a:solidFill>
                  <a:srgbClr val="1F3A4D"/>
                </a:solidFill>
              </a:rPr>
              <a:t>14 packs · 15 sources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71A19"/>
                </a:solidFill>
              </a:rPr>
              <a:t>12 vendors; unknown formats onboarded in Parser Studio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526280"/>
            <a:ext cx="3749039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3000" b="1">
                <a:solidFill>
                  <a:srgbClr val="1F3A4D"/>
                </a:solidFill>
              </a:rPr>
              <a:t>2,684 events/s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71A19"/>
                </a:solidFill>
              </a:rPr>
              <a:t>per worker, measured; workers scale 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A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4D"/>
                </a:solidFill>
              </a:rPr>
              <a:t>Architecture</a:t>
            </a:r>
          </a:p>
          <a:p>
            <a:r>
              <a:rPr sz="1500">
                <a:solidFill>
                  <a:srgbClr val="5E6561"/>
                </a:solidFill>
              </a:rPr>
              <a:t>Stateless, horizontally scalable, air-gapped; lossless by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561"/>
                </a:solidFill>
              </a:rPr>
              <a:t>CausalOps ULPF · SIH 2026 · PS 26156 · numbers measured on the running system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11064240" cy="56855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A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4D"/>
                </a:solidFill>
              </a:rPr>
              <a:t>Differentiator: a pipeline that repairs itself</a:t>
            </a:r>
          </a:p>
          <a:p>
            <a:r>
              <a:rPr sz="1500">
                <a:solidFill>
                  <a:srgbClr val="5E6561"/>
                </a:solidFill>
              </a:rPr>
              <a:t>Detect → infer → shadow-test → promote → verify → re-normalize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561"/>
                </a:solidFill>
              </a:rPr>
              <a:t>CausalOps ULPF · SIH 2026 · PS 26156 · numbers measured on the running system</a:t>
            </a:r>
          </a:p>
        </p:txBody>
      </p:sp>
      <p:pic>
        <p:nvPicPr>
          <p:cNvPr id="5" name="Picture 4" descr="selfh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11247120" cy="27474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16052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3000" b="1">
                <a:solidFill>
                  <a:srgbClr val="1F3A4D"/>
                </a:solidFill>
              </a:rPr>
              <a:t>30 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71A19"/>
                </a:solidFill>
              </a:rPr>
              <a:t>median time to detect a vendor format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416052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3000" b="1">
                <a:solidFill>
                  <a:srgbClr val="1F3A4D"/>
                </a:solidFill>
              </a:rPr>
              <a:t>122 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71A19"/>
                </a:solidFill>
              </a:rPr>
              <a:t>median time to repaired, verified and re-normalized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16052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3000" b="1">
                <a:solidFill>
                  <a:srgbClr val="1F3A4D"/>
                </a:solidFill>
              </a:rPr>
              <a:t>9 rules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71A19"/>
                </a:solidFill>
              </a:rPr>
              <a:t>kill switch · dry run · tier · fixes drift · no regression · lossless · evidence · cooldown · reversible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416052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3000" b="1">
                <a:solidFill>
                  <a:srgbClr val="1F3A4D"/>
                </a:solidFill>
              </a:rPr>
              <a:t>100%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71A19"/>
                </a:solidFill>
              </a:rPr>
              <a:t>re-normalized events proven lossless again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623560"/>
            <a:ext cx="112928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1400" b="1">
                <a:solidFill>
                  <a:srgbClr val="1F3A4D"/>
                </a:solidFill>
              </a:rPr>
              <a:t>Same loop for silent sources, clock skew and crashed workers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A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4D"/>
                </a:solidFill>
              </a:rPr>
              <a:t>Twelve differentiators</a:t>
            </a:r>
          </a:p>
          <a:p>
            <a:r>
              <a:rPr sz="1500">
                <a:solidFill>
                  <a:srgbClr val="5E6561"/>
                </a:solidFill>
              </a:rPr>
              <a:t>What the SOC gets beyond 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561"/>
                </a:solidFill>
              </a:rPr>
              <a:t>CausalOps ULPF · SIH 2026 · PS 26156 · numbers measured on the running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F6CFB2"/>
          </a:solidFill>
          <a:ln w="15875">
            <a:solidFill>
              <a:srgbClr val="D97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1600" b="1">
                <a:solidFill>
                  <a:srgbClr val="D9764A"/>
                </a:solidFill>
              </a:rPr>
              <a:t>1  </a:t>
            </a:r>
            <a:r>
              <a:rPr sz="1600" b="1">
                <a:solidFill>
                  <a:srgbClr val="1F3A4D"/>
                </a:solidFill>
              </a:rPr>
              <a:t>Parser drift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71A19"/>
                </a:solidFill>
              </a:rPr>
              <a:t>detected from learned fill rate, repaired automatically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F6CFB2"/>
          </a:solidFill>
          <a:ln w="15875">
            <a:solidFill>
              <a:srgbClr val="D97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1600" b="1">
                <a:solidFill>
                  <a:srgbClr val="D9764A"/>
                </a:solidFill>
              </a:rPr>
              <a:t>2  </a:t>
            </a:r>
            <a:r>
              <a:rPr sz="1600" b="1">
                <a:solidFill>
                  <a:srgbClr val="1F3A4D"/>
                </a:solidFill>
              </a:rPr>
              <a:t>Provable losslessness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71A19"/>
                </a:solidFill>
              </a:rPr>
              <a:t>rebuild from OCSF = vault SHA-256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417320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F6CFB2"/>
          </a:solidFill>
          <a:ln w="15875">
            <a:solidFill>
              <a:srgbClr val="D97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1600" b="1">
                <a:solidFill>
                  <a:srgbClr val="D9764A"/>
                </a:solidFill>
              </a:rPr>
              <a:t>3  </a:t>
            </a:r>
            <a:r>
              <a:rPr sz="1600" b="1">
                <a:solidFill>
                  <a:srgbClr val="1F3A4D"/>
                </a:solidFill>
              </a:rPr>
              <a:t>Silent sources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71A19"/>
                </a:solidFill>
              </a:rPr>
              <a:t>Poisson test on each source's learned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33472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F6CFB2"/>
          </a:solidFill>
          <a:ln w="15875">
            <a:solidFill>
              <a:srgbClr val="D97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1600" b="1">
                <a:solidFill>
                  <a:srgbClr val="D9764A"/>
                </a:solidFill>
              </a:rPr>
              <a:t>4  </a:t>
            </a:r>
            <a:r>
              <a:rPr sz="1600" b="1">
                <a:solidFill>
                  <a:srgbClr val="1F3A4D"/>
                </a:solidFill>
              </a:rPr>
              <a:t>Self-healing pipeline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71A19"/>
                </a:solidFill>
              </a:rPr>
              <a:t>crashed workers restarted, zero loss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633472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D7E7E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1600" b="1">
                <a:solidFill>
                  <a:srgbClr val="D9764A"/>
                </a:solidFill>
              </a:rPr>
              <a:t>5  </a:t>
            </a:r>
            <a:r>
              <a:rPr sz="1600" b="1">
                <a:solidFill>
                  <a:srgbClr val="1F3A4D"/>
                </a:solidFill>
              </a:rPr>
              <a:t>Re-normalization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71A19"/>
                </a:solidFill>
              </a:rPr>
              <a:t>fix the past from the vault, keep revisions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633472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D7E7E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1600" b="1">
                <a:solidFill>
                  <a:srgbClr val="D9764A"/>
                </a:solidFill>
              </a:rPr>
              <a:t>6  </a:t>
            </a:r>
            <a:r>
              <a:rPr sz="1600" b="1">
                <a:solidFill>
                  <a:srgbClr val="1F3A4D"/>
                </a:solidFill>
              </a:rPr>
              <a:t>CERT-In 2022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71A19"/>
                </a:solidFill>
              </a:rPr>
              <a:t>retention, NTP, sources, integrity,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9624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D7E7E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1600" b="1">
                <a:solidFill>
                  <a:srgbClr val="D9764A"/>
                </a:solidFill>
              </a:rPr>
              <a:t>7  </a:t>
            </a:r>
            <a:r>
              <a:rPr sz="1600" b="1">
                <a:solidFill>
                  <a:srgbClr val="1F3A4D"/>
                </a:solidFill>
              </a:rPr>
              <a:t>Clock skew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71A19"/>
                </a:solidFill>
              </a:rPr>
              <a:t>per-source offset estimated and corrected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849624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D7E7E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1600" b="1">
                <a:solidFill>
                  <a:srgbClr val="D9764A"/>
                </a:solidFill>
              </a:rPr>
              <a:t>8  </a:t>
            </a:r>
            <a:r>
              <a:rPr sz="1600" b="1">
                <a:solidFill>
                  <a:srgbClr val="1F3A4D"/>
                </a:solidFill>
              </a:rPr>
              <a:t>SIEM cost tiering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71A19"/>
                </a:solidFill>
              </a:rPr>
              <a:t>59.1% less volume, lake pointers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849624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D7E7E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1600" b="1">
                <a:solidFill>
                  <a:srgbClr val="D9764A"/>
                </a:solidFill>
              </a:rPr>
              <a:t>9  </a:t>
            </a:r>
            <a:r>
              <a:rPr sz="1600" b="1">
                <a:solidFill>
                  <a:srgbClr val="1F3A4D"/>
                </a:solidFill>
              </a:rPr>
              <a:t>DPDP privacy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71A19"/>
                </a:solidFill>
              </a:rPr>
              <a:t>format-preserving tokens, audited reveal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65776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D7E7E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1600" b="1">
                <a:solidFill>
                  <a:srgbClr val="D9764A"/>
                </a:solidFill>
              </a:rPr>
              <a:t>10  </a:t>
            </a:r>
            <a:r>
              <a:rPr sz="1600" b="1">
                <a:solidFill>
                  <a:srgbClr val="1F3A4D"/>
                </a:solidFill>
              </a:rPr>
              <a:t>Sigma on OCSF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71A19"/>
                </a:solidFill>
              </a:rPr>
              <a:t>one rule fires across every vendor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5065776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D7E7E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1600" b="1">
                <a:solidFill>
                  <a:srgbClr val="D9764A"/>
                </a:solidFill>
              </a:rPr>
              <a:t>11  </a:t>
            </a:r>
            <a:r>
              <a:rPr sz="1600" b="1">
                <a:solidFill>
                  <a:srgbClr val="1F3A4D"/>
                </a:solidFill>
              </a:rPr>
              <a:t>Entity graph + attack chains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71A19"/>
                </a:solidFill>
              </a:rPr>
              <a:t>scan → brute force → login, one incident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5065776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D7E7E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1600" b="1">
                <a:solidFill>
                  <a:srgbClr val="D9764A"/>
                </a:solidFill>
              </a:rPr>
              <a:t>12  </a:t>
            </a:r>
            <a:r>
              <a:rPr sz="1600" b="1">
                <a:solidFill>
                  <a:srgbClr val="1F3A4D"/>
                </a:solidFill>
              </a:rPr>
              <a:t>Signed bundles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71A19"/>
                </a:solidFill>
              </a:rPr>
              <a:t>Ed25519, data diode, tamper-evident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A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4D"/>
                </a:solidFill>
              </a:rPr>
              <a:t>Results and deployment</a:t>
            </a:r>
          </a:p>
          <a:p>
            <a:r>
              <a:rPr sz="1500">
                <a:solidFill>
                  <a:srgbClr val="5E6561"/>
                </a:solidFill>
              </a:rPr>
              <a:t>One command, Docker Hub images, offline archive for isolated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561"/>
                </a:solidFill>
              </a:rPr>
              <a:t>CausalOps ULPF · SIH 2026 · PS 26156 · numbers measured on the running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3000" b="1">
                <a:solidFill>
                  <a:srgbClr val="1F3A4D"/>
                </a:solidFill>
              </a:rPr>
              <a:t>100.0%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71A19"/>
                </a:solidFill>
              </a:rPr>
              <a:t>of stored events fully normalized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1732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3000" b="1">
                <a:solidFill>
                  <a:srgbClr val="1F3A4D"/>
                </a:solidFill>
              </a:rPr>
              <a:t>59.1%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71A19"/>
                </a:solidFill>
              </a:rPr>
              <a:t>smaller SIEM ingest, nothing dropped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3000" b="1">
                <a:solidFill>
                  <a:srgbClr val="1F3A4D"/>
                </a:solidFill>
              </a:rPr>
              <a:t>5/6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71A19"/>
                </a:solidFill>
              </a:rPr>
              <a:t>CERT-In checks passing (measured)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20" y="141732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3000" b="1">
                <a:solidFill>
                  <a:srgbClr val="1F3A4D"/>
                </a:solidFill>
              </a:rPr>
              <a:t>a – 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71A19"/>
                </a:solidFill>
              </a:rPr>
              <a:t>every PS 26156 requirement met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5532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1700" b="1">
                <a:solidFill>
                  <a:srgbClr val="1F3A4D"/>
                </a:solidFill>
              </a:rPr>
              <a:t>Run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71A19"/>
                </a:solidFill>
              </a:rPr>
              <a:t>bash scripts/demo/start.sh
console: http://localhost:3000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63240"/>
            <a:ext cx="5532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1700" b="1">
                <a:solidFill>
                  <a:srgbClr val="1F3A4D"/>
                </a:solidFill>
              </a:rPr>
              <a:t>Air-gapped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71A19"/>
                </a:solidFill>
              </a:rPr>
              <a:t>export_offline.sh on a connected machine,
load_offline.sh inside the isolated network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17720"/>
            <a:ext cx="5532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1700" b="1">
                <a:solidFill>
                  <a:srgbClr val="1F3A4D"/>
                </a:solidFill>
              </a:rPr>
              <a:t>Scale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71A19"/>
                </a:solidFill>
              </a:rPr>
              <a:t>docker compose up -d --scale ulpf-worker=N
Kafka and OpenSearch: --profile full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617720"/>
            <a:ext cx="5532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A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/>
          <a:lstStyle/>
          <a:p>
            <a:pPr algn="ctr"/>
            <a:r>
              <a:rPr sz="1700" b="1">
                <a:solidFill>
                  <a:srgbClr val="1F3A4D"/>
                </a:solidFill>
              </a:rPr>
              <a:t>Verify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71A19"/>
                </a:solidFill>
              </a:rPr>
              <a:t>python3 scripts/dev/verify_ulpf.py
every claim, end to end, on the live 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