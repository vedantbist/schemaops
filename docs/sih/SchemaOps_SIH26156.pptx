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Lilita One" charset="1" panose="02000000000000000000"/>
      <p:regular r:id="rId12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notesMaster" Target="notesMasters/notesMaster1.xml"/><Relationship Id="rId14" Type="http://schemas.openxmlformats.org/officeDocument/2006/relationships/theme" Target="theme/theme2.xml"/><Relationship Id="rId15" Type="http://schemas.openxmlformats.org/officeDocument/2006/relationships/notesSlide" Target="notesSlides/notesSlide1.xml"/><Relationship Id="rId16" Type="http://schemas.openxmlformats.org/officeDocument/2006/relationships/notesSlide" Target="notesSlides/notesSlide2.xml"/><Relationship Id="rId17" Type="http://schemas.openxmlformats.org/officeDocument/2006/relationships/notesSlide" Target="notesSlides/notesSlide3.xml"/><Relationship Id="rId18" Type="http://schemas.openxmlformats.org/officeDocument/2006/relationships/notesSlide" Target="notesSlides/notesSlide4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notesSlide" Target="notesSlides/notes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latin typeface="Lilita One"/>
              </a:rPr>
              <a:t>Click to edit Master title style</a:t>
            </a:r>
            <a:endParaRPr lang="en-US">
              <a:latin typeface="Lilita One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Lilita On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Lilita One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Lilita One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Lilita One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Lilita One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Lilita One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Lilita One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Lilita One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Lilita One"/>
              </a:defRPr>
            </a:lvl9pPr>
          </a:lstStyle>
          <a:p>
            <a:r>
              <a:rPr lang="en-US" smtClean="0">
                <a:latin typeface="Lilita One"/>
              </a:rPr>
              <a:t>Click to edit Master subtitle style</a:t>
            </a:r>
            <a:endParaRPr lang="en-US">
              <a:latin typeface="Lilita One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Lilita One"/>
              </a:rPr>
              <a:pPr/>
              <a:t>8/1/2011</a:t>
            </a:fld>
            <a:endParaRPr lang="en-US">
              <a:latin typeface="Lilita One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Lilita One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Lilita One"/>
              </a:rPr>
              <a:pPr/>
              <a:t>‹#›</a:t>
            </a:fld>
            <a:endParaRPr lang="en-US">
              <a:latin typeface="Lilita On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Lilita One"/>
              </a:rPr>
              <a:t>Click to edit Master title style</a:t>
            </a:r>
            <a:endParaRPr lang="en-US">
              <a:latin typeface="Lilita One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latin typeface="Lilita One"/>
              </a:rPr>
              <a:t>Click to edit Master text styles</a:t>
            </a:r>
          </a:p>
          <a:p>
            <a:pPr lvl="1"/>
            <a:r>
              <a:rPr lang="en-US" smtClean="0">
                <a:latin typeface="Lilita One"/>
              </a:rPr>
              <a:t>Second level</a:t>
            </a:r>
          </a:p>
          <a:p>
            <a:pPr lvl="2"/>
            <a:r>
              <a:rPr lang="en-US" smtClean="0">
                <a:latin typeface="Lilita One"/>
              </a:rPr>
              <a:t>Third level</a:t>
            </a:r>
          </a:p>
          <a:p>
            <a:pPr lvl="3"/>
            <a:r>
              <a:rPr lang="en-US" smtClean="0">
                <a:latin typeface="Lilita One"/>
              </a:rPr>
              <a:t>Fourth level</a:t>
            </a:r>
          </a:p>
          <a:p>
            <a:pPr lvl="4"/>
            <a:r>
              <a:rPr lang="en-US" smtClean="0">
                <a:latin typeface="Lilita One"/>
              </a:rPr>
              <a:t>Fifth level</a:t>
            </a:r>
            <a:endParaRPr lang="en-US">
              <a:latin typeface="Lilita One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Lilita One"/>
              </a:rPr>
              <a:pPr/>
              <a:t>8/1/2011</a:t>
            </a:fld>
            <a:endParaRPr lang="en-US">
              <a:latin typeface="Lilita One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Lilita One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Lilita One"/>
              </a:rPr>
              <a:pPr/>
              <a:t>‹#›</a:t>
            </a:fld>
            <a:endParaRPr lang="en-US">
              <a:latin typeface="Lilita On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Lilita One"/>
              </a:defRPr>
            </a:lvl1pPr>
          </a:lstStyle>
          <a:p>
            <a:r>
              <a:rPr lang="en-US" smtClean="0">
                <a:latin typeface="Lilita One"/>
              </a:rPr>
              <a:t>Click to edit Master title style</a:t>
            </a:r>
            <a:endParaRPr lang="en-US">
              <a:latin typeface="Lilita One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Lilita On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Lilita One"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Lilita One"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Lilita One"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Lilita One"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Lilita One"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Lilita One"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Lilita One"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Lilita One"/>
              </a:defRPr>
            </a:lvl9pPr>
          </a:lstStyle>
          <a:p>
            <a:pPr lvl="0"/>
            <a:r>
              <a:rPr lang="en-US" smtClean="0">
                <a:latin typeface="Lilita One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Lilita One"/>
              </a:rPr>
              <a:pPr/>
              <a:t>8/1/2011</a:t>
            </a:fld>
            <a:endParaRPr lang="en-US">
              <a:latin typeface="Lilita One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Lilita One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Lilita One"/>
              </a:rPr>
              <a:pPr/>
              <a:t>‹#›</a:t>
            </a:fld>
            <a:endParaRPr lang="en-US">
              <a:latin typeface="Lilita On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Lilita One"/>
              </a:rPr>
              <a:t>Click to edit Master title style</a:t>
            </a:r>
            <a:endParaRPr lang="en-US">
              <a:latin typeface="Lilita One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Lilita One"/>
              </a:defRPr>
            </a:lvl1pPr>
            <a:lvl2pPr>
              <a:defRPr sz="2400">
                <a:latin typeface="Lilita One"/>
              </a:defRPr>
            </a:lvl2pPr>
            <a:lvl3pPr>
              <a:defRPr sz="2000">
                <a:latin typeface="Lilita One"/>
              </a:defRPr>
            </a:lvl3pPr>
            <a:lvl4pPr>
              <a:defRPr sz="1800">
                <a:latin typeface="Lilita One"/>
              </a:defRPr>
            </a:lvl4pPr>
            <a:lvl5pPr>
              <a:defRPr sz="1800">
                <a:latin typeface="Lilita One"/>
              </a:defRPr>
            </a:lvl5pPr>
            <a:lvl6pPr>
              <a:defRPr sz="1800">
                <a:latin typeface="Lilita One"/>
              </a:defRPr>
            </a:lvl6pPr>
            <a:lvl7pPr>
              <a:defRPr sz="1800">
                <a:latin typeface="Lilita One"/>
              </a:defRPr>
            </a:lvl7pPr>
            <a:lvl8pPr>
              <a:defRPr sz="1800">
                <a:latin typeface="Lilita One"/>
              </a:defRPr>
            </a:lvl8pPr>
            <a:lvl9pPr>
              <a:defRPr sz="1800">
                <a:latin typeface="Lilita One"/>
              </a:defRPr>
            </a:lvl9pPr>
          </a:lstStyle>
          <a:p>
            <a:pPr lvl="0"/>
            <a:r>
              <a:rPr lang="en-US" smtClean="0">
                <a:latin typeface="Lilita One"/>
              </a:rPr>
              <a:t>Click to edit Master text styles</a:t>
            </a:r>
          </a:p>
          <a:p>
            <a:pPr lvl="1"/>
            <a:r>
              <a:rPr lang="en-US" smtClean="0">
                <a:latin typeface="Lilita One"/>
              </a:rPr>
              <a:t>Second level</a:t>
            </a:r>
          </a:p>
          <a:p>
            <a:pPr lvl="2"/>
            <a:r>
              <a:rPr lang="en-US" smtClean="0">
                <a:latin typeface="Lilita One"/>
              </a:rPr>
              <a:t>Third level</a:t>
            </a:r>
          </a:p>
          <a:p>
            <a:pPr lvl="3"/>
            <a:r>
              <a:rPr lang="en-US" smtClean="0">
                <a:latin typeface="Lilita One"/>
              </a:rPr>
              <a:t>Fourth level</a:t>
            </a:r>
          </a:p>
          <a:p>
            <a:pPr lvl="4"/>
            <a:r>
              <a:rPr lang="en-US" smtClean="0">
                <a:latin typeface="Lilita One"/>
              </a:rPr>
              <a:t>Fifth level</a:t>
            </a:r>
            <a:endParaRPr lang="en-US">
              <a:latin typeface="Lilita One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Lilita One"/>
              </a:defRPr>
            </a:lvl1pPr>
            <a:lvl2pPr>
              <a:defRPr sz="2400">
                <a:latin typeface="Lilita One"/>
              </a:defRPr>
            </a:lvl2pPr>
            <a:lvl3pPr>
              <a:defRPr sz="2000">
                <a:latin typeface="Lilita One"/>
              </a:defRPr>
            </a:lvl3pPr>
            <a:lvl4pPr>
              <a:defRPr sz="1800">
                <a:latin typeface="Lilita One"/>
              </a:defRPr>
            </a:lvl4pPr>
            <a:lvl5pPr>
              <a:defRPr sz="1800">
                <a:latin typeface="Lilita One"/>
              </a:defRPr>
            </a:lvl5pPr>
            <a:lvl6pPr>
              <a:defRPr sz="1800">
                <a:latin typeface="Lilita One"/>
              </a:defRPr>
            </a:lvl6pPr>
            <a:lvl7pPr>
              <a:defRPr sz="1800">
                <a:latin typeface="Lilita One"/>
              </a:defRPr>
            </a:lvl7pPr>
            <a:lvl8pPr>
              <a:defRPr sz="1800">
                <a:latin typeface="Lilita One"/>
              </a:defRPr>
            </a:lvl8pPr>
            <a:lvl9pPr>
              <a:defRPr sz="1800">
                <a:latin typeface="Lilita One"/>
              </a:defRPr>
            </a:lvl9pPr>
          </a:lstStyle>
          <a:p>
            <a:pPr lvl="0"/>
            <a:r>
              <a:rPr lang="en-US" smtClean="0">
                <a:latin typeface="Lilita One"/>
              </a:rPr>
              <a:t>Click to edit Master text styles</a:t>
            </a:r>
          </a:p>
          <a:p>
            <a:pPr lvl="1"/>
            <a:r>
              <a:rPr lang="en-US" smtClean="0">
                <a:latin typeface="Lilita One"/>
              </a:rPr>
              <a:t>Second level</a:t>
            </a:r>
          </a:p>
          <a:p>
            <a:pPr lvl="2"/>
            <a:r>
              <a:rPr lang="en-US" smtClean="0">
                <a:latin typeface="Lilita One"/>
              </a:rPr>
              <a:t>Third level</a:t>
            </a:r>
          </a:p>
          <a:p>
            <a:pPr lvl="3"/>
            <a:r>
              <a:rPr lang="en-US" smtClean="0">
                <a:latin typeface="Lilita One"/>
              </a:rPr>
              <a:t>Fourth level</a:t>
            </a:r>
          </a:p>
          <a:p>
            <a:pPr lvl="4"/>
            <a:r>
              <a:rPr lang="en-US" smtClean="0">
                <a:latin typeface="Lilita One"/>
              </a:rPr>
              <a:t>Fifth level</a:t>
            </a:r>
            <a:endParaRPr lang="en-US">
              <a:latin typeface="Lilita One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Lilita One"/>
              </a:rPr>
              <a:pPr/>
              <a:t>8/1/2011</a:t>
            </a:fld>
            <a:endParaRPr lang="en-US">
              <a:latin typeface="Lilita One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Lilita One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Lilita One"/>
              </a:rPr>
              <a:pPr/>
              <a:t>‹#›</a:t>
            </a:fld>
            <a:endParaRPr lang="en-US">
              <a:latin typeface="Lilita On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Lilita One"/>
              </a:defRPr>
            </a:lvl1pPr>
          </a:lstStyle>
          <a:p>
            <a:r>
              <a:rPr lang="en-US" smtClean="0">
                <a:latin typeface="Lilita One"/>
              </a:rPr>
              <a:t>Click to edit Master title style</a:t>
            </a:r>
            <a:endParaRPr lang="en-US">
              <a:latin typeface="Lilita One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Lilita One"/>
              </a:defRPr>
            </a:lvl1pPr>
            <a:lvl2pPr marL="457200" indent="0">
              <a:buNone/>
              <a:defRPr sz="2000" b="1">
                <a:latin typeface="Lilita One"/>
              </a:defRPr>
            </a:lvl2pPr>
            <a:lvl3pPr marL="914400" indent="0">
              <a:buNone/>
              <a:defRPr sz="1800" b="1">
                <a:latin typeface="Lilita One"/>
              </a:defRPr>
            </a:lvl3pPr>
            <a:lvl4pPr marL="1371600" indent="0">
              <a:buNone/>
              <a:defRPr sz="1600" b="1">
                <a:latin typeface="Lilita One"/>
              </a:defRPr>
            </a:lvl4pPr>
            <a:lvl5pPr marL="1828800" indent="0">
              <a:buNone/>
              <a:defRPr sz="1600" b="1">
                <a:latin typeface="Lilita One"/>
              </a:defRPr>
            </a:lvl5pPr>
            <a:lvl6pPr marL="2286000" indent="0">
              <a:buNone/>
              <a:defRPr sz="1600" b="1">
                <a:latin typeface="Lilita One"/>
              </a:defRPr>
            </a:lvl6pPr>
            <a:lvl7pPr marL="2743200" indent="0">
              <a:buNone/>
              <a:defRPr sz="1600" b="1">
                <a:latin typeface="Lilita One"/>
              </a:defRPr>
            </a:lvl7pPr>
            <a:lvl8pPr marL="3200400" indent="0">
              <a:buNone/>
              <a:defRPr sz="1600" b="1">
                <a:latin typeface="Lilita One"/>
              </a:defRPr>
            </a:lvl8pPr>
            <a:lvl9pPr marL="3657600" indent="0">
              <a:buNone/>
              <a:defRPr sz="1600" b="1">
                <a:latin typeface="Lilita One"/>
              </a:defRPr>
            </a:lvl9pPr>
          </a:lstStyle>
          <a:p>
            <a:pPr lvl="0"/>
            <a:r>
              <a:rPr lang="en-US" smtClean="0">
                <a:latin typeface="Lilita One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Lilita One"/>
              </a:defRPr>
            </a:lvl1pPr>
            <a:lvl2pPr>
              <a:defRPr sz="2000">
                <a:latin typeface="Lilita One"/>
              </a:defRPr>
            </a:lvl2pPr>
            <a:lvl3pPr>
              <a:defRPr sz="1800">
                <a:latin typeface="Lilita One"/>
              </a:defRPr>
            </a:lvl3pPr>
            <a:lvl4pPr>
              <a:defRPr sz="1600">
                <a:latin typeface="Lilita One"/>
              </a:defRPr>
            </a:lvl4pPr>
            <a:lvl5pPr>
              <a:defRPr sz="1600">
                <a:latin typeface="Lilita One"/>
              </a:defRPr>
            </a:lvl5pPr>
            <a:lvl6pPr>
              <a:defRPr sz="1600">
                <a:latin typeface="Lilita One"/>
              </a:defRPr>
            </a:lvl6pPr>
            <a:lvl7pPr>
              <a:defRPr sz="1600">
                <a:latin typeface="Lilita One"/>
              </a:defRPr>
            </a:lvl7pPr>
            <a:lvl8pPr>
              <a:defRPr sz="1600">
                <a:latin typeface="Lilita One"/>
              </a:defRPr>
            </a:lvl8pPr>
            <a:lvl9pPr>
              <a:defRPr sz="1600">
                <a:latin typeface="Lilita One"/>
              </a:defRPr>
            </a:lvl9pPr>
          </a:lstStyle>
          <a:p>
            <a:pPr lvl="0"/>
            <a:r>
              <a:rPr lang="en-US" smtClean="0">
                <a:latin typeface="Lilita One"/>
              </a:rPr>
              <a:t>Click to edit Master text styles</a:t>
            </a:r>
          </a:p>
          <a:p>
            <a:pPr lvl="1"/>
            <a:r>
              <a:rPr lang="en-US" smtClean="0">
                <a:latin typeface="Lilita One"/>
              </a:rPr>
              <a:t>Second level</a:t>
            </a:r>
          </a:p>
          <a:p>
            <a:pPr lvl="2"/>
            <a:r>
              <a:rPr lang="en-US" smtClean="0">
                <a:latin typeface="Lilita One"/>
              </a:rPr>
              <a:t>Third level</a:t>
            </a:r>
          </a:p>
          <a:p>
            <a:pPr lvl="3"/>
            <a:r>
              <a:rPr lang="en-US" smtClean="0">
                <a:latin typeface="Lilita One"/>
              </a:rPr>
              <a:t>Fourth level</a:t>
            </a:r>
          </a:p>
          <a:p>
            <a:pPr lvl="4"/>
            <a:r>
              <a:rPr lang="en-US" smtClean="0">
                <a:latin typeface="Lilita One"/>
              </a:rPr>
              <a:t>Fifth level</a:t>
            </a:r>
            <a:endParaRPr lang="en-US">
              <a:latin typeface="Lilita One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Lilita One"/>
              </a:defRPr>
            </a:lvl1pPr>
            <a:lvl2pPr marL="457200" indent="0">
              <a:buNone/>
              <a:defRPr sz="2000" b="1">
                <a:latin typeface="Lilita One"/>
              </a:defRPr>
            </a:lvl2pPr>
            <a:lvl3pPr marL="914400" indent="0">
              <a:buNone/>
              <a:defRPr sz="1800" b="1">
                <a:latin typeface="Lilita One"/>
              </a:defRPr>
            </a:lvl3pPr>
            <a:lvl4pPr marL="1371600" indent="0">
              <a:buNone/>
              <a:defRPr sz="1600" b="1">
                <a:latin typeface="Lilita One"/>
              </a:defRPr>
            </a:lvl4pPr>
            <a:lvl5pPr marL="1828800" indent="0">
              <a:buNone/>
              <a:defRPr sz="1600" b="1">
                <a:latin typeface="Lilita One"/>
              </a:defRPr>
            </a:lvl5pPr>
            <a:lvl6pPr marL="2286000" indent="0">
              <a:buNone/>
              <a:defRPr sz="1600" b="1">
                <a:latin typeface="Lilita One"/>
              </a:defRPr>
            </a:lvl6pPr>
            <a:lvl7pPr marL="2743200" indent="0">
              <a:buNone/>
              <a:defRPr sz="1600" b="1">
                <a:latin typeface="Lilita One"/>
              </a:defRPr>
            </a:lvl7pPr>
            <a:lvl8pPr marL="3200400" indent="0">
              <a:buNone/>
              <a:defRPr sz="1600" b="1">
                <a:latin typeface="Lilita One"/>
              </a:defRPr>
            </a:lvl8pPr>
            <a:lvl9pPr marL="3657600" indent="0">
              <a:buNone/>
              <a:defRPr sz="1600" b="1">
                <a:latin typeface="Lilita One"/>
              </a:defRPr>
            </a:lvl9pPr>
          </a:lstStyle>
          <a:p>
            <a:pPr lvl="0"/>
            <a:r>
              <a:rPr lang="en-US" smtClean="0">
                <a:latin typeface="Lilita One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Lilita One"/>
              </a:defRPr>
            </a:lvl1pPr>
            <a:lvl2pPr>
              <a:defRPr sz="2000">
                <a:latin typeface="Lilita One"/>
              </a:defRPr>
            </a:lvl2pPr>
            <a:lvl3pPr>
              <a:defRPr sz="1800">
                <a:latin typeface="Lilita One"/>
              </a:defRPr>
            </a:lvl3pPr>
            <a:lvl4pPr>
              <a:defRPr sz="1600">
                <a:latin typeface="Lilita One"/>
              </a:defRPr>
            </a:lvl4pPr>
            <a:lvl5pPr>
              <a:defRPr sz="1600">
                <a:latin typeface="Lilita One"/>
              </a:defRPr>
            </a:lvl5pPr>
            <a:lvl6pPr>
              <a:defRPr sz="1600">
                <a:latin typeface="Lilita One"/>
              </a:defRPr>
            </a:lvl6pPr>
            <a:lvl7pPr>
              <a:defRPr sz="1600">
                <a:latin typeface="Lilita One"/>
              </a:defRPr>
            </a:lvl7pPr>
            <a:lvl8pPr>
              <a:defRPr sz="1600">
                <a:latin typeface="Lilita One"/>
              </a:defRPr>
            </a:lvl8pPr>
            <a:lvl9pPr>
              <a:defRPr sz="1600">
                <a:latin typeface="Lilita One"/>
              </a:defRPr>
            </a:lvl9pPr>
          </a:lstStyle>
          <a:p>
            <a:pPr lvl="0"/>
            <a:r>
              <a:rPr lang="en-US" smtClean="0">
                <a:latin typeface="Lilita One"/>
              </a:rPr>
              <a:t>Click to edit Master text styles</a:t>
            </a:r>
          </a:p>
          <a:p>
            <a:pPr lvl="1"/>
            <a:r>
              <a:rPr lang="en-US" smtClean="0">
                <a:latin typeface="Lilita One"/>
              </a:rPr>
              <a:t>Second level</a:t>
            </a:r>
          </a:p>
          <a:p>
            <a:pPr lvl="2"/>
            <a:r>
              <a:rPr lang="en-US" smtClean="0">
                <a:latin typeface="Lilita One"/>
              </a:rPr>
              <a:t>Third level</a:t>
            </a:r>
          </a:p>
          <a:p>
            <a:pPr lvl="3"/>
            <a:r>
              <a:rPr lang="en-US" smtClean="0">
                <a:latin typeface="Lilita One"/>
              </a:rPr>
              <a:t>Fourth level</a:t>
            </a:r>
          </a:p>
          <a:p>
            <a:pPr lvl="4"/>
            <a:r>
              <a:rPr lang="en-US" smtClean="0">
                <a:latin typeface="Lilita One"/>
              </a:rPr>
              <a:t>Fifth level</a:t>
            </a:r>
            <a:endParaRPr lang="en-US">
              <a:latin typeface="Lilita One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Lilita One"/>
              </a:rPr>
              <a:pPr/>
              <a:t>8/1/2011</a:t>
            </a:fld>
            <a:endParaRPr lang="en-US">
              <a:latin typeface="Lilita One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Lilita One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Lilita One"/>
              </a:rPr>
              <a:pPr/>
              <a:t>‹#›</a:t>
            </a:fld>
            <a:endParaRPr lang="en-US">
              <a:latin typeface="Lilita On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Lilita One"/>
              </a:rPr>
              <a:t>Click to edit Master title style</a:t>
            </a:r>
            <a:endParaRPr lang="en-US">
              <a:latin typeface="Lilita One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Lilita One"/>
              </a:rPr>
              <a:pPr/>
              <a:t>8/1/2011</a:t>
            </a:fld>
            <a:endParaRPr lang="en-US">
              <a:latin typeface="Lilita One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Lilita One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Lilita One"/>
              </a:rPr>
              <a:pPr/>
              <a:t>‹#›</a:t>
            </a:fld>
            <a:endParaRPr lang="en-US">
              <a:latin typeface="Lilita On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Lilita One"/>
              </a:rPr>
              <a:pPr/>
              <a:t>8/1/2011</a:t>
            </a:fld>
            <a:endParaRPr lang="en-US">
              <a:latin typeface="Lilita One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Lilita O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Lilita One"/>
              </a:rPr>
              <a:pPr/>
              <a:t>‹#›</a:t>
            </a:fld>
            <a:endParaRPr lang="en-US">
              <a:latin typeface="Lilita On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Lilita One"/>
              </a:defRPr>
            </a:lvl1pPr>
          </a:lstStyle>
          <a:p>
            <a:r>
              <a:rPr lang="en-US" smtClean="0">
                <a:latin typeface="Lilita One"/>
              </a:rPr>
              <a:t>Click to edit Master title style</a:t>
            </a:r>
            <a:endParaRPr lang="en-US">
              <a:latin typeface="Lilita One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Lilita One"/>
              </a:defRPr>
            </a:lvl1pPr>
            <a:lvl2pPr>
              <a:defRPr sz="2800">
                <a:latin typeface="Lilita One"/>
              </a:defRPr>
            </a:lvl2pPr>
            <a:lvl3pPr>
              <a:defRPr sz="2400">
                <a:latin typeface="Lilita One"/>
              </a:defRPr>
            </a:lvl3pPr>
            <a:lvl4pPr>
              <a:defRPr sz="2000">
                <a:latin typeface="Lilita One"/>
              </a:defRPr>
            </a:lvl4pPr>
            <a:lvl5pPr>
              <a:defRPr sz="2000">
                <a:latin typeface="Lilita One"/>
              </a:defRPr>
            </a:lvl5pPr>
            <a:lvl6pPr>
              <a:defRPr sz="2000">
                <a:latin typeface="Lilita One"/>
              </a:defRPr>
            </a:lvl6pPr>
            <a:lvl7pPr>
              <a:defRPr sz="2000">
                <a:latin typeface="Lilita One"/>
              </a:defRPr>
            </a:lvl7pPr>
            <a:lvl8pPr>
              <a:defRPr sz="2000">
                <a:latin typeface="Lilita One"/>
              </a:defRPr>
            </a:lvl8pPr>
            <a:lvl9pPr>
              <a:defRPr sz="2000">
                <a:latin typeface="Lilita One"/>
              </a:defRPr>
            </a:lvl9pPr>
          </a:lstStyle>
          <a:p>
            <a:pPr lvl="0"/>
            <a:r>
              <a:rPr lang="en-US" smtClean="0">
                <a:latin typeface="Lilita One"/>
              </a:rPr>
              <a:t>Click to edit Master text styles</a:t>
            </a:r>
          </a:p>
          <a:p>
            <a:pPr lvl="1"/>
            <a:r>
              <a:rPr lang="en-US" smtClean="0">
                <a:latin typeface="Lilita One"/>
              </a:rPr>
              <a:t>Second level</a:t>
            </a:r>
          </a:p>
          <a:p>
            <a:pPr lvl="2"/>
            <a:r>
              <a:rPr lang="en-US" smtClean="0">
                <a:latin typeface="Lilita One"/>
              </a:rPr>
              <a:t>Third level</a:t>
            </a:r>
          </a:p>
          <a:p>
            <a:pPr lvl="3"/>
            <a:r>
              <a:rPr lang="en-US" smtClean="0">
                <a:latin typeface="Lilita One"/>
              </a:rPr>
              <a:t>Fourth level</a:t>
            </a:r>
          </a:p>
          <a:p>
            <a:pPr lvl="4"/>
            <a:r>
              <a:rPr lang="en-US" smtClean="0">
                <a:latin typeface="Lilita One"/>
              </a:rPr>
              <a:t>Fifth level</a:t>
            </a:r>
            <a:endParaRPr lang="en-US">
              <a:latin typeface="Lilita One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Lilita One"/>
              </a:defRPr>
            </a:lvl1pPr>
            <a:lvl2pPr marL="457200" indent="0">
              <a:buNone/>
              <a:defRPr sz="1200">
                <a:latin typeface="Lilita One"/>
              </a:defRPr>
            </a:lvl2pPr>
            <a:lvl3pPr marL="914400" indent="0">
              <a:buNone/>
              <a:defRPr sz="1000">
                <a:latin typeface="Lilita One"/>
              </a:defRPr>
            </a:lvl3pPr>
            <a:lvl4pPr marL="1371600" indent="0">
              <a:buNone/>
              <a:defRPr sz="900">
                <a:latin typeface="Lilita One"/>
              </a:defRPr>
            </a:lvl4pPr>
            <a:lvl5pPr marL="1828800" indent="0">
              <a:buNone/>
              <a:defRPr sz="900">
                <a:latin typeface="Lilita One"/>
              </a:defRPr>
            </a:lvl5pPr>
            <a:lvl6pPr marL="2286000" indent="0">
              <a:buNone/>
              <a:defRPr sz="900">
                <a:latin typeface="Lilita One"/>
              </a:defRPr>
            </a:lvl6pPr>
            <a:lvl7pPr marL="2743200" indent="0">
              <a:buNone/>
              <a:defRPr sz="900">
                <a:latin typeface="Lilita One"/>
              </a:defRPr>
            </a:lvl7pPr>
            <a:lvl8pPr marL="3200400" indent="0">
              <a:buNone/>
              <a:defRPr sz="900">
                <a:latin typeface="Lilita One"/>
              </a:defRPr>
            </a:lvl8pPr>
            <a:lvl9pPr marL="3657600" indent="0">
              <a:buNone/>
              <a:defRPr sz="900">
                <a:latin typeface="Lilita One"/>
              </a:defRPr>
            </a:lvl9pPr>
          </a:lstStyle>
          <a:p>
            <a:pPr lvl="0"/>
            <a:r>
              <a:rPr lang="en-US" smtClean="0">
                <a:latin typeface="Lilita One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Lilita One"/>
              </a:rPr>
              <a:pPr/>
              <a:t>8/1/2011</a:t>
            </a:fld>
            <a:endParaRPr lang="en-US">
              <a:latin typeface="Lilita One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Lilita One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Lilita One"/>
              </a:rPr>
              <a:pPr/>
              <a:t>‹#›</a:t>
            </a:fld>
            <a:endParaRPr lang="en-US">
              <a:latin typeface="Lilita On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Lilita One"/>
              </a:defRPr>
            </a:lvl1pPr>
          </a:lstStyle>
          <a:p>
            <a:r>
              <a:rPr lang="en-US" smtClean="0">
                <a:latin typeface="Lilita One"/>
              </a:rPr>
              <a:t>Click to edit Master title style</a:t>
            </a:r>
            <a:endParaRPr lang="en-US">
              <a:latin typeface="Lilita One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Lilita One"/>
              </a:defRPr>
            </a:lvl1pPr>
            <a:lvl2pPr marL="457200" indent="0">
              <a:buNone/>
              <a:defRPr sz="2800">
                <a:latin typeface="Lilita One"/>
              </a:defRPr>
            </a:lvl2pPr>
            <a:lvl3pPr marL="914400" indent="0">
              <a:buNone/>
              <a:defRPr sz="2400">
                <a:latin typeface="Lilita One"/>
              </a:defRPr>
            </a:lvl3pPr>
            <a:lvl4pPr marL="1371600" indent="0">
              <a:buNone/>
              <a:defRPr sz="2000">
                <a:latin typeface="Lilita One"/>
              </a:defRPr>
            </a:lvl4pPr>
            <a:lvl5pPr marL="1828800" indent="0">
              <a:buNone/>
              <a:defRPr sz="2000">
                <a:latin typeface="Lilita One"/>
              </a:defRPr>
            </a:lvl5pPr>
            <a:lvl6pPr marL="2286000" indent="0">
              <a:buNone/>
              <a:defRPr sz="2000">
                <a:latin typeface="Lilita One"/>
              </a:defRPr>
            </a:lvl6pPr>
            <a:lvl7pPr marL="2743200" indent="0">
              <a:buNone/>
              <a:defRPr sz="2000">
                <a:latin typeface="Lilita One"/>
              </a:defRPr>
            </a:lvl7pPr>
            <a:lvl8pPr marL="3200400" indent="0">
              <a:buNone/>
              <a:defRPr sz="2000">
                <a:latin typeface="Lilita One"/>
              </a:defRPr>
            </a:lvl8pPr>
            <a:lvl9pPr marL="3657600" indent="0">
              <a:buNone/>
              <a:defRPr sz="2000">
                <a:latin typeface="Lilita One"/>
              </a:defRPr>
            </a:lvl9pPr>
          </a:lstStyle>
          <a:p>
            <a:endParaRPr lang="en-US">
              <a:latin typeface="Lilita One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Lilita One"/>
              </a:defRPr>
            </a:lvl1pPr>
            <a:lvl2pPr marL="457200" indent="0">
              <a:buNone/>
              <a:defRPr sz="1200">
                <a:latin typeface="Lilita One"/>
              </a:defRPr>
            </a:lvl2pPr>
            <a:lvl3pPr marL="914400" indent="0">
              <a:buNone/>
              <a:defRPr sz="1000">
                <a:latin typeface="Lilita One"/>
              </a:defRPr>
            </a:lvl3pPr>
            <a:lvl4pPr marL="1371600" indent="0">
              <a:buNone/>
              <a:defRPr sz="900">
                <a:latin typeface="Lilita One"/>
              </a:defRPr>
            </a:lvl4pPr>
            <a:lvl5pPr marL="1828800" indent="0">
              <a:buNone/>
              <a:defRPr sz="900">
                <a:latin typeface="Lilita One"/>
              </a:defRPr>
            </a:lvl5pPr>
            <a:lvl6pPr marL="2286000" indent="0">
              <a:buNone/>
              <a:defRPr sz="900">
                <a:latin typeface="Lilita One"/>
              </a:defRPr>
            </a:lvl6pPr>
            <a:lvl7pPr marL="2743200" indent="0">
              <a:buNone/>
              <a:defRPr sz="900">
                <a:latin typeface="Lilita One"/>
              </a:defRPr>
            </a:lvl7pPr>
            <a:lvl8pPr marL="3200400" indent="0">
              <a:buNone/>
              <a:defRPr sz="900">
                <a:latin typeface="Lilita One"/>
              </a:defRPr>
            </a:lvl8pPr>
            <a:lvl9pPr marL="3657600" indent="0">
              <a:buNone/>
              <a:defRPr sz="900">
                <a:latin typeface="Lilita One"/>
              </a:defRPr>
            </a:lvl9pPr>
          </a:lstStyle>
          <a:p>
            <a:pPr lvl="0"/>
            <a:r>
              <a:rPr lang="en-US" smtClean="0">
                <a:latin typeface="Lilita One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Lilita One"/>
              </a:rPr>
              <a:pPr/>
              <a:t>8/1/2011</a:t>
            </a:fld>
            <a:endParaRPr lang="en-US">
              <a:latin typeface="Lilita One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Lilita One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Lilita One"/>
              </a:rPr>
              <a:pPr/>
              <a:t>‹#›</a:t>
            </a:fld>
            <a:endParaRPr lang="en-US">
              <a:latin typeface="Lilita One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Lilita One"/>
              </a:rPr>
              <a:t>Click to edit Master title style</a:t>
            </a:r>
            <a:endParaRPr lang="en-US">
              <a:latin typeface="Lilita One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latin typeface="Lilita One"/>
              </a:rPr>
              <a:t>Click to edit Master text styles</a:t>
            </a:r>
          </a:p>
          <a:p>
            <a:pPr lvl="1"/>
            <a:r>
              <a:rPr lang="en-US" smtClean="0">
                <a:latin typeface="Lilita One"/>
              </a:rPr>
              <a:t>Second level</a:t>
            </a:r>
          </a:p>
          <a:p>
            <a:pPr lvl="2"/>
            <a:r>
              <a:rPr lang="en-US" smtClean="0">
                <a:latin typeface="Lilita One"/>
              </a:rPr>
              <a:t>Third level</a:t>
            </a:r>
          </a:p>
          <a:p>
            <a:pPr lvl="3"/>
            <a:r>
              <a:rPr lang="en-US" smtClean="0">
                <a:latin typeface="Lilita One"/>
              </a:rPr>
              <a:t>Fourth level</a:t>
            </a:r>
          </a:p>
          <a:p>
            <a:pPr lvl="4"/>
            <a:r>
              <a:rPr lang="en-US" smtClean="0">
                <a:latin typeface="Lilita One"/>
              </a:rPr>
              <a:t>Fifth level</a:t>
            </a:r>
            <a:endParaRPr lang="en-US">
              <a:latin typeface="Lilita One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Lilita One"/>
              </a:rPr>
              <a:pPr/>
              <a:t>8/1/2011</a:t>
            </a:fld>
            <a:endParaRPr lang="en-US">
              <a:latin typeface="Lilita One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Lilita One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Lilita One"/>
              </a:rPr>
              <a:pPr/>
              <a:t>‹#›</a:t>
            </a:fld>
            <a:endParaRPr lang="en-US">
              <a:latin typeface="Lilita One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latin typeface="Lilita One"/>
              </a:rPr>
              <a:t>Click to edit Master title style</a:t>
            </a:r>
            <a:endParaRPr lang="en-US">
              <a:latin typeface="Lilita One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latin typeface="Lilita One"/>
              </a:rPr>
              <a:t>Click to edit Master text styles</a:t>
            </a:r>
          </a:p>
          <a:p>
            <a:pPr lvl="1"/>
            <a:r>
              <a:rPr lang="en-US" smtClean="0">
                <a:latin typeface="Lilita One"/>
              </a:rPr>
              <a:t>Second level</a:t>
            </a:r>
          </a:p>
          <a:p>
            <a:pPr lvl="2"/>
            <a:r>
              <a:rPr lang="en-US" smtClean="0">
                <a:latin typeface="Lilita One"/>
              </a:rPr>
              <a:t>Third level</a:t>
            </a:r>
          </a:p>
          <a:p>
            <a:pPr lvl="3"/>
            <a:r>
              <a:rPr lang="en-US" smtClean="0">
                <a:latin typeface="Lilita One"/>
              </a:rPr>
              <a:t>Fourth level</a:t>
            </a:r>
          </a:p>
          <a:p>
            <a:pPr lvl="4"/>
            <a:r>
              <a:rPr lang="en-US" smtClean="0">
                <a:latin typeface="Lilita One"/>
              </a:rPr>
              <a:t>Fifth level</a:t>
            </a:r>
            <a:endParaRPr lang="en-US">
              <a:latin typeface="Lilita One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latin typeface="Lilita One"/>
              </a:rPr>
              <a:pPr/>
              <a:t>8/1/2011</a:t>
            </a:fld>
            <a:endParaRPr lang="en-US">
              <a:latin typeface="Lilita One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Lilita One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Lilita One"/>
              </a:rPr>
              <a:pPr/>
              <a:t>‹#›</a:t>
            </a:fld>
            <a:endParaRPr lang="en-US">
              <a:latin typeface="Lilita One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latin typeface="Lilita One"/>
              </a:rPr>
              <a:t>Click to edit Master title style</a:t>
            </a:r>
            <a:endParaRPr lang="en-US">
              <a:latin typeface="Lilita One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latin typeface="Lilita One"/>
              </a:rPr>
              <a:t>Click to edit Master text styles</a:t>
            </a:r>
          </a:p>
          <a:p>
            <a:pPr lvl="1"/>
            <a:r>
              <a:rPr lang="en-US" smtClean="0">
                <a:latin typeface="Lilita One"/>
              </a:rPr>
              <a:t>Second level</a:t>
            </a:r>
          </a:p>
          <a:p>
            <a:pPr lvl="2"/>
            <a:r>
              <a:rPr lang="en-US" smtClean="0">
                <a:latin typeface="Lilita One"/>
              </a:rPr>
              <a:t>Third level</a:t>
            </a:r>
          </a:p>
          <a:p>
            <a:pPr lvl="3"/>
            <a:r>
              <a:rPr lang="en-US" smtClean="0">
                <a:latin typeface="Lilita One"/>
              </a:rPr>
              <a:t>Fourth level</a:t>
            </a:r>
          </a:p>
          <a:p>
            <a:pPr lvl="4"/>
            <a:r>
              <a:rPr lang="en-US" smtClean="0">
                <a:latin typeface="Lilita One"/>
              </a:rPr>
              <a:t>Fifth level</a:t>
            </a:r>
            <a:endParaRPr lang="en-US">
              <a:latin typeface="Lilita One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Lilita One"/>
              </a:defRPr>
            </a:lvl1pPr>
          </a:lstStyle>
          <a:p>
            <a:fld id="{1D8BD707-D9CF-40AE-B4C6-C98DA3205C09}" type="datetimeFigureOut">
              <a:rPr lang="en-US" smtClean="0">
                <a:latin typeface="Lilita One"/>
              </a:rPr>
              <a:pPr/>
              <a:t>8/1/2011</a:t>
            </a:fld>
            <a:endParaRPr lang="en-US">
              <a:latin typeface="Lilita One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Lilita One"/>
              </a:defRPr>
            </a:lvl1pPr>
          </a:lstStyle>
          <a:p>
            <a:endParaRPr lang="en-US">
              <a:latin typeface="Lilita One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Lilita One"/>
              </a:defRPr>
            </a:lvl1pPr>
          </a:lstStyle>
          <a:p>
            <a:fld id="{B6F15528-21DE-4FAA-801E-634DDDAF4B2B}" type="slidenum">
              <a:rPr lang="en-US" smtClean="0">
                <a:latin typeface="Lilita One"/>
              </a:rPr>
              <a:pPr/>
              <a:t>‹#›</a:t>
            </a:fld>
            <a:endParaRPr lang="en-US">
              <a:latin typeface="Lilita One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Lilita One"/>
          <a:ea typeface="Lilita One"/>
          <a:cs typeface="Lilita One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Lilita One" pitchFamily="34" charset="0"/>
        <a:buChar char="•"/>
        <a:defRPr sz="3200" kern="1200">
          <a:solidFill>
            <a:schemeClr val="tx1"/>
          </a:solidFill>
          <a:latin typeface="Lilita One"/>
          <a:ea typeface="Lilita One"/>
          <a:cs typeface="Lilita One"/>
        </a:defRPr>
      </a:lvl1pPr>
      <a:lvl2pPr marL="742950" indent="-285750" algn="l" defTabSz="914400" rtl="0" eaLnBrk="1" latinLnBrk="0" hangingPunct="1">
        <a:spcBef>
          <a:spcPct val="20000"/>
        </a:spcBef>
        <a:buFont typeface="Lilita One" pitchFamily="34" charset="0"/>
        <a:buChar char="–"/>
        <a:defRPr sz="2800" kern="1200">
          <a:solidFill>
            <a:schemeClr val="tx1"/>
          </a:solidFill>
          <a:latin typeface="Lilita One"/>
          <a:ea typeface="Lilita One"/>
          <a:cs typeface="Lilita One"/>
        </a:defRPr>
      </a:lvl2pPr>
      <a:lvl3pPr marL="1143000" indent="-228600" algn="l" defTabSz="914400" rtl="0" eaLnBrk="1" latinLnBrk="0" hangingPunct="1">
        <a:spcBef>
          <a:spcPct val="20000"/>
        </a:spcBef>
        <a:buFont typeface="Lilita One" pitchFamily="34" charset="0"/>
        <a:buChar char="•"/>
        <a:defRPr sz="2400" kern="1200">
          <a:solidFill>
            <a:schemeClr val="tx1"/>
          </a:solidFill>
          <a:latin typeface="Lilita One"/>
          <a:ea typeface="Lilita One"/>
          <a:cs typeface="Lilita One"/>
        </a:defRPr>
      </a:lvl3pPr>
      <a:lvl4pPr marL="1600200" indent="-228600" algn="l" defTabSz="914400" rtl="0" eaLnBrk="1" latinLnBrk="0" hangingPunct="1">
        <a:spcBef>
          <a:spcPct val="20000"/>
        </a:spcBef>
        <a:buFont typeface="Lilita One" pitchFamily="34" charset="0"/>
        <a:buChar char="–"/>
        <a:defRPr sz="2000" kern="1200">
          <a:solidFill>
            <a:schemeClr val="tx1"/>
          </a:solidFill>
          <a:latin typeface="Lilita One"/>
          <a:ea typeface="Lilita One"/>
          <a:cs typeface="Lilita One"/>
        </a:defRPr>
      </a:lvl4pPr>
      <a:lvl5pPr marL="2057400" indent="-228600" algn="l" defTabSz="914400" rtl="0" eaLnBrk="1" latinLnBrk="0" hangingPunct="1">
        <a:spcBef>
          <a:spcPct val="20000"/>
        </a:spcBef>
        <a:buFont typeface="Lilita One" pitchFamily="34" charset="0"/>
        <a:buChar char="»"/>
        <a:defRPr sz="2000" kern="1200">
          <a:solidFill>
            <a:schemeClr val="tx1"/>
          </a:solidFill>
          <a:latin typeface="Lilita One"/>
          <a:ea typeface="Lilita One"/>
          <a:cs typeface="Lilita One"/>
        </a:defRPr>
      </a:lvl5pPr>
      <a:lvl6pPr marL="2514600" indent="-228600" algn="l" defTabSz="914400" rtl="0" eaLnBrk="1" latinLnBrk="0" hangingPunct="1">
        <a:spcBef>
          <a:spcPct val="20000"/>
        </a:spcBef>
        <a:buFont typeface="Lilita One" pitchFamily="34" charset="0"/>
        <a:buChar char="•"/>
        <a:defRPr sz="2000" kern="1200">
          <a:solidFill>
            <a:schemeClr val="tx1"/>
          </a:solidFill>
          <a:latin typeface="Lilita One"/>
          <a:ea typeface="Lilita One"/>
          <a:cs typeface="Lilita One"/>
        </a:defRPr>
      </a:lvl6pPr>
      <a:lvl7pPr marL="2971800" indent="-228600" algn="l" defTabSz="914400" rtl="0" eaLnBrk="1" latinLnBrk="0" hangingPunct="1">
        <a:spcBef>
          <a:spcPct val="20000"/>
        </a:spcBef>
        <a:buFont typeface="Lilita One" pitchFamily="34" charset="0"/>
        <a:buChar char="•"/>
        <a:defRPr sz="2000" kern="1200">
          <a:solidFill>
            <a:schemeClr val="tx1"/>
          </a:solidFill>
          <a:latin typeface="Lilita One"/>
          <a:ea typeface="Lilita One"/>
          <a:cs typeface="Lilita One"/>
        </a:defRPr>
      </a:lvl7pPr>
      <a:lvl8pPr marL="3429000" indent="-228600" algn="l" defTabSz="914400" rtl="0" eaLnBrk="1" latinLnBrk="0" hangingPunct="1">
        <a:spcBef>
          <a:spcPct val="20000"/>
        </a:spcBef>
        <a:buFont typeface="Lilita One" pitchFamily="34" charset="0"/>
        <a:buChar char="•"/>
        <a:defRPr sz="2000" kern="1200">
          <a:solidFill>
            <a:schemeClr val="tx1"/>
          </a:solidFill>
          <a:latin typeface="Lilita One"/>
          <a:ea typeface="Lilita One"/>
          <a:cs typeface="Lilita One"/>
        </a:defRPr>
      </a:lvl8pPr>
      <a:lvl9pPr marL="3886200" indent="-228600" algn="l" defTabSz="914400" rtl="0" eaLnBrk="1" latinLnBrk="0" hangingPunct="1">
        <a:spcBef>
          <a:spcPct val="20000"/>
        </a:spcBef>
        <a:buFont typeface="Lilita One" pitchFamily="34" charset="0"/>
        <a:buChar char="•"/>
        <a:defRPr sz="2000" kern="1200">
          <a:solidFill>
            <a:schemeClr val="tx1"/>
          </a:solidFill>
          <a:latin typeface="Lilita One"/>
          <a:ea typeface="Lilita One"/>
          <a:cs typeface="Lilita One"/>
        </a:defRPr>
      </a:lvl9pPr>
    </p:bodyStyle>
    <p:otherStyle>
      <a:defPPr>
        <a:defRPr lang="en-US">
          <a:latin typeface="Lilita One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Lilita One"/>
          <a:ea typeface="Lilita One"/>
          <a:cs typeface="Lilita One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Lilita One"/>
          <a:ea typeface="Lilita One"/>
          <a:cs typeface="Lilita One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Lilita One"/>
          <a:ea typeface="Lilita One"/>
          <a:cs typeface="Lilita One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Lilita One"/>
          <a:ea typeface="Lilita One"/>
          <a:cs typeface="Lilita One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Lilita One"/>
          <a:ea typeface="Lilita One"/>
          <a:cs typeface="Lilita One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Lilita One"/>
          <a:ea typeface="Lilita One"/>
          <a:cs typeface="Lilita One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Lilita One"/>
          <a:ea typeface="Lilita One"/>
          <a:cs typeface="Lilita One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Lilita One"/>
          <a:ea typeface="Lilita One"/>
          <a:cs typeface="Lilita One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Lilita One"/>
          <a:ea typeface="Lilita One"/>
          <a:cs typeface="Lilita One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2" Type="http://schemas.openxmlformats.org/officeDocument/2006/relationships/image" Target="../media/image107.png"/><Relationship Id="rId23" Type="http://schemas.openxmlformats.org/officeDocument/2006/relationships/image" Target="../media/image108.png"/><Relationship Id="rId24" Type="http://schemas.openxmlformats.org/officeDocument/2006/relationships/image" Target="../media/image109.png"/><Relationship Id="rId25" Type="http://schemas.openxmlformats.org/officeDocument/2006/relationships/image" Target="../media/image110.png"/><Relationship Id="rId26" Type="http://schemas.openxmlformats.org/officeDocument/2006/relationships/image" Target="../media/image111.png"/><Relationship Id="rId27" Type="http://schemas.openxmlformats.org/officeDocument/2006/relationships/image" Target="../media/image112.png"/><Relationship Id="rId28" Type="http://schemas.openxmlformats.org/officeDocument/2006/relationships/image" Target="../media/image113.png"/><Relationship Id="rId29" Type="http://schemas.openxmlformats.org/officeDocument/2006/relationships/image" Target="../media/image114.png"/><Relationship Id="rId30" Type="http://schemas.openxmlformats.org/officeDocument/2006/relationships/image" Target="../media/image115.png"/><Relationship Id="rId31" Type="http://schemas.openxmlformats.org/officeDocument/2006/relationships/image" Target="../media/image116.png"/><Relationship Id="rId32" Type="http://schemas.openxmlformats.org/officeDocument/2006/relationships/image" Target="../media/image117.png"/><Relationship Id="rId33" Type="http://schemas.openxmlformats.org/officeDocument/2006/relationships/image" Target="../media/image118.png"/><Relationship Id="rId34" Type="http://schemas.openxmlformats.org/officeDocument/2006/relationships/image" Target="../media/image119.png"/><Relationship Id="rId35" Type="http://schemas.openxmlformats.org/officeDocument/2006/relationships/image" Target="../media/image1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.png"/><Relationship Id="rId55" Type="http://schemas.openxmlformats.org/officeDocument/2006/relationships/image" Target="../media/image107.png"/><Relationship Id="rId56" Type="http://schemas.openxmlformats.org/officeDocument/2006/relationships/image" Target="../media/image121.png"/><Relationship Id="rId57" Type="http://schemas.openxmlformats.org/officeDocument/2006/relationships/image" Target="../media/image122.png"/><Relationship Id="rId58" Type="http://schemas.openxmlformats.org/officeDocument/2006/relationships/image" Target="../media/image123.png"/><Relationship Id="rId59" Type="http://schemas.openxmlformats.org/officeDocument/2006/relationships/image" Target="../media/image124.png"/><Relationship Id="rId60" Type="http://schemas.openxmlformats.org/officeDocument/2006/relationships/image" Target="../media/image125.png"/><Relationship Id="rId61" Type="http://schemas.openxmlformats.org/officeDocument/2006/relationships/image" Target="../media/image113.png"/><Relationship Id="rId62" Type="http://schemas.openxmlformats.org/officeDocument/2006/relationships/image" Target="../media/image126.png"/><Relationship Id="rId63" Type="http://schemas.openxmlformats.org/officeDocument/2006/relationships/image" Target="../media/image127.png"/><Relationship Id="rId64" Type="http://schemas.openxmlformats.org/officeDocument/2006/relationships/image" Target="../media/image128.png"/><Relationship Id="rId65" Type="http://schemas.openxmlformats.org/officeDocument/2006/relationships/image" Target="../media/image129.png"/><Relationship Id="rId66" Type="http://schemas.openxmlformats.org/officeDocument/2006/relationships/image" Target="../media/image130.png"/><Relationship Id="rId67" Type="http://schemas.openxmlformats.org/officeDocument/2006/relationships/image" Target="../media/image131.png"/><Relationship Id="rId68" Type="http://schemas.openxmlformats.org/officeDocument/2006/relationships/image" Target="../media/image132.png"/><Relationship Id="rId69" Type="http://schemas.openxmlformats.org/officeDocument/2006/relationships/image" Target="../media/image13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23" Type="http://schemas.openxmlformats.org/officeDocument/2006/relationships/image" Target="../media/image107.png"/><Relationship Id="rId24" Type="http://schemas.openxmlformats.org/officeDocument/2006/relationships/image" Target="../media/image134.png"/><Relationship Id="rId25" Type="http://schemas.openxmlformats.org/officeDocument/2006/relationships/image" Target="../media/image135.png"/><Relationship Id="rId26" Type="http://schemas.openxmlformats.org/officeDocument/2006/relationships/image" Target="../media/image136.png"/><Relationship Id="rId27" Type="http://schemas.openxmlformats.org/officeDocument/2006/relationships/image" Target="../media/image112.png"/><Relationship Id="rId28" Type="http://schemas.openxmlformats.org/officeDocument/2006/relationships/image" Target="../media/image137.png"/><Relationship Id="rId29" Type="http://schemas.openxmlformats.org/officeDocument/2006/relationships/image" Target="../media/image138.png"/><Relationship Id="rId30" Type="http://schemas.openxmlformats.org/officeDocument/2006/relationships/image" Target="../media/image139.png"/><Relationship Id="rId31" Type="http://schemas.openxmlformats.org/officeDocument/2006/relationships/image" Target="../media/image14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20" Type="http://schemas.openxmlformats.org/officeDocument/2006/relationships/image" Target="../media/image141.png"/><Relationship Id="rId21" Type="http://schemas.openxmlformats.org/officeDocument/2006/relationships/image" Target="../media/image134.png"/><Relationship Id="rId22" Type="http://schemas.openxmlformats.org/officeDocument/2006/relationships/image" Target="../media/image137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15.png"/><Relationship Id="rId26" Type="http://schemas.openxmlformats.org/officeDocument/2006/relationships/image" Target="../media/image14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20" Type="http://schemas.openxmlformats.org/officeDocument/2006/relationships/image" Target="../media/image145.png"/><Relationship Id="rId21" Type="http://schemas.openxmlformats.org/officeDocument/2006/relationships/image" Target="../media/image146.png"/><Relationship Id="rId22" Type="http://schemas.openxmlformats.org/officeDocument/2006/relationships/hyperlink" Target="https://github.com/VedantBist/causalops" TargetMode="External"/><Relationship Id="rId23" Type="http://schemas.openxmlformats.org/officeDocument/2006/relationships/image" Target="../media/image147.png"/><Relationship Id="rId24" Type="http://schemas.openxmlformats.org/officeDocument/2006/relationships/image" Target="../media/image148.png"/><Relationship Id="rId25" Type="http://schemas.openxmlformats.org/officeDocument/2006/relationships/image" Target="../media/image149.png"/><Relationship Id="rId26" Type="http://schemas.openxmlformats.org/officeDocument/2006/relationships/image" Target="../media/image150.png"/><Relationship Id="rId27" Type="http://schemas.openxmlformats.org/officeDocument/2006/relationships/hyperlink" Target="https://schema.ocsf.io" TargetMode="External"/><Relationship Id="rId28" Type="http://schemas.openxmlformats.org/officeDocument/2006/relationships/hyperlink" Target="https://www.rfc-editor.org/rfc/rfc5424" TargetMode="External"/><Relationship Id="rId29" Type="http://schemas.openxmlformats.org/officeDocument/2006/relationships/hyperlink" Target="https://www.rfc-editor.org/rfc/rfc6587" TargetMode="External"/><Relationship Id="rId30" Type="http://schemas.openxmlformats.org/officeDocument/2006/relationships/hyperlink" Target="https://doi.org/10.1109/ICWS.2017.13" TargetMode="External"/><Relationship Id="rId31" Type="http://schemas.openxmlformats.org/officeDocument/2006/relationships/hyperlink" Target="https://github.com/SigmaHQ/sigma" TargetMode="External"/><Relationship Id="rId32" Type="http://schemas.openxmlformats.org/officeDocument/2006/relationships/hyperlink" Target="https://www.cert-in.org.in/Directions70B.jsp" TargetMode="External"/><Relationship Id="rId33" Type="http://schemas.openxmlformats.org/officeDocument/2006/relationships/hyperlink" Target="https://www.meity.gov.in" TargetMode="External"/><Relationship Id="rId34" Type="http://schemas.openxmlformats.org/officeDocument/2006/relationships/hyperlink" Target="https://attack.mitre.org/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2716" y="-758338"/>
            <a:ext cx="15544800" cy="3114675"/>
            <a:chOff x="0" y="0"/>
            <a:chExt cx="20726400" cy="4152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0726400" cy="416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1F497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SMART INDIA HACKATHON 2026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6313" y="1678584"/>
            <a:ext cx="13374150" cy="796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Lilita One"/>
              <a:buChar char="•"/>
            </a:pPr>
            <a:r>
              <a:rPr lang="en-US" sz="36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Problem Statement ID – </a:t>
            </a:r>
            <a:r>
              <a:rPr lang="en-US" sz="3600">
                <a:solidFill>
                  <a:srgbClr val="1F497D"/>
                </a:solidFill>
                <a:latin typeface="Lilita One"/>
                <a:ea typeface="Lilita One"/>
                <a:cs typeface="Lilita One"/>
                <a:sym typeface="Lilita One"/>
              </a:rPr>
              <a:t>SIH26156</a:t>
            </a:r>
          </a:p>
          <a:p>
            <a:pPr algn="l" marL="651510" indent="-325755" lvl="1">
              <a:lnSpc>
                <a:spcPts val="8640"/>
              </a:lnSpc>
              <a:buFont typeface="Lilita One"/>
              <a:buChar char="•"/>
            </a:pPr>
            <a:r>
              <a:rPr lang="en-US" sz="36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Problem Statement Title- </a:t>
            </a:r>
            <a:r>
              <a:rPr lang="en-US" sz="3600">
                <a:solidFill>
                  <a:srgbClr val="1F497D"/>
                </a:solidFill>
                <a:latin typeface="Lilita One"/>
                <a:ea typeface="Lilita One"/>
                <a:cs typeface="Lilita One"/>
                <a:sym typeface="Lilita One"/>
              </a:rPr>
              <a:t>Universal Log Pre-processing Framework</a:t>
            </a:r>
          </a:p>
          <a:p>
            <a:pPr algn="just" marL="651510" indent="-325755" lvl="1">
              <a:lnSpc>
                <a:spcPts val="8640"/>
              </a:lnSpc>
              <a:buFont typeface="Lilita One"/>
              <a:buChar char="•"/>
            </a:pPr>
            <a:r>
              <a:rPr lang="en-US" sz="36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Theme- </a:t>
            </a:r>
            <a:r>
              <a:rPr lang="en-US" sz="3600">
                <a:solidFill>
                  <a:srgbClr val="1F497D"/>
                </a:solidFill>
                <a:latin typeface="Lilita One"/>
                <a:ea typeface="Lilita One"/>
                <a:cs typeface="Lilita One"/>
                <a:sym typeface="Lilita One"/>
              </a:rPr>
              <a:t>Blockchain &amp; Cybersecurity</a:t>
            </a:r>
          </a:p>
          <a:p>
            <a:pPr algn="just" marL="651510" indent="-325755" lvl="1">
              <a:lnSpc>
                <a:spcPts val="8640"/>
              </a:lnSpc>
              <a:buFont typeface="Lilita One"/>
              <a:buChar char="•"/>
            </a:pPr>
            <a:r>
              <a:rPr lang="en-US" sz="36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PS Category- </a:t>
            </a:r>
            <a:r>
              <a:rPr lang="en-US" sz="3600">
                <a:solidFill>
                  <a:srgbClr val="1F497D"/>
                </a:solidFill>
                <a:latin typeface="Lilita One"/>
                <a:ea typeface="Lilita One"/>
                <a:cs typeface="Lilita One"/>
                <a:sym typeface="Lilita One"/>
              </a:rPr>
              <a:t>Software</a:t>
            </a:r>
          </a:p>
          <a:p>
            <a:pPr algn="just" marL="651510" indent="-325755" lvl="1">
              <a:lnSpc>
                <a:spcPts val="8640"/>
              </a:lnSpc>
              <a:buFont typeface="Lilita One"/>
              <a:buChar char="•"/>
            </a:pPr>
            <a:r>
              <a:rPr lang="en-US" sz="36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Team ID- </a:t>
            </a:r>
            <a:r>
              <a:rPr lang="en-US" sz="3600">
                <a:solidFill>
                  <a:srgbClr val="1F497D"/>
                </a:solidFill>
                <a:latin typeface="Lilita One"/>
                <a:ea typeface="Lilita One"/>
                <a:cs typeface="Lilita One"/>
                <a:sym typeface="Lilita One"/>
              </a:rPr>
              <a:t>124470</a:t>
            </a:r>
          </a:p>
          <a:p>
            <a:pPr algn="just" marL="651510" indent="-325755" lvl="1">
              <a:lnSpc>
                <a:spcPts val="8640"/>
              </a:lnSpc>
              <a:buFont typeface="Lilita One"/>
              <a:buChar char="•"/>
            </a:pPr>
            <a:r>
              <a:rPr lang="en-US" sz="36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Team Name - </a:t>
            </a:r>
            <a:r>
              <a:rPr lang="en-US" sz="3600">
                <a:solidFill>
                  <a:srgbClr val="1F497D"/>
                </a:solidFill>
                <a:latin typeface="Lilita One"/>
                <a:ea typeface="Lilita One"/>
                <a:cs typeface="Lilita One"/>
                <a:sym typeface="Lilita One"/>
              </a:rPr>
              <a:t>Code Bandits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700" y="116854"/>
            <a:ext cx="1695941" cy="1105703"/>
            <a:chOff x="0" y="0"/>
            <a:chExt cx="2554516" cy="1665468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554516" cy="166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sz="2400">
                  <a:solidFill>
                    <a:srgbClr val="000000"/>
                  </a:solidFill>
                  <a:latin typeface="Lilita One"/>
                  <a:ea typeface="Lilita One"/>
                  <a:cs typeface="Lilita One"/>
                  <a:sym typeface="Lilita One"/>
                </a:rPr>
                <a:t>CODE BANDITS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146836" y="1480442"/>
            <a:ext cx="6957908" cy="7732452"/>
            <a:chOff x="0" y="0"/>
            <a:chExt cx="9277210" cy="103099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77210" cy="10309936"/>
            </a:xfrm>
            <a:custGeom>
              <a:avLst/>
              <a:gdLst/>
              <a:ahLst/>
              <a:cxnLst/>
              <a:rect r="r" b="b" t="t" l="l"/>
              <a:pathLst>
                <a:path h="10309936" w="9277210">
                  <a:moveTo>
                    <a:pt x="0" y="0"/>
                  </a:moveTo>
                  <a:lnTo>
                    <a:pt x="9277210" y="0"/>
                  </a:lnTo>
                  <a:lnTo>
                    <a:pt x="9277210" y="10309936"/>
                  </a:lnTo>
                  <a:lnTo>
                    <a:pt x="0" y="10309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22" t="0" r="-22" b="0"/>
              </a:stretch>
            </a:blipFill>
          </p:spPr>
        </p:sp>
        <p:grpSp>
          <p:nvGrpSpPr>
            <p:cNvPr name="Group 15" id="15"/>
            <p:cNvGrpSpPr/>
            <p:nvPr/>
          </p:nvGrpSpPr>
          <p:grpSpPr>
            <a:xfrm rot="0">
              <a:off x="2438062" y="2917722"/>
              <a:ext cx="6551606" cy="7007110"/>
              <a:chOff x="0" y="0"/>
              <a:chExt cx="6407023" cy="685247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407023" cy="6852412"/>
              </a:xfrm>
              <a:custGeom>
                <a:avLst/>
                <a:gdLst/>
                <a:ahLst/>
                <a:cxnLst/>
                <a:rect r="r" b="b" t="t" l="l"/>
                <a:pathLst>
                  <a:path h="6852412" w="6407023">
                    <a:moveTo>
                      <a:pt x="0" y="0"/>
                    </a:moveTo>
                    <a:lnTo>
                      <a:pt x="6407023" y="0"/>
                    </a:lnTo>
                    <a:lnTo>
                      <a:pt x="6407023" y="6852412"/>
                    </a:lnTo>
                    <a:lnTo>
                      <a:pt x="0" y="685241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0" r="-149475" b="-1"/>
                </a:stretch>
              </a:blipFill>
            </p:spPr>
          </p:sp>
        </p:grpSp>
      </p:grpSp>
      <p:grpSp>
        <p:nvGrpSpPr>
          <p:cNvPr name="Group 11" id="11"/>
          <p:cNvGrpSpPr/>
          <p:nvPr/>
        </p:nvGrpSpPr>
        <p:grpSpPr>
          <a:xfrm rot="0">
            <a:off x="0" y="9953767"/>
            <a:ext cx="18288000" cy="333233"/>
            <a:chOff x="0" y="0"/>
            <a:chExt cx="24384000" cy="4443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4000" cy="444311"/>
            </a:xfrm>
            <a:custGeom>
              <a:avLst/>
              <a:gdLst/>
              <a:ahLst/>
              <a:cxnLst/>
              <a:rect r="r" b="b" t="t" l="l"/>
              <a:pathLst>
                <a:path h="44431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44311"/>
                  </a:lnTo>
                  <a:lnTo>
                    <a:pt x="0" y="444311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7952034" y="9891813"/>
            <a:ext cx="92869" cy="36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35547" y="0"/>
            <a:ext cx="2352453" cy="1110783"/>
            <a:chOff x="0" y="0"/>
            <a:chExt cx="4499699" cy="21246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700" y="116854"/>
            <a:ext cx="1695941" cy="1105703"/>
            <a:chOff x="0" y="0"/>
            <a:chExt cx="2554516" cy="1665468"/>
          </a:xfrm>
        </p:grpSpPr>
        <p:sp>
          <p:nvSpPr>
            <p:cNvPr name="Freeform 5" id="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554516" cy="166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sz="2400">
                  <a:solidFill>
                    <a:srgbClr val="000000"/>
                  </a:solidFill>
                  <a:latin typeface="Lilita One"/>
                  <a:ea typeface="Lilita One"/>
                  <a:cs typeface="Lilita One"/>
                  <a:sym typeface="Lilita One"/>
                </a:rPr>
                <a:t>CODE BANDITS</a:t>
              </a:r>
            </a:p>
          </p:txBody>
        </p:sp>
      </p:grpSp>
      <p:sp>
        <p:nvSpPr>
          <p:cNvPr id="100" name="Title"/>
          <p:cNvSpPr txBox="1"/>
          <p:nvPr/>
        </p:nvSpPr>
        <p:spPr>
          <a:xfrm>
            <a:off x="2103120" y="109728"/>
            <a:ext cx="13716000" cy="10515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0">
                <a:solidFill>
                  <a:srgbClr val="1F497D"/>
                </a:solidFill>
                <a:latin typeface="Lilita One"/>
                <a:ea typeface="Lilita One"/>
                <a:cs typeface="Lilita One"/>
                <a:sym typeface="Lilita One"/>
              </a:rPr>
              <a:t>SCHEMAOPS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0584" y="1271016"/>
            <a:ext cx="5897880" cy="658368"/>
          </a:xfrm>
          <a:prstGeom prst="roundRect">
            <a:avLst>
              <a:gd name="adj" fmla="val 12000"/>
            </a:avLst>
          </a:prstGeom>
          <a:solidFill>
            <a:srgbClr val="5CE1E6">
              <a:alpha val="30000"/>
            </a:srgbClr>
          </a:solidFill>
          <a:ln w="28575">
            <a:solidFill>
              <a:srgbClr val="000000">
                <a:alpha val="3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580643" y="1344168"/>
            <a:ext cx="4937760" cy="5120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80643" y="1344168"/>
            <a:ext cx="4937760" cy="5120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6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PROBLEM OVERVIEW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28016" y="2048256"/>
            <a:ext cx="5870448" cy="2779776"/>
          </a:xfrm>
          <a:prstGeom prst="roundRect">
            <a:avLst>
              <a:gd name="adj" fmla="val 6000"/>
            </a:avLst>
          </a:prstGeom>
          <a:solidFill>
            <a:srgbClr val="E2A9F1">
              <a:alpha val="50000"/>
            </a:srgbClr>
          </a:solidFill>
          <a:ln w="25400">
            <a:solidFill>
              <a:srgbClr val="000000">
                <a:alpha val="2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74320" y="2103120"/>
            <a:ext cx="56235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Security teams receive logs from firewalls, IDS, VPNs and servers, each in its own format:</a:t>
            </a:r>
          </a:p>
          <a:p>
            <a:pPr algn="l"/>
            <a:r>
              <a:rPr sz="1350">
                <a:solidFill>
                  <a:srgbClr val="FF6100"/>
                </a:solidFill>
                <a:latin typeface="Lilita One"/>
                <a:ea typeface="Lilita One"/>
                <a:cs typeface="Lilita One"/>
                <a:sym typeface="Lilita One"/>
              </a:rPr>
              <a:t>Syslog · CEF · LEEF · JSON · XML · CSV · key=value · text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74320" y="2880360"/>
            <a:ext cx="16002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7" name="Picture 106" descr="server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7472" y="3017520"/>
            <a:ext cx="384048" cy="38404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777240" y="2880360"/>
            <a:ext cx="10789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50">
                <a:solidFill>
                  <a:srgbClr val="001F40"/>
                </a:solidFill>
                <a:latin typeface="Lilita One"/>
                <a:ea typeface="Lilita One"/>
                <a:cs typeface="Lilita One"/>
                <a:sym typeface="Lilita One"/>
              </a:rPr>
              <a:t>Device logs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64592" y="3566160"/>
            <a:ext cx="1828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>
                <a:solidFill>
                  <a:srgbClr val="001F40"/>
                </a:solidFill>
                <a:latin typeface="Lilita One"/>
                <a:ea typeface="Lilita One"/>
                <a:cs typeface="Lilita One"/>
                <a:sym typeface="Lilita One"/>
              </a:rPr>
              <a:t>many vendors, formats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1892807" y="3209544"/>
            <a:ext cx="283465" cy="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/>
          <p:cNvSpPr/>
          <p:nvPr/>
        </p:nvSpPr>
        <p:spPr>
          <a:xfrm>
            <a:off x="2194560" y="2880360"/>
            <a:ext cx="16002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2" name="Picture 111" descr="cod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267712" y="3017520"/>
            <a:ext cx="384048" cy="384048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2697480" y="2880360"/>
            <a:ext cx="10789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50">
                <a:solidFill>
                  <a:srgbClr val="001F40"/>
                </a:solidFill>
                <a:latin typeface="Lilita One"/>
                <a:ea typeface="Lilita One"/>
                <a:cs typeface="Lilita One"/>
                <a:sym typeface="Lilita One"/>
              </a:rPr>
              <a:t>Hand-written parsers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084831" y="3566160"/>
            <a:ext cx="1828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>
                <a:solidFill>
                  <a:srgbClr val="001F40"/>
                </a:solidFill>
                <a:latin typeface="Lilita One"/>
                <a:ea typeface="Lilita One"/>
                <a:cs typeface="Lilita One"/>
                <a:sym typeface="Lilita One"/>
              </a:rPr>
              <a:t>break on firmware updates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3813048" y="3209544"/>
            <a:ext cx="283464" cy="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115"/>
          <p:cNvSpPr/>
          <p:nvPr/>
        </p:nvSpPr>
        <p:spPr>
          <a:xfrm>
            <a:off x="4114800" y="2880360"/>
            <a:ext cx="16002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7" name="Picture 116" descr="db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87952" y="3017520"/>
            <a:ext cx="384048" cy="384048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4617720" y="2880360"/>
            <a:ext cx="10789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50">
                <a:solidFill>
                  <a:srgbClr val="001F40"/>
                </a:solidFill>
                <a:latin typeface="Lilita One"/>
                <a:ea typeface="Lilita One"/>
                <a:cs typeface="Lilita One"/>
                <a:sym typeface="Lilita One"/>
              </a:rPr>
              <a:t>SIEM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005072" y="3566160"/>
            <a:ext cx="1828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>
                <a:solidFill>
                  <a:srgbClr val="001F40"/>
                </a:solidFill>
                <a:latin typeface="Lilita One"/>
                <a:ea typeface="Lilita One"/>
                <a:cs typeface="Lilita One"/>
                <a:sym typeface="Lilita One"/>
              </a:rPr>
              <a:t>fields lost, no proof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56032" y="3913632"/>
            <a:ext cx="5614416" cy="822960"/>
          </a:xfrm>
          <a:prstGeom prst="roundRect">
            <a:avLst>
              <a:gd name="adj" fmla="val 10000"/>
            </a:avLst>
          </a:prstGeom>
          <a:solidFill>
            <a:srgbClr val="FF6100">
              <a:alpha val="1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1" name="Picture 120" descr="warn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65760" y="4114800"/>
            <a:ext cx="402336" cy="402336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841248" y="3913632"/>
            <a:ext cx="498348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>
                <a:solidFill>
                  <a:srgbClr val="C00000"/>
                </a:solidFill>
                <a:latin typeface="Lilita One"/>
                <a:ea typeface="Lilita One"/>
                <a:cs typeface="Lilita One"/>
                <a:sym typeface="Lilita One"/>
              </a:rPr>
              <a:t>Limitation: </a:t>
            </a:r>
            <a:r>
              <a:rPr sz="12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parsers fail silently. Fields vanish after a firmware update and nobody can prove the stored copy matches the original log.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172200" y="1271016"/>
            <a:ext cx="11951208" cy="658368"/>
          </a:xfrm>
          <a:prstGeom prst="roundRect">
            <a:avLst>
              <a:gd name="adj" fmla="val 12000"/>
            </a:avLst>
          </a:prstGeom>
          <a:solidFill>
            <a:srgbClr val="5CE1E6">
              <a:alpha val="30000"/>
            </a:srgbClr>
          </a:solidFill>
          <a:ln w="28575">
            <a:solidFill>
              <a:srgbClr val="000000">
                <a:alpha val="3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6661404" y="1344168"/>
            <a:ext cx="10972800" cy="5120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661404" y="1344168"/>
            <a:ext cx="10972800" cy="5120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2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OUR SOLUTION: DIFFERENT LOGS → ONE SCHEMA → USEFUL OUTPUTS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172200" y="2048256"/>
            <a:ext cx="1824228" cy="2779776"/>
          </a:xfrm>
          <a:prstGeom prst="roundRect">
            <a:avLst>
              <a:gd name="adj" fmla="val 12000"/>
            </a:avLst>
          </a:prstGeom>
          <a:solidFill>
            <a:srgbClr val="DCE6F2">
              <a:alpha val="43000"/>
            </a:srgbClr>
          </a:solidFill>
          <a:ln w="28575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7" name="Picture 126" descr="tower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45352" y="2130552"/>
            <a:ext cx="420624" cy="420624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6702552" y="2084831"/>
            <a:ext cx="125730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Different logs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217920" y="2670048"/>
            <a:ext cx="1751076" cy="1600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4780" indent="-144780">
              <a:spcAft>
                <a:spcPts val="300"/>
              </a:spcAft>
              <a:buFont typeface="Lilita One"/>
              <a:buChar char="•"/>
            </a:pPr>
            <a:r>
              <a:rPr sz="12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Syslog UDP / TCP / TLS, HTTP</a:t>
            </a:r>
          </a:p>
          <a:p>
            <a:pPr algn="l" marL="144780" indent="-144780">
              <a:spcAft>
                <a:spcPts val="300"/>
              </a:spcAft>
              <a:buFont typeface="Lilita One"/>
              <a:buChar char="•"/>
            </a:pPr>
            <a:r>
              <a:rPr sz="12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Auto-discovered sources</a:t>
            </a:r>
          </a:p>
          <a:p>
            <a:pPr algn="l" marL="144780" indent="-144780">
              <a:spcAft>
                <a:spcPts val="300"/>
              </a:spcAft>
              <a:buFont typeface="Lilita One"/>
              <a:buChar char="•"/>
            </a:pPr>
            <a:r>
              <a:rPr sz="12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Received = stored + in flight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281928" y="4370832"/>
            <a:ext cx="16047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267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281928" y="4370832"/>
            <a:ext cx="1604772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Log sources</a:t>
            </a:r>
          </a:p>
        </p:txBody>
      </p:sp>
      <p:sp>
        <p:nvSpPr>
          <p:cNvPr id="132" name="Right Arrow 131"/>
          <p:cNvSpPr/>
          <p:nvPr/>
        </p:nvSpPr>
        <p:spPr>
          <a:xfrm>
            <a:off x="8023860" y="3246120"/>
            <a:ext cx="146304" cy="237744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8197596" y="2048256"/>
            <a:ext cx="1824228" cy="2779776"/>
          </a:xfrm>
          <a:prstGeom prst="roundRect">
            <a:avLst>
              <a:gd name="adj" fmla="val 12000"/>
            </a:avLst>
          </a:prstGeom>
          <a:solidFill>
            <a:srgbClr val="E2A9F1">
              <a:alpha val="50000"/>
            </a:srgbClr>
          </a:solidFill>
          <a:ln w="28575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4" name="Picture 133" descr="sitemap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70748" y="2130552"/>
            <a:ext cx="420624" cy="420624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8727948" y="2084831"/>
            <a:ext cx="125730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One schema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43316" y="2670048"/>
            <a:ext cx="1751076" cy="1600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4780" indent="-144780">
              <a:spcAft>
                <a:spcPts val="300"/>
              </a:spcAft>
              <a:buFont typeface="Lilita One"/>
              <a:buChar char="•"/>
            </a:pPr>
            <a:r>
              <a:rPr sz="12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Format auto-detect</a:t>
            </a:r>
          </a:p>
          <a:p>
            <a:pPr algn="l" marL="144780" indent="-144780">
              <a:spcAft>
                <a:spcPts val="300"/>
              </a:spcAft>
              <a:buFont typeface="Lilita One"/>
              <a:buChar char="•"/>
            </a:pPr>
            <a:r>
              <a:rPr sz="12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YAML vendor packs</a:t>
            </a:r>
          </a:p>
          <a:p>
            <a:pPr algn="l" marL="144780" indent="-144780">
              <a:spcAft>
                <a:spcPts val="300"/>
              </a:spcAft>
              <a:buFont typeface="Lilita One"/>
              <a:buChar char="•"/>
            </a:pPr>
            <a:r>
              <a:rPr sz="12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OCSF: src, dst, action, class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307323" y="4370832"/>
            <a:ext cx="16047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267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307323" y="4370832"/>
            <a:ext cx="1604772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Event explorer</a:t>
            </a:r>
          </a:p>
        </p:txBody>
      </p:sp>
      <p:sp>
        <p:nvSpPr>
          <p:cNvPr id="139" name="Right Arrow 138"/>
          <p:cNvSpPr/>
          <p:nvPr/>
        </p:nvSpPr>
        <p:spPr>
          <a:xfrm>
            <a:off x="10049256" y="3246120"/>
            <a:ext cx="146304" cy="237744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10222992" y="2048256"/>
            <a:ext cx="1824228" cy="2779776"/>
          </a:xfrm>
          <a:prstGeom prst="roundRect">
            <a:avLst>
              <a:gd name="adj" fmla="val 12000"/>
            </a:avLst>
          </a:prstGeom>
          <a:solidFill>
            <a:srgbClr val="DCE6F2">
              <a:alpha val="43000"/>
            </a:srgbClr>
          </a:solidFill>
          <a:ln w="28575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1" name="Picture 140" descr="vault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96144" y="2130552"/>
            <a:ext cx="420624" cy="420624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10753344" y="2084831"/>
            <a:ext cx="125730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Preserved evidence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268712" y="2670048"/>
            <a:ext cx="1751076" cy="1600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4780" indent="-144780">
              <a:spcAft>
                <a:spcPts val="300"/>
              </a:spcAft>
              <a:buFont typeface="Lilita One"/>
              <a:buChar char="•"/>
            </a:pPr>
            <a:r>
              <a:rPr sz="12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Raw bytes in write-once vault</a:t>
            </a:r>
          </a:p>
          <a:p>
            <a:pPr algn="l" marL="144780" indent="-144780">
              <a:spcAft>
                <a:spcPts val="300"/>
              </a:spcAft>
              <a:buFont typeface="Lilita One"/>
              <a:buChar char="•"/>
            </a:pPr>
            <a:r>
              <a:rPr sz="12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SHA-256 + hash chain</a:t>
            </a:r>
          </a:p>
          <a:p>
            <a:pPr algn="l" marL="144780" indent="-144780">
              <a:spcAft>
                <a:spcPts val="300"/>
              </a:spcAft>
              <a:buFont typeface="Lilita One"/>
              <a:buChar char="•"/>
            </a:pPr>
            <a:r>
              <a:rPr sz="12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Rebuilt event = vault hash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0332719" y="4370832"/>
            <a:ext cx="16047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267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0332719" y="4370832"/>
            <a:ext cx="1604772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Verify lossless</a:t>
            </a:r>
          </a:p>
        </p:txBody>
      </p:sp>
      <p:sp>
        <p:nvSpPr>
          <p:cNvPr id="146" name="Right Arrow 145"/>
          <p:cNvSpPr/>
          <p:nvPr/>
        </p:nvSpPr>
        <p:spPr>
          <a:xfrm>
            <a:off x="12074652" y="3246120"/>
            <a:ext cx="146304" cy="237744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12248388" y="2048256"/>
            <a:ext cx="1824228" cy="2779776"/>
          </a:xfrm>
          <a:prstGeom prst="roundRect">
            <a:avLst>
              <a:gd name="adj" fmla="val 12000"/>
            </a:avLst>
          </a:prstGeom>
          <a:solidFill>
            <a:srgbClr val="E2A9F1">
              <a:alpha val="50000"/>
            </a:srgbClr>
          </a:solidFill>
          <a:ln w="28575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8" name="Picture 147" descr="cod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321540" y="2130552"/>
            <a:ext cx="420624" cy="420624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12778740" y="2084831"/>
            <a:ext cx="125730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Easier onboarding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2294108" y="2670048"/>
            <a:ext cx="1751076" cy="1600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4780" indent="-144780">
              <a:spcAft>
                <a:spcPts val="300"/>
              </a:spcAft>
              <a:buFont typeface="Lilita One"/>
              <a:buChar char="•"/>
            </a:pPr>
            <a:r>
              <a:rPr sz="12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Load samples, Analyze</a:t>
            </a:r>
          </a:p>
          <a:p>
            <a:pPr algn="l" marL="144780" indent="-144780">
              <a:spcAft>
                <a:spcPts val="300"/>
              </a:spcAft>
              <a:buFont typeface="Lilita One"/>
              <a:buChar char="•"/>
            </a:pPr>
            <a:r>
              <a:rPr sz="12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Proposed YAML (Drain3)</a:t>
            </a:r>
          </a:p>
          <a:p>
            <a:pPr algn="l" marL="144780" indent="-144780">
              <a:spcAft>
                <a:spcPts val="300"/>
              </a:spcAft>
              <a:buFont typeface="Lilita One"/>
              <a:buChar char="•"/>
            </a:pPr>
            <a:r>
              <a:rPr sz="12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Test, Activate: no restart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358116" y="4370832"/>
            <a:ext cx="16047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267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2358116" y="4370832"/>
            <a:ext cx="1604772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Parser studio</a:t>
            </a:r>
          </a:p>
        </p:txBody>
      </p:sp>
      <p:sp>
        <p:nvSpPr>
          <p:cNvPr id="153" name="Right Arrow 152"/>
          <p:cNvSpPr/>
          <p:nvPr/>
        </p:nvSpPr>
        <p:spPr>
          <a:xfrm>
            <a:off x="14100048" y="3246120"/>
            <a:ext cx="146304" cy="237744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14273784" y="2048256"/>
            <a:ext cx="1824228" cy="2779776"/>
          </a:xfrm>
          <a:prstGeom prst="roundRect">
            <a:avLst>
              <a:gd name="adj" fmla="val 12000"/>
            </a:avLst>
          </a:prstGeom>
          <a:solidFill>
            <a:srgbClr val="DCE6F2">
              <a:alpha val="43000"/>
            </a:srgbClr>
          </a:solidFill>
          <a:ln w="28575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5" name="Picture 154" descr="wrench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346936" y="2130552"/>
            <a:ext cx="420624" cy="420624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4804136" y="2084831"/>
            <a:ext cx="125730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Parser repair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4319504" y="2670048"/>
            <a:ext cx="1751076" cy="1600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4780" indent="-144780">
              <a:spcAft>
                <a:spcPts val="300"/>
              </a:spcAft>
              <a:buFont typeface="Lilita One"/>
              <a:buChar char="•"/>
            </a:pPr>
            <a:r>
              <a:rPr sz="12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Fill-rate drift detected</a:t>
            </a:r>
          </a:p>
          <a:p>
            <a:pPr algn="l" marL="144780" indent="-144780">
              <a:spcAft>
                <a:spcPts val="300"/>
              </a:spcAft>
              <a:buFont typeface="Lilita One"/>
              <a:buChar char="•"/>
            </a:pPr>
            <a:r>
              <a:rPr sz="12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Shadow test + policy rules</a:t>
            </a:r>
          </a:p>
          <a:p>
            <a:pPr algn="l" marL="144780" indent="-144780">
              <a:spcAft>
                <a:spcPts val="300"/>
              </a:spcAft>
              <a:buFont typeface="Lilita One"/>
              <a:buChar char="•"/>
            </a:pPr>
            <a:r>
              <a:rPr sz="12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Verify, re-process history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4383512" y="4370832"/>
            <a:ext cx="16047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267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4383512" y="4370832"/>
            <a:ext cx="1604772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Pipeline health</a:t>
            </a:r>
          </a:p>
        </p:txBody>
      </p:sp>
      <p:sp>
        <p:nvSpPr>
          <p:cNvPr id="160" name="Right Arrow 159"/>
          <p:cNvSpPr/>
          <p:nvPr/>
        </p:nvSpPr>
        <p:spPr>
          <a:xfrm>
            <a:off x="16125444" y="3246120"/>
            <a:ext cx="146304" cy="237744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16299180" y="2048256"/>
            <a:ext cx="1824228" cy="2779776"/>
          </a:xfrm>
          <a:prstGeom prst="roundRect">
            <a:avLst>
              <a:gd name="adj" fmla="val 12000"/>
            </a:avLst>
          </a:prstGeom>
          <a:solidFill>
            <a:srgbClr val="E2A9F1">
              <a:alpha val="50000"/>
            </a:srgbClr>
          </a:solidFill>
          <a:ln w="28575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2" name="Picture 161" descr="dbB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6372332" y="2130552"/>
            <a:ext cx="420624" cy="420624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16829532" y="2084831"/>
            <a:ext cx="125730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Useful outputs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6344900" y="2670048"/>
            <a:ext cx="1751076" cy="1600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4780" indent="-144780">
              <a:spcAft>
                <a:spcPts val="300"/>
              </a:spcAft>
              <a:buFont typeface="Lilita One"/>
              <a:buChar char="•"/>
            </a:pPr>
            <a:r>
              <a:rPr sz="12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Parquet lake on MinIO</a:t>
            </a:r>
          </a:p>
          <a:p>
            <a:pPr algn="l" marL="144780" indent="-144780">
              <a:spcAft>
                <a:spcPts val="300"/>
              </a:spcAft>
              <a:buFont typeface="Lilita One"/>
              <a:buChar char="•"/>
            </a:pPr>
            <a:r>
              <a:rPr sz="12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Slim SIEM tier</a:t>
            </a:r>
          </a:p>
          <a:p>
            <a:pPr algn="l" marL="144780" indent="-144780">
              <a:spcAft>
                <a:spcPts val="300"/>
              </a:spcAft>
              <a:buFont typeface="Lilita One"/>
              <a:buChar char="•"/>
            </a:pPr>
            <a:r>
              <a:rPr sz="12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Entities, Sigma, privacy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16408908" y="4370832"/>
            <a:ext cx="16047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267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6408908" y="4370832"/>
            <a:ext cx="1604772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Outputs &amp; cost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00584" y="4937760"/>
            <a:ext cx="7772400" cy="658368"/>
          </a:xfrm>
          <a:prstGeom prst="roundRect">
            <a:avLst>
              <a:gd name="adj" fmla="val 12000"/>
            </a:avLst>
          </a:prstGeom>
          <a:solidFill>
            <a:srgbClr val="5CE1E6">
              <a:alpha val="30000"/>
            </a:srgbClr>
          </a:solidFill>
          <a:ln w="28575">
            <a:solidFill>
              <a:srgbClr val="000000">
                <a:alpha val="3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694943" y="5010912"/>
            <a:ext cx="6583680" cy="5120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94943" y="5010912"/>
            <a:ext cx="6583680" cy="5120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6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UNIQUENESS OF SOLUTION</a:t>
            </a:r>
          </a:p>
        </p:txBody>
      </p:sp>
      <p:graphicFrame>
        <p:nvGraphicFramePr>
          <p:cNvPr id="170" name="Table 169"/>
          <p:cNvGraphicFramePr>
            <a:graphicFrameLocks noGrp="1"/>
          </p:cNvGraphicFramePr>
          <p:nvPr/>
        </p:nvGraphicFramePr>
        <p:xfrm>
          <a:off x="274320" y="5760720"/>
          <a:ext cx="7543800" cy="395020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251960"/>
                <a:gridCol w="1691640"/>
                <a:gridCol w="160020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Capability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Typical pipeline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SchemaOps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4B18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Many formats → one schema (OCSF 1.3)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Raw bytes kept in a write-once vault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Per-event lossless verification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No-code onboarding, tested before activation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Detects parser drift after a firmware change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Safe parser repair + history re-processed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SIEM tier with pointers to the full lake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Pseudonymised export, audited reveal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</a:tr>
            </a:tbl>
          </a:graphicData>
        </a:graphic>
      </p:graphicFrame>
      <p:pic>
        <p:nvPicPr>
          <p:cNvPr id="171" name="Picture 170" descr="check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225796" y="6272783"/>
            <a:ext cx="292608" cy="292608"/>
          </a:xfrm>
          <a:prstGeom prst="rect">
            <a:avLst/>
          </a:prstGeom>
        </p:spPr>
      </p:pic>
      <p:pic>
        <p:nvPicPr>
          <p:cNvPr id="172" name="Picture 171" descr="check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71716" y="6272783"/>
            <a:ext cx="292608" cy="292608"/>
          </a:xfrm>
          <a:prstGeom prst="rect">
            <a:avLst/>
          </a:prstGeom>
        </p:spPr>
      </p:pic>
      <p:pic>
        <p:nvPicPr>
          <p:cNvPr id="173" name="Picture 172" descr="minus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225796" y="6711696"/>
            <a:ext cx="292608" cy="292608"/>
          </a:xfrm>
          <a:prstGeom prst="rect">
            <a:avLst/>
          </a:prstGeom>
        </p:spPr>
      </p:pic>
      <p:pic>
        <p:nvPicPr>
          <p:cNvPr id="174" name="Picture 173" descr="check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71716" y="6711696"/>
            <a:ext cx="292608" cy="292608"/>
          </a:xfrm>
          <a:prstGeom prst="rect">
            <a:avLst/>
          </a:prstGeom>
        </p:spPr>
      </p:pic>
      <p:pic>
        <p:nvPicPr>
          <p:cNvPr id="175" name="Picture 174" descr="cross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225796" y="7150608"/>
            <a:ext cx="292608" cy="292608"/>
          </a:xfrm>
          <a:prstGeom prst="rect">
            <a:avLst/>
          </a:prstGeom>
        </p:spPr>
      </p:pic>
      <p:pic>
        <p:nvPicPr>
          <p:cNvPr id="176" name="Picture 175" descr="check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71716" y="7150608"/>
            <a:ext cx="292608" cy="292608"/>
          </a:xfrm>
          <a:prstGeom prst="rect">
            <a:avLst/>
          </a:prstGeom>
        </p:spPr>
      </p:pic>
      <p:pic>
        <p:nvPicPr>
          <p:cNvPr id="177" name="Picture 176" descr="minus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225796" y="7589519"/>
            <a:ext cx="292608" cy="292608"/>
          </a:xfrm>
          <a:prstGeom prst="rect">
            <a:avLst/>
          </a:prstGeom>
        </p:spPr>
      </p:pic>
      <p:pic>
        <p:nvPicPr>
          <p:cNvPr id="178" name="Picture 177" descr="check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71716" y="7589519"/>
            <a:ext cx="292608" cy="292608"/>
          </a:xfrm>
          <a:prstGeom prst="rect">
            <a:avLst/>
          </a:prstGeom>
        </p:spPr>
      </p:pic>
      <p:pic>
        <p:nvPicPr>
          <p:cNvPr id="179" name="Picture 178" descr="cross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225796" y="8028431"/>
            <a:ext cx="292608" cy="292608"/>
          </a:xfrm>
          <a:prstGeom prst="rect">
            <a:avLst/>
          </a:prstGeom>
        </p:spPr>
      </p:pic>
      <p:pic>
        <p:nvPicPr>
          <p:cNvPr id="180" name="Picture 179" descr="check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71716" y="8028431"/>
            <a:ext cx="292608" cy="292608"/>
          </a:xfrm>
          <a:prstGeom prst="rect">
            <a:avLst/>
          </a:prstGeom>
        </p:spPr>
      </p:pic>
      <p:pic>
        <p:nvPicPr>
          <p:cNvPr id="181" name="Picture 180" descr="cross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225796" y="8467344"/>
            <a:ext cx="292608" cy="292608"/>
          </a:xfrm>
          <a:prstGeom prst="rect">
            <a:avLst/>
          </a:prstGeom>
        </p:spPr>
      </p:pic>
      <p:pic>
        <p:nvPicPr>
          <p:cNvPr id="182" name="Picture 181" descr="check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71716" y="8467344"/>
            <a:ext cx="292608" cy="292608"/>
          </a:xfrm>
          <a:prstGeom prst="rect">
            <a:avLst/>
          </a:prstGeom>
        </p:spPr>
      </p:pic>
      <p:pic>
        <p:nvPicPr>
          <p:cNvPr id="183" name="Picture 182" descr="minus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225796" y="8906256"/>
            <a:ext cx="292608" cy="292608"/>
          </a:xfrm>
          <a:prstGeom prst="rect">
            <a:avLst/>
          </a:prstGeom>
        </p:spPr>
      </p:pic>
      <p:pic>
        <p:nvPicPr>
          <p:cNvPr id="184" name="Picture 183" descr="check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71716" y="8906256"/>
            <a:ext cx="292608" cy="292608"/>
          </a:xfrm>
          <a:prstGeom prst="rect">
            <a:avLst/>
          </a:prstGeom>
        </p:spPr>
      </p:pic>
      <p:pic>
        <p:nvPicPr>
          <p:cNvPr id="185" name="Picture 184" descr="minus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225796" y="9345168"/>
            <a:ext cx="292608" cy="292608"/>
          </a:xfrm>
          <a:prstGeom prst="rect">
            <a:avLst/>
          </a:prstGeom>
        </p:spPr>
      </p:pic>
      <p:pic>
        <p:nvPicPr>
          <p:cNvPr id="186" name="Picture 185" descr="check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71716" y="9345168"/>
            <a:ext cx="292608" cy="292608"/>
          </a:xfrm>
          <a:prstGeom prst="rect">
            <a:avLst/>
          </a:prstGeom>
        </p:spPr>
      </p:pic>
      <p:sp>
        <p:nvSpPr>
          <p:cNvPr id="187" name="Rounded Rectangle 186"/>
          <p:cNvSpPr/>
          <p:nvPr/>
        </p:nvSpPr>
        <p:spPr>
          <a:xfrm>
            <a:off x="8092440" y="4937760"/>
            <a:ext cx="10012680" cy="658368"/>
          </a:xfrm>
          <a:prstGeom prst="roundRect">
            <a:avLst>
              <a:gd name="adj" fmla="val 12000"/>
            </a:avLst>
          </a:prstGeom>
          <a:solidFill>
            <a:srgbClr val="5CE1E6">
              <a:alpha val="30000"/>
            </a:srgbClr>
          </a:solidFill>
          <a:ln w="28575">
            <a:solidFill>
              <a:srgbClr val="000000">
                <a:alpha val="3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8343900" y="5010912"/>
            <a:ext cx="9509760" cy="5120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8343900" y="5010912"/>
            <a:ext cx="9509760" cy="5120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0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PARSER REPAIR IN THE PROTOTYPE: PIPELINE HEALTH → LOG-1059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8138160" y="5715000"/>
            <a:ext cx="9966960" cy="41879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1" name="Picture 190" descr="inc_stats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229600" y="5788152"/>
            <a:ext cx="9784080" cy="523757"/>
          </a:xfrm>
          <a:prstGeom prst="rect">
            <a:avLst/>
          </a:prstGeom>
        </p:spPr>
      </p:pic>
      <p:pic>
        <p:nvPicPr>
          <p:cNvPr id="192" name="Picture 191" descr="inc_repair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229600" y="6382512"/>
            <a:ext cx="9784080" cy="2546043"/>
          </a:xfrm>
          <a:prstGeom prst="rect">
            <a:avLst/>
          </a:prstGeom>
        </p:spPr>
      </p:pic>
      <p:sp>
        <p:nvSpPr>
          <p:cNvPr id="193" name="Rounded Rectangle 192"/>
          <p:cNvSpPr/>
          <p:nvPr/>
        </p:nvSpPr>
        <p:spPr>
          <a:xfrm>
            <a:off x="8229600" y="8988552"/>
            <a:ext cx="1516380" cy="868680"/>
          </a:xfrm>
          <a:prstGeom prst="roundRect">
            <a:avLst>
              <a:gd name="adj" fmla="val 10000"/>
            </a:avLst>
          </a:prstGeom>
          <a:solidFill>
            <a:srgbClr val="FDE2E2"/>
          </a:solidFill>
          <a:ln w="15875">
            <a:solidFill>
              <a:srgbClr val="C00000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8257031" y="9006840"/>
            <a:ext cx="1461515" cy="8412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C00000"/>
                </a:solidFill>
                <a:latin typeface="Lilita One"/>
                <a:ea typeface="Lilita One"/>
                <a:cs typeface="Lilita One"/>
                <a:sym typeface="Lilita One"/>
              </a:rPr>
              <a:t>01:44:05  </a:t>
            </a:r>
            <a:r>
              <a:rPr sz="11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DETECTED</a:t>
            </a:r>
          </a:p>
          <a:p>
            <a:pPr algn="ctr">
              <a:spcAft>
                <a:spcPts val="200"/>
              </a:spcAft>
            </a:pPr>
            <a:r>
              <a:rPr sz="1100">
                <a:solidFill>
                  <a:srgbClr val="C00000"/>
                </a:solidFill>
                <a:latin typeface="Lilita One"/>
                <a:ea typeface="Lilita One"/>
                <a:cs typeface="Lilita One"/>
                <a:sym typeface="Lilita One"/>
              </a:rPr>
              <a:t>+30 s, 5 attributes lost</a:t>
            </a:r>
          </a:p>
        </p:txBody>
      </p:sp>
      <p:sp>
        <p:nvSpPr>
          <p:cNvPr id="195" name="Right Arrow 194"/>
          <p:cNvSpPr/>
          <p:nvPr/>
        </p:nvSpPr>
        <p:spPr>
          <a:xfrm>
            <a:off x="9764268" y="9326880"/>
            <a:ext cx="100584" cy="18288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Rounded Rectangle 195"/>
          <p:cNvSpPr/>
          <p:nvPr/>
        </p:nvSpPr>
        <p:spPr>
          <a:xfrm>
            <a:off x="9883140" y="8988552"/>
            <a:ext cx="1516380" cy="86868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5875">
            <a:solidFill>
              <a:srgbClr val="BF8F00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9910572" y="9006840"/>
            <a:ext cx="1461515" cy="8412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BF8F00"/>
                </a:solidFill>
                <a:latin typeface="Lilita One"/>
                <a:ea typeface="Lilita One"/>
                <a:cs typeface="Lilita One"/>
                <a:sym typeface="Lilita One"/>
              </a:rPr>
              <a:t>01:44:08  </a:t>
            </a:r>
            <a:r>
              <a:rPr sz="11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CHALLENGER TESTED</a:t>
            </a:r>
          </a:p>
          <a:p>
            <a:pPr algn="ctr">
              <a:spcAft>
                <a:spcPts val="200"/>
              </a:spcAft>
            </a:pPr>
            <a:r>
              <a:rPr sz="1100">
                <a:solidFill>
                  <a:srgbClr val="BF8F00"/>
                </a:solidFill>
                <a:latin typeface="Lilita One"/>
                <a:ea typeface="Lilita One"/>
                <a:cs typeface="Lilita One"/>
                <a:sym typeface="Lilita One"/>
              </a:rPr>
              <a:t>fill 17% → 100%</a:t>
            </a:r>
          </a:p>
        </p:txBody>
      </p:sp>
      <p:sp>
        <p:nvSpPr>
          <p:cNvPr id="198" name="Right Arrow 197"/>
          <p:cNvSpPr/>
          <p:nvPr/>
        </p:nvSpPr>
        <p:spPr>
          <a:xfrm>
            <a:off x="11417808" y="9326880"/>
            <a:ext cx="100584" cy="182880"/>
          </a:xfrm>
          <a:prstGeom prst="rightArrow">
            <a:avLst/>
          </a:prstGeom>
          <a:solidFill>
            <a:srgbClr val="BF8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11536680" y="8988552"/>
            <a:ext cx="1516380" cy="86868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1F4E79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1564112" y="9006840"/>
            <a:ext cx="1461515" cy="8412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1F4E79"/>
                </a:solidFill>
                <a:latin typeface="Lilita One"/>
                <a:ea typeface="Lilita One"/>
                <a:cs typeface="Lilita One"/>
                <a:sym typeface="Lilita One"/>
              </a:rPr>
              <a:t>01:44:13  </a:t>
            </a:r>
            <a:r>
              <a:rPr sz="11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PACK PROMOTED</a:t>
            </a:r>
          </a:p>
          <a:p>
            <a:pPr algn="ctr">
              <a:spcAft>
                <a:spcPts val="200"/>
              </a:spcAft>
            </a:pPr>
            <a:r>
              <a:rPr sz="1100">
                <a:solidFill>
                  <a:srgbClr val="1F4E79"/>
                </a:solidFill>
                <a:latin typeface="Lilita One"/>
                <a:ea typeface="Lilita One"/>
                <a:cs typeface="Lilita One"/>
                <a:sym typeface="Lilita One"/>
              </a:rPr>
              <a:t>tier 1, rules pass</a:t>
            </a:r>
          </a:p>
        </p:txBody>
      </p:sp>
      <p:sp>
        <p:nvSpPr>
          <p:cNvPr id="201" name="Right Arrow 200"/>
          <p:cNvSpPr/>
          <p:nvPr/>
        </p:nvSpPr>
        <p:spPr>
          <a:xfrm>
            <a:off x="13071348" y="9326880"/>
            <a:ext cx="100584" cy="18288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13190219" y="8988552"/>
            <a:ext cx="1516380" cy="868680"/>
          </a:xfrm>
          <a:prstGeom prst="roundRect">
            <a:avLst>
              <a:gd name="adj" fmla="val 10000"/>
            </a:avLst>
          </a:prstGeom>
          <a:solidFill>
            <a:srgbClr val="E2F0D9"/>
          </a:solidFill>
          <a:ln w="15875">
            <a:solidFill>
              <a:srgbClr val="38761D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3217651" y="9006840"/>
            <a:ext cx="1461515" cy="8412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38761D"/>
                </a:solidFill>
                <a:latin typeface="Lilita One"/>
                <a:ea typeface="Lilita One"/>
                <a:cs typeface="Lilita One"/>
                <a:sym typeface="Lilita One"/>
              </a:rPr>
              <a:t>01:45:26  </a:t>
            </a:r>
            <a:r>
              <a:rPr sz="11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VERIFIED</a:t>
            </a:r>
          </a:p>
          <a:p>
            <a:pPr algn="ctr">
              <a:spcAft>
                <a:spcPts val="200"/>
              </a:spcAft>
            </a:pPr>
            <a:r>
              <a:rPr sz="1100">
                <a:solidFill>
                  <a:srgbClr val="38761D"/>
                </a:solidFill>
                <a:latin typeface="Lilita One"/>
                <a:ea typeface="Lilita One"/>
                <a:cs typeface="Lilita One"/>
                <a:sym typeface="Lilita One"/>
              </a:rPr>
              <a:t>live buckets at 100%</a:t>
            </a:r>
          </a:p>
        </p:txBody>
      </p:sp>
      <p:sp>
        <p:nvSpPr>
          <p:cNvPr id="204" name="Right Arrow 203"/>
          <p:cNvSpPr/>
          <p:nvPr/>
        </p:nvSpPr>
        <p:spPr>
          <a:xfrm>
            <a:off x="14724887" y="9326880"/>
            <a:ext cx="100584" cy="182880"/>
          </a:xfrm>
          <a:prstGeom prst="rightArrow">
            <a:avLst/>
          </a:prstGeom>
          <a:solidFill>
            <a:srgbClr val="3876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14843760" y="8988552"/>
            <a:ext cx="1516380" cy="868680"/>
          </a:xfrm>
          <a:prstGeom prst="roundRect">
            <a:avLst>
              <a:gd name="adj" fmla="val 10000"/>
            </a:avLst>
          </a:prstGeom>
          <a:solidFill>
            <a:srgbClr val="E2F0D9"/>
          </a:solidFill>
          <a:ln w="15875">
            <a:solidFill>
              <a:srgbClr val="38761D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4871192" y="9006840"/>
            <a:ext cx="1461515" cy="8412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38761D"/>
                </a:solidFill>
                <a:latin typeface="Lilita One"/>
                <a:ea typeface="Lilita One"/>
                <a:cs typeface="Lilita One"/>
                <a:sym typeface="Lilita One"/>
              </a:rPr>
              <a:t>01:45:32  </a:t>
            </a:r>
            <a:r>
              <a:rPr sz="11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RE-NORMALIZED</a:t>
            </a:r>
          </a:p>
          <a:p>
            <a:pPr algn="ctr">
              <a:spcAft>
                <a:spcPts val="200"/>
              </a:spcAft>
            </a:pPr>
            <a:r>
              <a:rPr sz="1100">
                <a:solidFill>
                  <a:srgbClr val="38761D"/>
                </a:solidFill>
                <a:latin typeface="Lilita One"/>
                <a:ea typeface="Lilita One"/>
                <a:cs typeface="Lilita One"/>
                <a:sym typeface="Lilita One"/>
              </a:rPr>
              <a:t>222 events, 1,110 fields</a:t>
            </a:r>
          </a:p>
        </p:txBody>
      </p:sp>
      <p:sp>
        <p:nvSpPr>
          <p:cNvPr id="207" name="Right Arrow 206"/>
          <p:cNvSpPr/>
          <p:nvPr/>
        </p:nvSpPr>
        <p:spPr>
          <a:xfrm>
            <a:off x="16378427" y="9326880"/>
            <a:ext cx="100584" cy="182880"/>
          </a:xfrm>
          <a:prstGeom prst="rightArrow">
            <a:avLst/>
          </a:prstGeom>
          <a:solidFill>
            <a:srgbClr val="3876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16497299" y="8988552"/>
            <a:ext cx="1516380" cy="868680"/>
          </a:xfrm>
          <a:prstGeom prst="roundRect">
            <a:avLst>
              <a:gd name="adj" fmla="val 10000"/>
            </a:avLst>
          </a:prstGeom>
          <a:solidFill>
            <a:srgbClr val="C6E0B4"/>
          </a:solidFill>
          <a:ln w="15875">
            <a:solidFill>
              <a:srgbClr val="274E13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6524731" y="9006840"/>
            <a:ext cx="1461515" cy="8412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74E13"/>
                </a:solidFill>
                <a:latin typeface="Lilita One"/>
                <a:ea typeface="Lilita One"/>
                <a:cs typeface="Lilita One"/>
                <a:sym typeface="Lilita One"/>
              </a:rPr>
              <a:t>01:45:37  </a:t>
            </a:r>
            <a:r>
              <a:rPr sz="11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RESOLVED</a:t>
            </a:r>
          </a:p>
          <a:p>
            <a:pPr algn="ctr">
              <a:spcAft>
                <a:spcPts val="200"/>
              </a:spcAft>
            </a:pPr>
            <a:r>
              <a:rPr sz="1100">
                <a:solidFill>
                  <a:srgbClr val="274E13"/>
                </a:solidFill>
                <a:latin typeface="Lilita One"/>
                <a:ea typeface="Lilita One"/>
                <a:cs typeface="Lilita One"/>
                <a:sym typeface="Lilita One"/>
              </a:rPr>
              <a:t>2 min 2 s end to end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10040740"/>
            <a:ext cx="18288000" cy="246260"/>
            <a:chOff x="0" y="0"/>
            <a:chExt cx="24384000" cy="3283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328347"/>
            </a:xfrm>
            <a:custGeom>
              <a:avLst/>
              <a:gdLst/>
              <a:ahLst/>
              <a:cxnLst/>
              <a:rect r="r" b="b" t="t" l="l"/>
              <a:pathLst>
                <a:path h="32834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28347"/>
                  </a:lnTo>
                  <a:lnTo>
                    <a:pt x="0" y="328347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99" id="99"/>
          <p:cNvSpPr txBox="true"/>
          <p:nvPr/>
        </p:nvSpPr>
        <p:spPr>
          <a:xfrm rot="0">
            <a:off x="18104615" y="9945490"/>
            <a:ext cx="120015" cy="36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34" id="34"/>
          <p:cNvGrpSpPr/>
          <p:nvPr/>
        </p:nvGrpSpPr>
        <p:grpSpPr>
          <a:xfrm rot="0">
            <a:off x="15935547" y="0"/>
            <a:ext cx="2352453" cy="1110783"/>
            <a:chOff x="0" y="0"/>
            <a:chExt cx="4499699" cy="21246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1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8700" y="116854"/>
            <a:ext cx="1695941" cy="1105703"/>
            <a:chOff x="0" y="0"/>
            <a:chExt cx="2554516" cy="1665468"/>
          </a:xfrm>
        </p:grpSpPr>
        <p:sp>
          <p:nvSpPr>
            <p:cNvPr name="Freeform 37" id="37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554516" cy="166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sz="2400">
                  <a:solidFill>
                    <a:srgbClr val="000000"/>
                  </a:solidFill>
                  <a:latin typeface="Lilita One"/>
                  <a:ea typeface="Lilita One"/>
                  <a:cs typeface="Lilita One"/>
                  <a:sym typeface="Lilita One"/>
                </a:rPr>
                <a:t>CODE BANDITS</a:t>
              </a:r>
            </a:p>
          </p:txBody>
        </p:sp>
      </p:grpSp>
      <p:sp>
        <p:nvSpPr>
          <p:cNvPr id="123" name="Title"/>
          <p:cNvSpPr txBox="1"/>
          <p:nvPr/>
        </p:nvSpPr>
        <p:spPr>
          <a:xfrm>
            <a:off x="2103120" y="109728"/>
            <a:ext cx="13716000" cy="10515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0">
                <a:solidFill>
                  <a:srgbClr val="1F497D"/>
                </a:solidFill>
                <a:latin typeface="Lilita One"/>
                <a:ea typeface="Lilita One"/>
                <a:cs typeface="Lilita One"/>
                <a:sym typeface="Lilita One"/>
              </a:rPr>
              <a:t>Technical Architecture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01168" y="1325880"/>
            <a:ext cx="2468880" cy="2514600"/>
          </a:xfrm>
          <a:prstGeom prst="roundRect">
            <a:avLst>
              <a:gd name="adj" fmla="val 8000"/>
            </a:avLst>
          </a:prstGeom>
          <a:solidFill>
            <a:srgbClr val="DCE6F2">
              <a:alpha val="43000"/>
            </a:srgbClr>
          </a:solidFill>
          <a:ln w="28575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265176" y="1399032"/>
            <a:ext cx="420624" cy="420624"/>
          </a:xfrm>
          <a:prstGeom prst="ellipse">
            <a:avLst/>
          </a:prstGeom>
          <a:solidFill>
            <a:srgbClr val="1F4E7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65176" y="13990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1</a:t>
            </a:r>
          </a:p>
        </p:txBody>
      </p:sp>
      <p:pic>
        <p:nvPicPr>
          <p:cNvPr id="127" name="Picture 126" descr="server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2176272" y="1399032"/>
            <a:ext cx="402336" cy="402336"/>
          </a:xfrm>
          <a:prstGeom prst="rect">
            <a:avLst/>
          </a:prstGeom>
        </p:spPr>
      </p:pic>
      <p:pic>
        <p:nvPicPr>
          <p:cNvPr id="128" name="Picture 127" descr="shiel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719072" y="1399032"/>
            <a:ext cx="402336" cy="402336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731519" y="1371600"/>
            <a:ext cx="9326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Log sources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56032" y="1874519"/>
            <a:ext cx="2377440" cy="1618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4780" indent="-144780">
              <a:spcAft>
                <a:spcPts val="200"/>
              </a:spcAft>
              <a:buFont typeface="Lilita One"/>
              <a:buChar char="•"/>
            </a:pPr>
            <a:r>
              <a:rPr sz="12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Firewall, IDS, VPN, WAF, AD, DHCP</a:t>
            </a:r>
          </a:p>
          <a:p>
            <a:pPr algn="l" marL="144780" indent="-144780">
              <a:spcAft>
                <a:spcPts val="200"/>
              </a:spcAft>
              <a:buFont typeface="Lilita One"/>
              <a:buChar char="•"/>
            </a:pPr>
            <a:r>
              <a:rPr sz="12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Demo: log-replayer, 12 vendors</a:t>
            </a:r>
          </a:p>
          <a:p>
            <a:pPr algn="l" marL="144780" indent="-144780">
              <a:spcAft>
                <a:spcPts val="200"/>
              </a:spcAft>
              <a:buFont typeface="Lilita One"/>
              <a:buChar char="•"/>
            </a:pPr>
            <a:r>
              <a:rPr sz="12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Fault lab: firmware change, silence, clock drift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92608" y="349300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67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92608" y="3493008"/>
            <a:ext cx="22860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Console: Log sources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990088" y="1325880"/>
            <a:ext cx="2514600" cy="2514600"/>
          </a:xfrm>
          <a:prstGeom prst="roundRect">
            <a:avLst>
              <a:gd name="adj" fmla="val 8000"/>
            </a:avLst>
          </a:prstGeom>
          <a:solidFill>
            <a:srgbClr val="C9B8E8">
              <a:alpha val="40000"/>
            </a:srgbClr>
          </a:solidFill>
          <a:ln w="28575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3054096" y="1399032"/>
            <a:ext cx="420624" cy="420624"/>
          </a:xfrm>
          <a:prstGeom prst="ellipse">
            <a:avLst/>
          </a:prstGeom>
          <a:solidFill>
            <a:srgbClr val="7030A0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054096" y="13990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2</a:t>
            </a:r>
          </a:p>
        </p:txBody>
      </p:sp>
      <p:pic>
        <p:nvPicPr>
          <p:cNvPr id="136" name="Picture 135" descr="python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010912" y="1399032"/>
            <a:ext cx="402336" cy="402336"/>
          </a:xfrm>
          <a:prstGeom prst="rect">
            <a:avLst/>
          </a:prstGeom>
        </p:spPr>
      </p:pic>
      <p:pic>
        <p:nvPicPr>
          <p:cNvPr id="137" name="Picture 136" descr="fastapi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4553712" y="1399032"/>
            <a:ext cx="402336" cy="402336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3520440" y="1371600"/>
            <a:ext cx="978407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Collector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044952" y="1874519"/>
            <a:ext cx="2423160" cy="1618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4780" indent="-144780">
              <a:spcAft>
                <a:spcPts val="200"/>
              </a:spcAft>
              <a:buFont typeface="Lilita One"/>
              <a:buChar char="•"/>
            </a:pPr>
            <a:r>
              <a:rPr sz="12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Syslog UDP/TCP 5514 (RFC 6587)</a:t>
            </a:r>
          </a:p>
          <a:p>
            <a:pPr algn="l" marL="144780" indent="-144780">
              <a:spcAft>
                <a:spcPts val="200"/>
              </a:spcAft>
              <a:buFont typeface="Lilita One"/>
              <a:buChar char="•"/>
            </a:pPr>
            <a:r>
              <a:rPr sz="12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Syslog TLS 6514</a:t>
            </a:r>
          </a:p>
          <a:p>
            <a:pPr algn="l" marL="144780" indent="-144780">
              <a:spcAft>
                <a:spcPts val="200"/>
              </a:spcAft>
              <a:buFont typeface="Lilita One"/>
              <a:buChar char="•"/>
            </a:pPr>
            <a:r>
              <a:rPr sz="12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HTTP POST /ingest (X-Source)</a:t>
            </a:r>
          </a:p>
          <a:p>
            <a:pPr algn="l" marL="144780" indent="-144780">
              <a:spcAft>
                <a:spcPts val="200"/>
              </a:spcAft>
              <a:buFont typeface="Lilita One"/>
              <a:buChar char="•"/>
            </a:pPr>
            <a:r>
              <a:rPr sz="12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Bytes queued unchanged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081528" y="3493008"/>
            <a:ext cx="2331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67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081528" y="3493008"/>
            <a:ext cx="2331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Console: Parser studio → Connect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824728" y="1325880"/>
            <a:ext cx="2194560" cy="2514600"/>
          </a:xfrm>
          <a:prstGeom prst="roundRect">
            <a:avLst>
              <a:gd name="adj" fmla="val 8000"/>
            </a:avLst>
          </a:prstGeom>
          <a:solidFill>
            <a:srgbClr val="DCE6F2">
              <a:alpha val="43000"/>
            </a:srgbClr>
          </a:solidFill>
          <a:ln w="28575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888736" y="1399032"/>
            <a:ext cx="420624" cy="420624"/>
          </a:xfrm>
          <a:prstGeom prst="ellipse">
            <a:avLst/>
          </a:prstGeom>
          <a:solidFill>
            <a:srgbClr val="1F4E7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888736" y="13990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3</a:t>
            </a:r>
          </a:p>
        </p:txBody>
      </p:sp>
      <p:pic>
        <p:nvPicPr>
          <p:cNvPr id="145" name="Picture 144" descr="redis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525511" y="1399032"/>
            <a:ext cx="402336" cy="402336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6355080" y="1371600"/>
            <a:ext cx="1115567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Queue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879592" y="1874519"/>
            <a:ext cx="2103120" cy="1618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4780" indent="-144780">
              <a:spcAft>
                <a:spcPts val="200"/>
              </a:spcAft>
              <a:buFont typeface="Lilita One"/>
              <a:buChar char="•"/>
            </a:pPr>
            <a:r>
              <a:rPr sz="12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Redis Stream ulpf:raw</a:t>
            </a:r>
          </a:p>
          <a:p>
            <a:pPr algn="l" marL="144780" indent="-144780">
              <a:spcAft>
                <a:spcPts val="200"/>
              </a:spcAft>
              <a:buFont typeface="Lilita One"/>
              <a:buChar char="•"/>
            </a:pPr>
            <a:r>
              <a:rPr sz="12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Consumer group, AOF</a:t>
            </a:r>
          </a:p>
          <a:p>
            <a:pPr algn="l" marL="144780" indent="-144780">
              <a:spcAft>
                <a:spcPts val="200"/>
              </a:spcAft>
              <a:buFont typeface="Lilita One"/>
              <a:buChar char="•"/>
            </a:pPr>
            <a:r>
              <a:rPr sz="12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Dead worker's events reclaimed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5916168" y="3493008"/>
            <a:ext cx="201167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67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916168" y="3493008"/>
            <a:ext cx="2011679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Console: Log sources (in flight)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8339327" y="1325880"/>
            <a:ext cx="4526280" cy="2514600"/>
          </a:xfrm>
          <a:prstGeom prst="roundRect">
            <a:avLst>
              <a:gd name="adj" fmla="val 6000"/>
            </a:avLst>
          </a:prstGeom>
          <a:solidFill>
            <a:srgbClr val="C9B8E8">
              <a:alpha val="40000"/>
            </a:srgbClr>
          </a:solidFill>
          <a:ln w="28575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8403336" y="1399032"/>
            <a:ext cx="420624" cy="420624"/>
          </a:xfrm>
          <a:prstGeom prst="ellipse">
            <a:avLst/>
          </a:prstGeom>
          <a:solidFill>
            <a:srgbClr val="7030A0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403336" y="13990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4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869680" y="1371600"/>
            <a:ext cx="29260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Workers ×2 (stateless)</a:t>
            </a:r>
          </a:p>
        </p:txBody>
      </p:sp>
      <p:pic>
        <p:nvPicPr>
          <p:cNvPr id="154" name="Picture 153" descr="python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1951208" y="1399032"/>
            <a:ext cx="402336" cy="402336"/>
          </a:xfrm>
          <a:prstGeom prst="rect">
            <a:avLst/>
          </a:prstGeom>
        </p:spPr>
      </p:pic>
      <p:pic>
        <p:nvPicPr>
          <p:cNvPr id="155" name="Picture 154" descr="yaml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2390120" y="1399032"/>
            <a:ext cx="402336" cy="402336"/>
          </a:xfrm>
          <a:prstGeom prst="rect">
            <a:avLst/>
          </a:prstGeom>
        </p:spPr>
      </p:pic>
      <p:sp>
        <p:nvSpPr>
          <p:cNvPr id="156" name="Rounded Rectangle 155"/>
          <p:cNvSpPr/>
          <p:nvPr/>
        </p:nvSpPr>
        <p:spPr>
          <a:xfrm>
            <a:off x="8449055" y="1947672"/>
            <a:ext cx="2103120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7F7F7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494776" y="1947672"/>
            <a:ext cx="2029968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a  </a:t>
            </a:r>
            <a:r>
              <a:rPr sz="11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Append raw bytes to vault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8449055" y="2331720"/>
            <a:ext cx="2103120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7F7F7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494776" y="2331720"/>
            <a:ext cx="2029968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b  </a:t>
            </a:r>
            <a:r>
              <a:rPr sz="11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Detect format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449055" y="2715768"/>
            <a:ext cx="2103120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7F7F7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494776" y="2715768"/>
            <a:ext cx="2029968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c  </a:t>
            </a:r>
            <a:r>
              <a:rPr sz="11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Apply YAML vendor pack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8449055" y="3099815"/>
            <a:ext cx="2103120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7F7F7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494776" y="3099815"/>
            <a:ext cx="2029968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d  </a:t>
            </a:r>
            <a:r>
              <a:rPr sz="11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Fix device clock skew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0643615" y="1947672"/>
            <a:ext cx="2103120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7F7F7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689336" y="1947672"/>
            <a:ext cx="2029968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e  </a:t>
            </a:r>
            <a:r>
              <a:rPr sz="11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Map to OCSF 1.3 + unmapped{}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0643615" y="2331720"/>
            <a:ext cx="2103120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7F7F7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0689336" y="2331720"/>
            <a:ext cx="2029968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f  </a:t>
            </a:r>
            <a:r>
              <a:rPr sz="11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Lossless proof (rebuild = SHA)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0643615" y="2715768"/>
            <a:ext cx="2103120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7F7F7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689336" y="2715768"/>
            <a:ext cx="2029968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g  </a:t>
            </a:r>
            <a:r>
              <a:rPr sz="11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GeoIP + entity graph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0643615" y="3099815"/>
            <a:ext cx="2103120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7F7F7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0689336" y="3099815"/>
            <a:ext cx="2029968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h  </a:t>
            </a:r>
            <a:r>
              <a:rPr sz="11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Store, then ACK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430767" y="3493008"/>
            <a:ext cx="4343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67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430767" y="3493008"/>
            <a:ext cx="4343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Console: Event explorer (lineage, Verify lossless) · Entities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3185648" y="1325880"/>
            <a:ext cx="2423160" cy="1170432"/>
          </a:xfrm>
          <a:prstGeom prst="roundRect">
            <a:avLst>
              <a:gd name="adj" fmla="val 8000"/>
            </a:avLst>
          </a:prstGeom>
          <a:solidFill>
            <a:srgbClr val="DCE6F2">
              <a:alpha val="43000"/>
            </a:srgbClr>
          </a:solidFill>
          <a:ln w="28575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3249656" y="1399032"/>
            <a:ext cx="420624" cy="420624"/>
          </a:xfrm>
          <a:prstGeom prst="ellipse">
            <a:avLst/>
          </a:prstGeom>
          <a:solidFill>
            <a:srgbClr val="1F4E7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3249656" y="13990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5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3716000" y="1371600"/>
            <a:ext cx="137160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Raw vault</a:t>
            </a:r>
          </a:p>
        </p:txBody>
      </p:sp>
      <p:pic>
        <p:nvPicPr>
          <p:cNvPr id="178" name="Picture 177" descr="vault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5133320" y="1399032"/>
            <a:ext cx="402336" cy="402336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13240512" y="1856231"/>
            <a:ext cx="233172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38747" indent="-138747">
              <a:buFont typeface="Lilita One"/>
              <a:buChar char="•"/>
            </a:pPr>
            <a:r>
              <a:rPr sz="11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Write-once segments</a:t>
            </a:r>
          </a:p>
          <a:p>
            <a:pPr algn="l" marL="138747" indent="-138747">
              <a:buFont typeface="Lilita One"/>
              <a:buChar char="•"/>
            </a:pPr>
            <a:r>
              <a:rPr sz="11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SHA-256 + hash chain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3185648" y="2670048"/>
            <a:ext cx="2423160" cy="1170432"/>
          </a:xfrm>
          <a:prstGeom prst="roundRect">
            <a:avLst>
              <a:gd name="adj" fmla="val 8000"/>
            </a:avLst>
          </a:prstGeom>
          <a:solidFill>
            <a:srgbClr val="DCE6F2">
              <a:alpha val="43000"/>
            </a:srgbClr>
          </a:solidFill>
          <a:ln w="28575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3277088" y="2715768"/>
            <a:ext cx="17373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PostgreSQL</a:t>
            </a:r>
          </a:p>
        </p:txBody>
      </p:sp>
      <p:pic>
        <p:nvPicPr>
          <p:cNvPr id="182" name="Picture 181" descr="postgresql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5133320" y="2743200"/>
            <a:ext cx="402336" cy="402336"/>
          </a:xfrm>
          <a:prstGeom prst="rect">
            <a:avLst/>
          </a:prstGeom>
        </p:spPr>
      </p:pic>
      <p:sp>
        <p:nvSpPr>
          <p:cNvPr id="183" name="TextBox 182"/>
          <p:cNvSpPr txBox="1"/>
          <p:nvPr/>
        </p:nvSpPr>
        <p:spPr>
          <a:xfrm>
            <a:off x="13240512" y="3172968"/>
            <a:ext cx="233172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38747" indent="-138747">
              <a:buFont typeface="Lilita One"/>
              <a:buChar char="•"/>
            </a:pPr>
            <a:r>
              <a:rPr sz="11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OCSF events, sources, packs</a:t>
            </a:r>
          </a:p>
          <a:p>
            <a:pPr algn="l" marL="138747" indent="-138747">
              <a:buFont typeface="Lilita One"/>
              <a:buChar char="•"/>
            </a:pPr>
            <a:r>
              <a:rPr sz="11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Quality, incidents, audit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15928848" y="1325880"/>
            <a:ext cx="2157984" cy="2514600"/>
          </a:xfrm>
          <a:prstGeom prst="roundRect">
            <a:avLst>
              <a:gd name="adj" fmla="val 8000"/>
            </a:avLst>
          </a:prstGeom>
          <a:solidFill>
            <a:srgbClr val="C6E8C9">
              <a:alpha val="55000"/>
            </a:srgbClr>
          </a:solidFill>
          <a:ln w="28575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5992856" y="1399032"/>
            <a:ext cx="420624" cy="420624"/>
          </a:xfrm>
          <a:prstGeom prst="ellipse">
            <a:avLst/>
          </a:prstGeom>
          <a:solidFill>
            <a:srgbClr val="38761D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5992856" y="13990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6</a:t>
            </a:r>
          </a:p>
        </p:txBody>
      </p:sp>
      <p:pic>
        <p:nvPicPr>
          <p:cNvPr id="187" name="Picture 186" descr="parquet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7593056" y="1399032"/>
            <a:ext cx="402336" cy="402336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16459200" y="1371600"/>
            <a:ext cx="1078992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Exporter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5983712" y="1874519"/>
            <a:ext cx="2066543" cy="1618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38747" indent="-138747">
              <a:spcAft>
                <a:spcPts val="200"/>
              </a:spcAft>
              <a:buFont typeface="Lilita One"/>
              <a:buChar char="•"/>
            </a:pPr>
            <a:r>
              <a:rPr sz="11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Reads events in commit order</a:t>
            </a:r>
          </a:p>
          <a:p>
            <a:pPr algn="l" marL="138747" indent="-138747">
              <a:spcAft>
                <a:spcPts val="200"/>
              </a:spcAft>
              <a:buFont typeface="Lilita One"/>
              <a:buChar char="•"/>
            </a:pPr>
            <a:r>
              <a:rPr sz="11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Full stream → lake</a:t>
            </a:r>
          </a:p>
          <a:p>
            <a:pPr algn="l" marL="138747" indent="-138747">
              <a:spcAft>
                <a:spcPts val="200"/>
              </a:spcAft>
              <a:buFont typeface="Lilita One"/>
              <a:buChar char="•"/>
            </a:pPr>
            <a:r>
              <a:rPr sz="11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SIEM tier: slim records + summaries</a:t>
            </a:r>
          </a:p>
          <a:p>
            <a:pPr algn="l" marL="138747" indent="-138747">
              <a:spcAft>
                <a:spcPts val="200"/>
              </a:spcAft>
              <a:buFont typeface="Lilita One"/>
              <a:buChar char="•"/>
            </a:pPr>
            <a:r>
              <a:rPr sz="11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DPDP tokens on export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16020288" y="3493008"/>
            <a:ext cx="197510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67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6020288" y="3493008"/>
            <a:ext cx="1975103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Console: Outputs &amp; cost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2688336" y="2423160"/>
            <a:ext cx="283464" cy="0"/>
          </a:xfrm>
          <a:prstGeom prst="line">
            <a:avLst/>
          </a:prstGeom>
          <a:ln w="3810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5522975" y="2423160"/>
            <a:ext cx="283465" cy="0"/>
          </a:xfrm>
          <a:prstGeom prst="line">
            <a:avLst/>
          </a:prstGeom>
          <a:ln w="3810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8037575" y="2423160"/>
            <a:ext cx="283465" cy="0"/>
          </a:xfrm>
          <a:prstGeom prst="line">
            <a:avLst/>
          </a:prstGeom>
          <a:ln w="3810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12883896" y="1911095"/>
            <a:ext cx="283464" cy="0"/>
          </a:xfrm>
          <a:prstGeom prst="line">
            <a:avLst/>
          </a:prstGeom>
          <a:ln w="3810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12883896" y="3246120"/>
            <a:ext cx="283464" cy="0"/>
          </a:xfrm>
          <a:prstGeom prst="line">
            <a:avLst/>
          </a:prstGeom>
          <a:ln w="3810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15627096" y="3246120"/>
            <a:ext cx="283464" cy="0"/>
          </a:xfrm>
          <a:prstGeom prst="line">
            <a:avLst/>
          </a:prstGeom>
          <a:ln w="3810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/>
          <p:cNvSpPr txBox="1"/>
          <p:nvPr/>
        </p:nvSpPr>
        <p:spPr>
          <a:xfrm>
            <a:off x="12847320" y="1947672"/>
            <a:ext cx="3657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>
                <a:solidFill>
                  <a:srgbClr val="1F3864"/>
                </a:solidFill>
                <a:latin typeface="Lilita One"/>
                <a:ea typeface="Lilita One"/>
                <a:cs typeface="Lilita One"/>
                <a:sym typeface="Lilita One"/>
              </a:rPr>
              <a:t>a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2847320" y="3282696"/>
            <a:ext cx="3657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>
                <a:solidFill>
                  <a:srgbClr val="1F3864"/>
                </a:solidFill>
                <a:latin typeface="Lilita One"/>
                <a:ea typeface="Lilita One"/>
                <a:cs typeface="Lilita One"/>
                <a:sym typeface="Lilita One"/>
              </a:rPr>
              <a:t>h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8339327" y="4224528"/>
            <a:ext cx="4526280" cy="1874519"/>
          </a:xfrm>
          <a:prstGeom prst="roundRect">
            <a:avLst>
              <a:gd name="adj" fmla="val 8000"/>
            </a:avLst>
          </a:prstGeom>
          <a:solidFill>
            <a:srgbClr val="E2A9F1">
              <a:alpha val="50000"/>
            </a:srgbClr>
          </a:solidFill>
          <a:ln w="28575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403336" y="4297680"/>
            <a:ext cx="420624" cy="420624"/>
          </a:xfrm>
          <a:prstGeom prst="ellipse">
            <a:avLst/>
          </a:prstGeom>
          <a:solidFill>
            <a:srgbClr val="C00080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8403336" y="42976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7</a:t>
            </a:r>
          </a:p>
        </p:txBody>
      </p:sp>
      <p:pic>
        <p:nvPicPr>
          <p:cNvPr id="203" name="Picture 202" descr="heart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2371832" y="4297680"/>
            <a:ext cx="402336" cy="402336"/>
          </a:xfrm>
          <a:prstGeom prst="rect">
            <a:avLst/>
          </a:prstGeom>
        </p:spPr>
      </p:pic>
      <p:sp>
        <p:nvSpPr>
          <p:cNvPr id="204" name="TextBox 203"/>
          <p:cNvSpPr txBox="1"/>
          <p:nvPr/>
        </p:nvSpPr>
        <p:spPr>
          <a:xfrm>
            <a:off x="8869680" y="4270248"/>
            <a:ext cx="34472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Monitor (ulpf-monitor)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8394192" y="4773168"/>
            <a:ext cx="4434840" cy="97840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38747" indent="-138747">
              <a:spcAft>
                <a:spcPts val="200"/>
              </a:spcAft>
              <a:buFont typeface="Lilita One"/>
              <a:buChar char="•"/>
            </a:pPr>
            <a:r>
              <a:rPr sz="11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Learns each source's fill, volume, clock (20 s buckets)</a:t>
            </a:r>
          </a:p>
          <a:p>
            <a:pPr algn="l" marL="138747" indent="-138747">
              <a:spcAft>
                <a:spcPts val="200"/>
              </a:spcAft>
              <a:buFont typeface="Lilita One"/>
              <a:buChar char="•"/>
            </a:pPr>
            <a:r>
              <a:rPr sz="11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Drift → repair → shadow test → 9 rules → promote → verify</a:t>
            </a:r>
          </a:p>
          <a:p>
            <a:pPr algn="l" marL="138747" indent="-138747">
              <a:spcAft>
                <a:spcPts val="200"/>
              </a:spcAft>
              <a:buFont typeface="Lilita One"/>
              <a:buChar char="•"/>
            </a:pPr>
            <a:r>
              <a:rPr sz="11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Rolls back on failure · re-normalizes history from the vault</a:t>
            </a:r>
          </a:p>
          <a:p>
            <a:pPr algn="l" marL="138747" indent="-138747">
              <a:spcAft>
                <a:spcPts val="200"/>
              </a:spcAft>
              <a:buFont typeface="Lilita One"/>
              <a:buChar char="•"/>
            </a:pPr>
            <a:r>
              <a:rPr sz="11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Restarts crashed workers (Docker), zero events lost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8430767" y="5751576"/>
            <a:ext cx="4343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67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8430767" y="5751576"/>
            <a:ext cx="4343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Console: Pipeline health · Fault lab · Parser packs</a:t>
            </a:r>
          </a:p>
        </p:txBody>
      </p:sp>
      <p:cxnSp>
        <p:nvCxnSpPr>
          <p:cNvPr id="208" name="Connector 207"/>
          <p:cNvCxnSpPr/>
          <p:nvPr/>
        </p:nvCxnSpPr>
        <p:spPr>
          <a:xfrm flipH="1">
            <a:off x="12883896" y="3858768"/>
            <a:ext cx="850392" cy="1005840"/>
          </a:xfrm>
          <a:prstGeom prst="line">
            <a:avLst/>
          </a:prstGeom>
          <a:ln w="28575">
            <a:solidFill>
              <a:srgbClr val="C00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10058400" y="3858768"/>
            <a:ext cx="0" cy="347472"/>
          </a:xfrm>
          <a:prstGeom prst="line">
            <a:avLst/>
          </a:prstGeom>
          <a:ln w="28575">
            <a:solidFill>
              <a:srgbClr val="C00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10131552" y="3913632"/>
            <a:ext cx="237744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>
                <a:solidFill>
                  <a:srgbClr val="C00080"/>
                </a:solidFill>
                <a:latin typeface="Lilita One"/>
                <a:ea typeface="Lilita One"/>
                <a:cs typeface="Lilita One"/>
                <a:sym typeface="Lilita One"/>
              </a:rPr>
              <a:t>promoted pack, hot reload ≤10 s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3368528" y="4251960"/>
            <a:ext cx="100584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>
                <a:solidFill>
                  <a:srgbClr val="C00080"/>
                </a:solidFill>
                <a:latin typeface="Lilita One"/>
                <a:ea typeface="Lilita One"/>
                <a:cs typeface="Lilita One"/>
                <a:sym typeface="Lilita One"/>
              </a:rPr>
              <a:t>quality series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15928848" y="4224528"/>
            <a:ext cx="2157984" cy="3538727"/>
          </a:xfrm>
          <a:prstGeom prst="roundRect">
            <a:avLst>
              <a:gd name="adj" fmla="val 8000"/>
            </a:avLst>
          </a:prstGeom>
          <a:solidFill>
            <a:srgbClr val="C6E8C9">
              <a:alpha val="55000"/>
            </a:srgbClr>
          </a:solidFill>
          <a:ln w="28575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5992856" y="4297680"/>
            <a:ext cx="420624" cy="420624"/>
          </a:xfrm>
          <a:prstGeom prst="ellipse">
            <a:avLst/>
          </a:prstGeom>
          <a:solidFill>
            <a:srgbClr val="38761D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5992856" y="42976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8</a:t>
            </a:r>
          </a:p>
        </p:txBody>
      </p:sp>
      <p:pic>
        <p:nvPicPr>
          <p:cNvPr id="215" name="Picture 214" descr="minio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7593056" y="4297680"/>
            <a:ext cx="402336" cy="402336"/>
          </a:xfrm>
          <a:prstGeom prst="rect">
            <a:avLst/>
          </a:prstGeom>
        </p:spPr>
      </p:pic>
      <p:sp>
        <p:nvSpPr>
          <p:cNvPr id="216" name="TextBox 215"/>
          <p:cNvSpPr txBox="1"/>
          <p:nvPr/>
        </p:nvSpPr>
        <p:spPr>
          <a:xfrm>
            <a:off x="16459200" y="4270248"/>
            <a:ext cx="1078992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Sinks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5983712" y="4773168"/>
            <a:ext cx="2066543" cy="264261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38747" indent="-138747">
              <a:spcAft>
                <a:spcPts val="200"/>
              </a:spcAft>
              <a:buFont typeface="Lilita One"/>
              <a:buChar char="•"/>
            </a:pPr>
            <a:r>
              <a:rPr sz="11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data-lake: Parquet on MinIO (S3), every event</a:t>
            </a:r>
          </a:p>
          <a:p>
            <a:pPr algn="l" marL="138747" indent="-138747">
              <a:spcAft>
                <a:spcPts val="200"/>
              </a:spcAft>
              <a:buFont typeface="Lilita One"/>
              <a:buChar char="•"/>
            </a:pPr>
            <a:r>
              <a:rPr sz="11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siem-tier: JSONL, slim + summaries</a:t>
            </a:r>
          </a:p>
          <a:p>
            <a:pPr algn="l" marL="138747" indent="-138747">
              <a:spcAft>
                <a:spcPts val="200"/>
              </a:spcAft>
              <a:buFont typeface="Lilita One"/>
              <a:buChar char="•"/>
            </a:pPr>
            <a:r>
              <a:rPr sz="11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Ready, off by default: Splunk HEC, CEF syslog, OpenSearch, Kafka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16020288" y="7415783"/>
            <a:ext cx="197510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67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6020288" y="7415783"/>
            <a:ext cx="1975103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Console: Outputs &amp; cost</a:t>
            </a:r>
          </a:p>
        </p:txBody>
      </p:sp>
      <p:cxnSp>
        <p:nvCxnSpPr>
          <p:cNvPr id="220" name="Connector 219"/>
          <p:cNvCxnSpPr/>
          <p:nvPr/>
        </p:nvCxnSpPr>
        <p:spPr>
          <a:xfrm>
            <a:off x="17007840" y="3858768"/>
            <a:ext cx="0" cy="347472"/>
          </a:xfrm>
          <a:prstGeom prst="line">
            <a:avLst/>
          </a:prstGeom>
          <a:ln w="38100">
            <a:solidFill>
              <a:srgbClr val="3876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1" name="Picture 220" descr="parquet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6504920" y="6949440"/>
            <a:ext cx="457200" cy="457200"/>
          </a:xfrm>
          <a:prstGeom prst="rect">
            <a:avLst/>
          </a:prstGeom>
        </p:spPr>
      </p:pic>
      <p:pic>
        <p:nvPicPr>
          <p:cNvPr id="222" name="Picture 221" descr="splunk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7007840" y="6949440"/>
            <a:ext cx="457200" cy="457200"/>
          </a:xfrm>
          <a:prstGeom prst="rect">
            <a:avLst/>
          </a:prstGeom>
        </p:spPr>
      </p:pic>
      <p:sp>
        <p:nvSpPr>
          <p:cNvPr id="223" name="Rounded Rectangle 222"/>
          <p:cNvSpPr/>
          <p:nvPr/>
        </p:nvSpPr>
        <p:spPr>
          <a:xfrm>
            <a:off x="13185648" y="5001768"/>
            <a:ext cx="2423160" cy="2761487"/>
          </a:xfrm>
          <a:prstGeom prst="roundRect">
            <a:avLst>
              <a:gd name="adj" fmla="val 8000"/>
            </a:avLst>
          </a:prstGeom>
          <a:solidFill>
            <a:srgbClr val="DCE6F2">
              <a:alpha val="43000"/>
            </a:srgbClr>
          </a:solidFill>
          <a:ln w="28575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3249656" y="5074920"/>
            <a:ext cx="420624" cy="420624"/>
          </a:xfrm>
          <a:prstGeom prst="ellipse">
            <a:avLst/>
          </a:prstGeom>
          <a:solidFill>
            <a:srgbClr val="1F4E7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3249656" y="50749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9</a:t>
            </a:r>
          </a:p>
        </p:txBody>
      </p:sp>
      <p:pic>
        <p:nvPicPr>
          <p:cNvPr id="226" name="Picture 225" descr="fastapi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5115032" y="5074920"/>
            <a:ext cx="402336" cy="402336"/>
          </a:xfrm>
          <a:prstGeom prst="rect">
            <a:avLst/>
          </a:prstGeom>
        </p:spPr>
      </p:pic>
      <p:sp>
        <p:nvSpPr>
          <p:cNvPr id="227" name="TextBox 226"/>
          <p:cNvSpPr txBox="1"/>
          <p:nvPr/>
        </p:nvSpPr>
        <p:spPr>
          <a:xfrm>
            <a:off x="13716000" y="5047488"/>
            <a:ext cx="134416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ULPF API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3240512" y="5550407"/>
            <a:ext cx="2331720" cy="21945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38747" indent="-138747">
              <a:spcAft>
                <a:spcPts val="200"/>
              </a:spcAft>
              <a:buFont typeface="Lilita One"/>
              <a:buChar char="•"/>
            </a:pPr>
            <a:r>
              <a:rPr sz="11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FastAPI :8090</a:t>
            </a:r>
          </a:p>
          <a:p>
            <a:pPr algn="l" marL="138747" indent="-138747">
              <a:spcAft>
                <a:spcPts val="200"/>
              </a:spcAft>
              <a:buFont typeface="Lilita One"/>
              <a:buChar char="•"/>
            </a:pPr>
            <a:r>
              <a:rPr sz="11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Stats, events, verify, packs, studio, incidents, scenarios</a:t>
            </a:r>
          </a:p>
        </p:txBody>
      </p:sp>
      <p:cxnSp>
        <p:nvCxnSpPr>
          <p:cNvPr id="229" name="Connector 228"/>
          <p:cNvCxnSpPr/>
          <p:nvPr/>
        </p:nvCxnSpPr>
        <p:spPr>
          <a:xfrm>
            <a:off x="14401800" y="3858768"/>
            <a:ext cx="0" cy="1124712"/>
          </a:xfrm>
          <a:prstGeom prst="line">
            <a:avLst/>
          </a:prstGeom>
          <a:ln w="285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Rounded Rectangle 229"/>
          <p:cNvSpPr/>
          <p:nvPr/>
        </p:nvSpPr>
        <p:spPr>
          <a:xfrm>
            <a:off x="8339327" y="6446520"/>
            <a:ext cx="4526280" cy="1298448"/>
          </a:xfrm>
          <a:prstGeom prst="roundRect">
            <a:avLst>
              <a:gd name="adj" fmla="val 8000"/>
            </a:avLst>
          </a:prstGeom>
          <a:solidFill>
            <a:srgbClr val="DCE6F2">
              <a:alpha val="43000"/>
            </a:srgbClr>
          </a:solidFill>
          <a:ln w="28575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8403336" y="6519672"/>
            <a:ext cx="420624" cy="420624"/>
          </a:xfrm>
          <a:prstGeom prst="ellipse">
            <a:avLst/>
          </a:prstGeom>
          <a:solidFill>
            <a:srgbClr val="1F4E7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8403336" y="65196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10</a:t>
            </a:r>
          </a:p>
        </p:txBody>
      </p:sp>
      <p:pic>
        <p:nvPicPr>
          <p:cNvPr id="233" name="Picture 232" descr="spring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2371832" y="6519672"/>
            <a:ext cx="402336" cy="402336"/>
          </a:xfrm>
          <a:prstGeom prst="rect">
            <a:avLst/>
          </a:prstGeom>
        </p:spPr>
      </p:pic>
      <p:sp>
        <p:nvSpPr>
          <p:cNvPr id="234" name="TextBox 233"/>
          <p:cNvSpPr txBox="1"/>
          <p:nvPr/>
        </p:nvSpPr>
        <p:spPr>
          <a:xfrm>
            <a:off x="8869680" y="6492240"/>
            <a:ext cx="344728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API gateway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8394192" y="6995159"/>
            <a:ext cx="4434840" cy="7315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38747" indent="-138747">
              <a:spcAft>
                <a:spcPts val="200"/>
              </a:spcAft>
              <a:buFont typeface="Lilita One"/>
              <a:buChar char="•"/>
            </a:pPr>
            <a:r>
              <a:rPr sz="11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Spring Boot proxy /api/ulpf/** → ULPF API</a:t>
            </a:r>
          </a:p>
          <a:p>
            <a:pPr algn="l" marL="138747" indent="-138747">
              <a:spcAft>
                <a:spcPts val="200"/>
              </a:spcAft>
              <a:buFont typeface="Lilita One"/>
              <a:buChar char="•"/>
            </a:pPr>
            <a:r>
              <a:rPr sz="11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One origin for the console</a:t>
            </a:r>
          </a:p>
        </p:txBody>
      </p:sp>
      <p:cxnSp>
        <p:nvCxnSpPr>
          <p:cNvPr id="236" name="Connector 235"/>
          <p:cNvCxnSpPr/>
          <p:nvPr/>
        </p:nvCxnSpPr>
        <p:spPr>
          <a:xfrm flipH="1">
            <a:off x="12883896" y="7086600"/>
            <a:ext cx="283464" cy="0"/>
          </a:xfrm>
          <a:prstGeom prst="line">
            <a:avLst/>
          </a:prstGeom>
          <a:ln w="285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Rounded Rectangle 236"/>
          <p:cNvSpPr/>
          <p:nvPr/>
        </p:nvSpPr>
        <p:spPr>
          <a:xfrm>
            <a:off x="201168" y="4224528"/>
            <a:ext cx="7818120" cy="3538727"/>
          </a:xfrm>
          <a:prstGeom prst="roundRect">
            <a:avLst>
              <a:gd name="adj" fmla="val 4000"/>
            </a:avLst>
          </a:prstGeom>
          <a:solidFill>
            <a:srgbClr val="E2A9F1">
              <a:alpha val="45000"/>
            </a:srgbClr>
          </a:solidFill>
          <a:ln w="28575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265176" y="4297680"/>
            <a:ext cx="420624" cy="420624"/>
          </a:xfrm>
          <a:prstGeom prst="ellipse">
            <a:avLst/>
          </a:prstGeom>
          <a:solidFill>
            <a:srgbClr val="C00080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265176" y="42976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1519" y="4270248"/>
            <a:ext cx="5486400" cy="47548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14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SchemaOps console (React + Vite, nginx :3000)</a:t>
            </a:r>
          </a:p>
        </p:txBody>
      </p:sp>
      <p:pic>
        <p:nvPicPr>
          <p:cNvPr id="241" name="Picture 240" descr="react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7516368" y="4297680"/>
            <a:ext cx="402336" cy="402336"/>
          </a:xfrm>
          <a:prstGeom prst="rect">
            <a:avLst/>
          </a:prstGeom>
        </p:spPr>
      </p:pic>
      <p:sp>
        <p:nvSpPr>
          <p:cNvPr id="242" name="Rounded Rectangle 241"/>
          <p:cNvSpPr/>
          <p:nvPr/>
        </p:nvSpPr>
        <p:spPr>
          <a:xfrm>
            <a:off x="310896" y="4791456"/>
            <a:ext cx="373075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365759" y="4791456"/>
            <a:ext cx="365760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Log sources</a:t>
            </a:r>
            <a:r>
              <a:rPr sz="10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  sources, conservation, vault check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3438144" y="4791456"/>
            <a:ext cx="54864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1·3·5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4151376" y="4791456"/>
            <a:ext cx="373075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4206240" y="4791456"/>
            <a:ext cx="365760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Event explorer</a:t>
            </a:r>
            <a:r>
              <a:rPr sz="10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  raw ↔ OCSF lineage, Verify lossless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7278624" y="4791456"/>
            <a:ext cx="54864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4·5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310896" y="5276088"/>
            <a:ext cx="373075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365759" y="5276088"/>
            <a:ext cx="365760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Parser studio</a:t>
            </a:r>
            <a:r>
              <a:rPr sz="10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  connect a device, samples → pack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3438144" y="5276088"/>
            <a:ext cx="54864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2·4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4151376" y="5276088"/>
            <a:ext cx="373075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4206240" y="5276088"/>
            <a:ext cx="365760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Parser packs</a:t>
            </a:r>
            <a:r>
              <a:rPr sz="10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  versions and YAML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7278624" y="5276088"/>
            <a:ext cx="54864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4·7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310896" y="5760720"/>
            <a:ext cx="373075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365759" y="5760720"/>
            <a:ext cx="365760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Pipeline health</a:t>
            </a:r>
            <a:r>
              <a:rPr sz="10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  baselines, incidents, Fault lab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3438144" y="5760720"/>
            <a:ext cx="54864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7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4151376" y="5760720"/>
            <a:ext cx="373075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4206240" y="5760720"/>
            <a:ext cx="365760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Entities</a:t>
            </a:r>
            <a:r>
              <a:rPr sz="10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  ip / host / mac / user graph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7278624" y="5760720"/>
            <a:ext cx="54864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4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310896" y="6245352"/>
            <a:ext cx="373075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365759" y="6245352"/>
            <a:ext cx="365760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Detections</a:t>
            </a:r>
            <a:r>
              <a:rPr sz="10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  Sigma rules on OCSF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3438144" y="6245352"/>
            <a:ext cx="54864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4·5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4151376" y="6245352"/>
            <a:ext cx="373075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4206240" y="6245352"/>
            <a:ext cx="365760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Outputs &amp; cost</a:t>
            </a:r>
            <a:r>
              <a:rPr sz="10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  sinks, SIEM bytes, ₹ saved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7278624" y="6245352"/>
            <a:ext cx="54864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6·8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310896" y="6729984"/>
            <a:ext cx="373075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365759" y="6729984"/>
            <a:ext cx="365760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Privacy</a:t>
            </a:r>
            <a:r>
              <a:rPr sz="10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  tokens, audited reveal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3438144" y="6729984"/>
            <a:ext cx="54864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6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4151376" y="6729984"/>
            <a:ext cx="373075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4206240" y="6729984"/>
            <a:ext cx="365760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Compliance</a:t>
            </a:r>
            <a:r>
              <a:rPr sz="10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  CERT-In checks, signed bundles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7278624" y="6729984"/>
            <a:ext cx="54864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5·7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310896" y="7214616"/>
            <a:ext cx="3730752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365759" y="7214616"/>
            <a:ext cx="365760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Benchmarks</a:t>
            </a:r>
            <a:r>
              <a:rPr sz="10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  measured events/s per worker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3438144" y="7214616"/>
            <a:ext cx="54864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4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4151376" y="7214616"/>
            <a:ext cx="365760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orange numbers = components the page reads</a:t>
            </a:r>
          </a:p>
        </p:txBody>
      </p:sp>
      <p:cxnSp>
        <p:nvCxnSpPr>
          <p:cNvPr id="276" name="Connector 275"/>
          <p:cNvCxnSpPr/>
          <p:nvPr/>
        </p:nvCxnSpPr>
        <p:spPr>
          <a:xfrm flipH="1">
            <a:off x="8037576" y="7086600"/>
            <a:ext cx="283464" cy="0"/>
          </a:xfrm>
          <a:prstGeom prst="line">
            <a:avLst/>
          </a:prstGeom>
          <a:ln w="285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Rounded Rectangle 276"/>
          <p:cNvSpPr/>
          <p:nvPr/>
        </p:nvSpPr>
        <p:spPr>
          <a:xfrm>
            <a:off x="201168" y="8211312"/>
            <a:ext cx="17885664" cy="1645920"/>
          </a:xfrm>
          <a:prstGeom prst="roundRect">
            <a:avLst>
              <a:gd name="adj" fmla="val 5000"/>
            </a:avLst>
          </a:prstGeom>
          <a:solidFill>
            <a:srgbClr val="5CE1E6">
              <a:alpha val="4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292608" y="8046720"/>
            <a:ext cx="23317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292608" y="8046720"/>
            <a:ext cx="233172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KEY TECHNOLOGIES</a:t>
            </a:r>
          </a:p>
        </p:txBody>
      </p:sp>
      <p:pic>
        <p:nvPicPr>
          <p:cNvPr id="280" name="Picture 279" descr="python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938784" y="8476488"/>
            <a:ext cx="512064" cy="512064"/>
          </a:xfrm>
          <a:prstGeom prst="rect">
            <a:avLst/>
          </a:prstGeom>
        </p:spPr>
      </p:pic>
      <p:sp>
        <p:nvSpPr>
          <p:cNvPr id="281" name="TextBox 280"/>
          <p:cNvSpPr txBox="1"/>
          <p:nvPr/>
        </p:nvSpPr>
        <p:spPr>
          <a:xfrm>
            <a:off x="201168" y="9015984"/>
            <a:ext cx="1987296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Python 3.12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201168" y="9345168"/>
            <a:ext cx="1987296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001F4D"/>
                </a:solidFill>
                <a:latin typeface="Lilita One"/>
                <a:ea typeface="Lilita One"/>
                <a:cs typeface="Lilita One"/>
                <a:sym typeface="Lilita One"/>
              </a:rPr>
              <a:t>parsers, workers, monitor</a:t>
            </a:r>
          </a:p>
        </p:txBody>
      </p:sp>
      <p:pic>
        <p:nvPicPr>
          <p:cNvPr id="283" name="Picture 282" descr="fastapi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2926080" y="8476488"/>
            <a:ext cx="512064" cy="512064"/>
          </a:xfrm>
          <a:prstGeom prst="rect">
            <a:avLst/>
          </a:prstGeom>
        </p:spPr>
      </p:pic>
      <p:sp>
        <p:nvSpPr>
          <p:cNvPr id="284" name="TextBox 283"/>
          <p:cNvSpPr txBox="1"/>
          <p:nvPr/>
        </p:nvSpPr>
        <p:spPr>
          <a:xfrm>
            <a:off x="2188464" y="9015984"/>
            <a:ext cx="1987296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FastAPI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2188464" y="9345168"/>
            <a:ext cx="1987296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001F4D"/>
                </a:solidFill>
                <a:latin typeface="Lilita One"/>
                <a:ea typeface="Lilita One"/>
                <a:cs typeface="Lilita One"/>
                <a:sym typeface="Lilita One"/>
              </a:rPr>
              <a:t>collector + ULPF API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2183892" y="8458200"/>
            <a:ext cx="9144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7" name="Picture 286" descr="redis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4913376" y="8476488"/>
            <a:ext cx="512064" cy="512064"/>
          </a:xfrm>
          <a:prstGeom prst="rect">
            <a:avLst/>
          </a:prstGeom>
        </p:spPr>
      </p:pic>
      <p:sp>
        <p:nvSpPr>
          <p:cNvPr id="288" name="TextBox 287"/>
          <p:cNvSpPr txBox="1"/>
          <p:nvPr/>
        </p:nvSpPr>
        <p:spPr>
          <a:xfrm>
            <a:off x="4175760" y="9015984"/>
            <a:ext cx="1987296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Redis Streams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175760" y="9345168"/>
            <a:ext cx="1987296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001F4D"/>
                </a:solidFill>
                <a:latin typeface="Lilita One"/>
                <a:ea typeface="Lilita One"/>
                <a:cs typeface="Lilita One"/>
                <a:sym typeface="Lilita One"/>
              </a:rPr>
              <a:t>durable queue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4171188" y="8458200"/>
            <a:ext cx="9144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1" name="Picture 290" descr="postgresql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6900671" y="8476488"/>
            <a:ext cx="512064" cy="512064"/>
          </a:xfrm>
          <a:prstGeom prst="rect">
            <a:avLst/>
          </a:prstGeom>
        </p:spPr>
      </p:pic>
      <p:sp>
        <p:nvSpPr>
          <p:cNvPr id="292" name="TextBox 291"/>
          <p:cNvSpPr txBox="1"/>
          <p:nvPr/>
        </p:nvSpPr>
        <p:spPr>
          <a:xfrm>
            <a:off x="6163055" y="9015984"/>
            <a:ext cx="1987296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PostgreSQL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6163055" y="9345168"/>
            <a:ext cx="1987296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001F4D"/>
                </a:solidFill>
                <a:latin typeface="Lilita One"/>
                <a:ea typeface="Lilita One"/>
                <a:cs typeface="Lilita One"/>
                <a:sym typeface="Lilita One"/>
              </a:rPr>
              <a:t>OCSF events, incidents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6158483" y="8458200"/>
            <a:ext cx="9144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5" name="Picture 294" descr="minio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8613648" y="8476488"/>
            <a:ext cx="493776" cy="493776"/>
          </a:xfrm>
          <a:prstGeom prst="rect">
            <a:avLst/>
          </a:prstGeom>
        </p:spPr>
      </p:pic>
      <p:pic>
        <p:nvPicPr>
          <p:cNvPr id="296" name="Picture 295" descr="parquet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180576" y="8476488"/>
            <a:ext cx="493776" cy="493776"/>
          </a:xfrm>
          <a:prstGeom prst="rect">
            <a:avLst/>
          </a:prstGeom>
        </p:spPr>
      </p:pic>
      <p:sp>
        <p:nvSpPr>
          <p:cNvPr id="297" name="TextBox 296"/>
          <p:cNvSpPr txBox="1"/>
          <p:nvPr/>
        </p:nvSpPr>
        <p:spPr>
          <a:xfrm>
            <a:off x="8150352" y="9015984"/>
            <a:ext cx="1987296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MinIO + Parquet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8150352" y="9345168"/>
            <a:ext cx="1987296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001F4D"/>
                </a:solidFill>
                <a:latin typeface="Lilita One"/>
                <a:ea typeface="Lilita One"/>
                <a:cs typeface="Lilita One"/>
                <a:sym typeface="Lilita One"/>
              </a:rPr>
              <a:t>data lake (S3, pyarrow)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8145780" y="8458200"/>
            <a:ext cx="9144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0" name="Picture 299" descr="yaml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0875264" y="8476488"/>
            <a:ext cx="512064" cy="512064"/>
          </a:xfrm>
          <a:prstGeom prst="rect">
            <a:avLst/>
          </a:prstGeom>
        </p:spPr>
      </p:pic>
      <p:sp>
        <p:nvSpPr>
          <p:cNvPr id="301" name="TextBox 300"/>
          <p:cNvSpPr txBox="1"/>
          <p:nvPr/>
        </p:nvSpPr>
        <p:spPr>
          <a:xfrm>
            <a:off x="10137648" y="9015984"/>
            <a:ext cx="1987296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YAML + Drain3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0137648" y="9345168"/>
            <a:ext cx="1987296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001F4D"/>
                </a:solidFill>
                <a:latin typeface="Lilita One"/>
                <a:ea typeface="Lilita One"/>
                <a:cs typeface="Lilita One"/>
                <a:sym typeface="Lilita One"/>
              </a:rPr>
              <a:t>vendor packs, onboarding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10133076" y="8458200"/>
            <a:ext cx="9144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4" name="Picture 303" descr="spring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2862560" y="8476488"/>
            <a:ext cx="512064" cy="512064"/>
          </a:xfrm>
          <a:prstGeom prst="rect">
            <a:avLst/>
          </a:prstGeom>
        </p:spPr>
      </p:pic>
      <p:sp>
        <p:nvSpPr>
          <p:cNvPr id="305" name="TextBox 304"/>
          <p:cNvSpPr txBox="1"/>
          <p:nvPr/>
        </p:nvSpPr>
        <p:spPr>
          <a:xfrm>
            <a:off x="12124944" y="9015984"/>
            <a:ext cx="1987296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Spring Boot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2124944" y="9345168"/>
            <a:ext cx="1987296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001F4D"/>
                </a:solidFill>
                <a:latin typeface="Lilita One"/>
                <a:ea typeface="Lilita One"/>
                <a:cs typeface="Lilita One"/>
                <a:sym typeface="Lilita One"/>
              </a:rPr>
              <a:t>API gateway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2120372" y="8458200"/>
            <a:ext cx="9144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8" name="Picture 307" descr="react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4849855" y="8476488"/>
            <a:ext cx="512064" cy="512064"/>
          </a:xfrm>
          <a:prstGeom prst="rect">
            <a:avLst/>
          </a:prstGeom>
        </p:spPr>
      </p:pic>
      <p:sp>
        <p:nvSpPr>
          <p:cNvPr id="309" name="TextBox 308"/>
          <p:cNvSpPr txBox="1"/>
          <p:nvPr/>
        </p:nvSpPr>
        <p:spPr>
          <a:xfrm>
            <a:off x="14112240" y="9015984"/>
            <a:ext cx="1987296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React + Vite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4112240" y="9345168"/>
            <a:ext cx="1987296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001F4D"/>
                </a:solidFill>
                <a:latin typeface="Lilita One"/>
                <a:ea typeface="Lilita One"/>
                <a:cs typeface="Lilita One"/>
                <a:sym typeface="Lilita One"/>
              </a:rPr>
              <a:t>SchemaOps console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4107668" y="8458200"/>
            <a:ext cx="9144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2" name="Picture 311" descr="docker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6837151" y="8476488"/>
            <a:ext cx="512064" cy="512064"/>
          </a:xfrm>
          <a:prstGeom prst="rect">
            <a:avLst/>
          </a:prstGeom>
        </p:spPr>
      </p:pic>
      <p:sp>
        <p:nvSpPr>
          <p:cNvPr id="313" name="TextBox 312"/>
          <p:cNvSpPr txBox="1"/>
          <p:nvPr/>
        </p:nvSpPr>
        <p:spPr>
          <a:xfrm>
            <a:off x="16099535" y="9015984"/>
            <a:ext cx="1987296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Docker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6099535" y="9345168"/>
            <a:ext cx="1987296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001F4D"/>
                </a:solidFill>
                <a:latin typeface="Lilita One"/>
                <a:ea typeface="Lilita One"/>
                <a:cs typeface="Lilita One"/>
                <a:sym typeface="Lilita One"/>
              </a:rPr>
              <a:t>Compose, Docker Hub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16094964" y="8458200"/>
            <a:ext cx="9144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name="Group 66" id="66"/>
          <p:cNvGrpSpPr/>
          <p:nvPr/>
        </p:nvGrpSpPr>
        <p:grpSpPr>
          <a:xfrm rot="0">
            <a:off x="0" y="9961110"/>
            <a:ext cx="18288000" cy="325890"/>
            <a:chOff x="0" y="0"/>
            <a:chExt cx="24384000" cy="43451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4384000" cy="434519"/>
            </a:xfrm>
            <a:custGeom>
              <a:avLst/>
              <a:gdLst/>
              <a:ahLst/>
              <a:cxnLst/>
              <a:rect r="r" b="b" t="t" l="l"/>
              <a:pathLst>
                <a:path h="43451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34519"/>
                  </a:lnTo>
                  <a:lnTo>
                    <a:pt x="0" y="434519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122" id="122"/>
          <p:cNvSpPr txBox="true"/>
          <p:nvPr/>
        </p:nvSpPr>
        <p:spPr>
          <a:xfrm rot="0">
            <a:off x="17938104" y="9891813"/>
            <a:ext cx="120729" cy="36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700" y="116854"/>
            <a:ext cx="1695941" cy="1105703"/>
            <a:chOff x="0" y="0"/>
            <a:chExt cx="2554516" cy="1665468"/>
          </a:xfrm>
        </p:grpSpPr>
        <p:sp>
          <p:nvSpPr>
            <p:cNvPr name="Freeform 3" id="3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554516" cy="166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sz="2400">
                  <a:solidFill>
                    <a:srgbClr val="000000"/>
                  </a:solidFill>
                  <a:latin typeface="Lilita One"/>
                  <a:ea typeface="Lilita One"/>
                  <a:cs typeface="Lilita One"/>
                  <a:sym typeface="Lilita One"/>
                </a:rPr>
                <a:t>CODE BANDITS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935547" y="0"/>
            <a:ext cx="2352453" cy="1110783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81" name="Title"/>
          <p:cNvSpPr txBox="1"/>
          <p:nvPr/>
        </p:nvSpPr>
        <p:spPr>
          <a:xfrm>
            <a:off x="2103120" y="109728"/>
            <a:ext cx="13716000" cy="10515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0">
                <a:solidFill>
                  <a:srgbClr val="1F497D"/>
                </a:solidFill>
                <a:latin typeface="Lilita One"/>
                <a:ea typeface="Lilita One"/>
                <a:cs typeface="Lilita One"/>
                <a:sym typeface="Lilita One"/>
              </a:rPr>
              <a:t>Impact and Benefits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65760" y="1463040"/>
            <a:ext cx="17556480" cy="2240280"/>
          </a:xfrm>
          <a:prstGeom prst="roundRect">
            <a:avLst>
              <a:gd name="adj" fmla="val 8000"/>
            </a:avLst>
          </a:prstGeom>
          <a:solidFill>
            <a:srgbClr val="5CE1E6">
              <a:alpha val="30000"/>
            </a:srgbClr>
          </a:solidFill>
          <a:ln w="19050">
            <a:solidFill>
              <a:srgbClr val="000000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583680" y="1188720"/>
            <a:ext cx="5120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83680" y="1188720"/>
            <a:ext cx="512064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6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Key Details &amp; Capabilities</a:t>
            </a:r>
          </a:p>
        </p:txBody>
      </p:sp>
      <p:pic>
        <p:nvPicPr>
          <p:cNvPr id="85" name="Picture 84" descr="server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8640" y="1901952"/>
            <a:ext cx="384048" cy="38404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987552" y="1883664"/>
            <a:ext cx="2240279" cy="420624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17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Live sources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2340864"/>
            <a:ext cx="2743199" cy="56692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30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" y="2944368"/>
            <a:ext cx="26517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auto-discovered, 12 vendor formats</a:t>
            </a:r>
          </a:p>
        </p:txBody>
      </p:sp>
      <p:pic>
        <p:nvPicPr>
          <p:cNvPr id="89" name="Picture 88" descr="checkdoubl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74720" y="1901952"/>
            <a:ext cx="384048" cy="38404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3913631" y="1883664"/>
            <a:ext cx="2240279" cy="420624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17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Events stored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83279" y="2340864"/>
            <a:ext cx="2743199" cy="56692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30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1.32 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28999" y="2944368"/>
            <a:ext cx="26517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100% verified lossless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91839" y="1828800"/>
            <a:ext cx="13716" cy="173736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1901952"/>
            <a:ext cx="384048" cy="38404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6839712" y="1883664"/>
            <a:ext cx="2240279" cy="420624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17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Conservation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09359" y="2340864"/>
            <a:ext cx="2743199" cy="56692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30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balanced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55080" y="2944368"/>
            <a:ext cx="26517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0 events unaccounted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217920" y="1828800"/>
            <a:ext cx="13716" cy="173736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9" name="Picture 98" descr="cubes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326880" y="1901952"/>
            <a:ext cx="384048" cy="38404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9765792" y="1883664"/>
            <a:ext cx="2240279" cy="420624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17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Vendor packs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35440" y="2340864"/>
            <a:ext cx="2743199" cy="56692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30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13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281160" y="2944368"/>
            <a:ext cx="26517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YAML, versioned, hot-reloaded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144000" y="1828800"/>
            <a:ext cx="13716" cy="173736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4" name="Picture 103" descr="sitemap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252959" y="1901952"/>
            <a:ext cx="384048" cy="38404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2691872" y="1883664"/>
            <a:ext cx="2240279" cy="420624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17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Common schema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161519" y="2340864"/>
            <a:ext cx="2743199" cy="56692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30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OCSF 1.3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207240" y="2944368"/>
            <a:ext cx="26517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unmapped{} keeps vendor fields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2070080" y="1828800"/>
            <a:ext cx="13716" cy="173736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9" name="Picture 108" descr="bolt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179039" y="1901952"/>
            <a:ext cx="384048" cy="384048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15617951" y="1883664"/>
            <a:ext cx="2240279" cy="420624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17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Throughput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5087600" y="2340864"/>
            <a:ext cx="2743199" cy="566928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ctr"/>
            <a:r>
              <a:rPr sz="30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~2,500/s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5133319" y="2944368"/>
            <a:ext cx="26517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events per worker (Benchmarks)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4996159" y="1828800"/>
            <a:ext cx="13716" cy="173736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210312" y="3977639"/>
            <a:ext cx="10607040" cy="4572000"/>
          </a:xfrm>
          <a:prstGeom prst="roundRect">
            <a:avLst>
              <a:gd name="adj" fmla="val 3000"/>
            </a:avLst>
          </a:prstGeom>
          <a:solidFill>
            <a:srgbClr val="DCE6F2">
              <a:alpha val="43000"/>
            </a:srgbClr>
          </a:solidFill>
          <a:ln w="12700">
            <a:solidFill>
              <a:srgbClr val="000000">
                <a:alpha val="1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2308860" y="4114800"/>
            <a:ext cx="6400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308860" y="4114800"/>
            <a:ext cx="64008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4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Outputs &amp; SIEM Cost (live)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11480" y="480060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21208" y="4873752"/>
            <a:ext cx="3108960" cy="310896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sz="1200">
                <a:solidFill>
                  <a:srgbClr val="5E6561"/>
                </a:solidFill>
                <a:latin typeface="Lilita One"/>
                <a:ea typeface="Lilita One"/>
                <a:cs typeface="Lilita One"/>
                <a:sym typeface="Lilita One"/>
              </a:rPr>
              <a:t>SIEM INGEST REDUCED BY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21208" y="5184648"/>
            <a:ext cx="3108960" cy="54864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2400">
                <a:solidFill>
                  <a:srgbClr val="38761D"/>
                </a:solidFill>
                <a:latin typeface="Lilita One"/>
                <a:ea typeface="Lilita One"/>
                <a:cs typeface="Lilita One"/>
                <a:sym typeface="Lilita One"/>
              </a:rPr>
              <a:t>60.6%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21208" y="575157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>
                <a:solidFill>
                  <a:srgbClr val="5E6561"/>
                </a:solidFill>
                <a:latin typeface="Lilita One"/>
                <a:ea typeface="Lilita One"/>
                <a:cs typeface="Lilita One"/>
                <a:sym typeface="Lilita One"/>
              </a:rPr>
              <a:t>measured bytes, same events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867912" y="480060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977640" y="4873752"/>
            <a:ext cx="3108960" cy="310896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sz="1200">
                <a:solidFill>
                  <a:srgbClr val="5E6561"/>
                </a:solidFill>
                <a:latin typeface="Lilita One"/>
                <a:ea typeface="Lilita One"/>
                <a:cs typeface="Lilita One"/>
                <a:sym typeface="Lilita One"/>
              </a:rPr>
              <a:t>WITHOUT TIERING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977640" y="5184648"/>
            <a:ext cx="3108960" cy="54864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24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1.54 GB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977640" y="575157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>
                <a:solidFill>
                  <a:srgbClr val="5E6561"/>
                </a:solidFill>
                <a:latin typeface="Lilita One"/>
                <a:ea typeface="Lilita One"/>
                <a:cs typeface="Lilita One"/>
                <a:sym typeface="Lilita One"/>
              </a:rPr>
              <a:t>1.97 GB/day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324344" y="480060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434071" y="4873752"/>
            <a:ext cx="3108960" cy="310896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sz="1200">
                <a:solidFill>
                  <a:srgbClr val="5E6561"/>
                </a:solidFill>
                <a:latin typeface="Lilita One"/>
                <a:ea typeface="Lilita One"/>
                <a:cs typeface="Lilita One"/>
                <a:sym typeface="Lilita One"/>
              </a:rPr>
              <a:t>SENT TO THE SIEM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434071" y="5184648"/>
            <a:ext cx="3108960" cy="54864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24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622.0 MB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34071" y="575157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>
                <a:solidFill>
                  <a:srgbClr val="5E6561"/>
                </a:solidFill>
                <a:latin typeface="Lilita One"/>
                <a:ea typeface="Lilita One"/>
                <a:cs typeface="Lilita One"/>
                <a:sym typeface="Lilita One"/>
              </a:rPr>
              <a:t>0.78 GB/day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11480" y="635508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21208" y="6428232"/>
            <a:ext cx="3108960" cy="310896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sz="1200">
                <a:solidFill>
                  <a:srgbClr val="5E6561"/>
                </a:solidFill>
                <a:latin typeface="Lilita One"/>
                <a:ea typeface="Lilita One"/>
                <a:cs typeface="Lilita One"/>
                <a:sym typeface="Lilita One"/>
              </a:rPr>
              <a:t>SAVED PER MONTH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21208" y="6739128"/>
            <a:ext cx="3108960" cy="54864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2400">
                <a:solidFill>
                  <a:srgbClr val="38761D"/>
                </a:solidFill>
                <a:latin typeface="Lilita One"/>
                <a:ea typeface="Lilita One"/>
                <a:cs typeface="Lilita One"/>
                <a:sym typeface="Lilita One"/>
              </a:rPr>
              <a:t>₹1,07,646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21208" y="730605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>
                <a:solidFill>
                  <a:srgbClr val="5E6561"/>
                </a:solidFill>
                <a:latin typeface="Lilita One"/>
                <a:ea typeface="Lilita One"/>
                <a:cs typeface="Lilita One"/>
                <a:sym typeface="Lilita One"/>
              </a:rPr>
              <a:t>estimate at ₹3,000 per GB (setting)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867912" y="635508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977640" y="6428232"/>
            <a:ext cx="3108960" cy="310896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sz="1200">
                <a:solidFill>
                  <a:srgbClr val="5E6561"/>
                </a:solidFill>
                <a:latin typeface="Lilita One"/>
                <a:ea typeface="Lilita One"/>
                <a:cs typeface="Lilita One"/>
                <a:sym typeface="Lilita One"/>
              </a:rPr>
              <a:t>EVENTS IN / RECORDS OUT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977640" y="6739128"/>
            <a:ext cx="3108960" cy="54864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19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1,036,106 / 906,625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77640" y="730605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>
                <a:solidFill>
                  <a:srgbClr val="5E6561"/>
                </a:solidFill>
                <a:latin typeface="Lilita One"/>
                <a:ea typeface="Lilita One"/>
                <a:cs typeface="Lilita One"/>
                <a:sym typeface="Lilita One"/>
              </a:rPr>
              <a:t>summaries carry their event count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324344" y="635508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434071" y="6428232"/>
            <a:ext cx="3108960" cy="310896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sz="1200">
                <a:solidFill>
                  <a:srgbClr val="5E6561"/>
                </a:solidFill>
                <a:latin typeface="Lilita One"/>
                <a:ea typeface="Lilita One"/>
                <a:cs typeface="Lilita One"/>
                <a:sym typeface="Lilita One"/>
              </a:rPr>
              <a:t>DATA LAKE (FULL FIDELITY)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434071" y="6739128"/>
            <a:ext cx="3108960" cy="548640"/>
          </a:xfrm>
          <a:prstGeom prst="rect">
            <a:avLst/>
          </a:prstGeom>
          <a:noFill/>
        </p:spPr>
        <p:txBody>
          <a:bodyPr wrap="none" anchor="ctr" lIns="36576" rIns="36576" tIns="36576" bIns="36576">
            <a:spAutoFit/>
          </a:bodyPr>
          <a:lstStyle/>
          <a:p>
            <a:pPr algn="l"/>
            <a:r>
              <a:rPr sz="24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1,045,183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34071" y="730605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>
                <a:solidFill>
                  <a:srgbClr val="5E6561"/>
                </a:solidFill>
                <a:latin typeface="Lilita One"/>
                <a:ea typeface="Lilita One"/>
                <a:cs typeface="Lilita One"/>
                <a:sym typeface="Lilita One"/>
              </a:rPr>
              <a:t>events written as Parquet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11480" y="7909560"/>
            <a:ext cx="102412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Sinks: </a:t>
            </a:r>
            <a:r>
              <a:rPr sz="12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data-lake ON, siem-tier ON · Splunk HEC, CEF syslog, OpenSearch, Kafka configured and ready (off). </a:t>
            </a:r>
            <a:r>
              <a:rPr sz="1250">
                <a:solidFill>
                  <a:srgbClr val="38761D"/>
                </a:solidFill>
                <a:latin typeface="Lilita One"/>
                <a:ea typeface="Lilita One"/>
                <a:cs typeface="Lilita One"/>
                <a:sym typeface="Lilita One"/>
              </a:rPr>
              <a:t>Every summary points back to the lake: nothing is dropped.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1018520" y="3977639"/>
            <a:ext cx="7059168" cy="4572000"/>
          </a:xfrm>
          <a:prstGeom prst="roundRect">
            <a:avLst>
              <a:gd name="adj" fmla="val 3000"/>
            </a:avLst>
          </a:prstGeom>
          <a:solidFill>
            <a:srgbClr val="E2A9F1">
              <a:alpha val="45000"/>
            </a:srgbClr>
          </a:solidFill>
          <a:ln w="28575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11452860" y="4114800"/>
            <a:ext cx="62179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1452860" y="4114800"/>
            <a:ext cx="621792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4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Pipeline Health (measured)</a:t>
            </a:r>
          </a:p>
        </p:txBody>
      </p:sp>
      <p:graphicFrame>
        <p:nvGraphicFramePr>
          <p:cNvPr id="145" name="Table 144"/>
          <p:cNvGraphicFramePr>
            <a:graphicFrameLocks noGrp="1"/>
          </p:cNvGraphicFramePr>
          <p:nvPr/>
        </p:nvGraphicFramePr>
        <p:xfrm>
          <a:off x="11155680" y="4800600"/>
          <a:ext cx="6793992" cy="3200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777240"/>
                <a:gridCol w="914400"/>
                <a:gridCol w="3090672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C55A11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Fault (Fault lab)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D6D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C55A11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Detect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D6D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C55A11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Resolve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D6D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C55A11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Outcome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D6DCE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Firmware change, FortiGate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30 s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2 m 2 s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pack repaired, 222 events re-processed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Clock drift, Juniper SRX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60 s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2 m 59 s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time corrected, residual 0 ms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Device silenced, Cisco ASA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79 s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2 m 21 s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escalated to analyst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Worker crashed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22 s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35 s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restarted, zero events lost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6" name="TextBox 145"/>
          <p:cNvSpPr txBox="1"/>
          <p:nvPr/>
        </p:nvSpPr>
        <p:spPr>
          <a:xfrm>
            <a:off x="11155680" y="8138160"/>
            <a:ext cx="68122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>
                <a:solidFill>
                  <a:srgbClr val="5E6561"/>
                </a:solidFill>
                <a:latin typeface="Lilita One"/>
                <a:ea typeface="Lilita One"/>
                <a:cs typeface="Lilita One"/>
                <a:sym typeface="Lilita One"/>
              </a:rPr>
              <a:t>Same columns (MTTD, MTTR) as the Pipeline health incidents table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10312" y="8686800"/>
            <a:ext cx="17849088" cy="1216152"/>
          </a:xfrm>
          <a:prstGeom prst="roundRect">
            <a:avLst>
              <a:gd name="adj" fmla="val 6000"/>
            </a:avLst>
          </a:prstGeom>
          <a:solidFill>
            <a:srgbClr val="E2A9F1">
              <a:alpha val="45000"/>
            </a:srgbClr>
          </a:solidFill>
          <a:ln w="25400">
            <a:solidFill>
              <a:srgbClr val="000000">
                <a:alpha val="4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411480" y="8887968"/>
            <a:ext cx="26974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11480" y="8887968"/>
            <a:ext cx="2697480" cy="6583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8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Benefits</a:t>
            </a:r>
          </a:p>
        </p:txBody>
      </p:sp>
      <p:pic>
        <p:nvPicPr>
          <p:cNvPr id="150" name="Picture 149" descr="checkdoubl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83280" y="8942832"/>
            <a:ext cx="548640" cy="548640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4023360" y="8778240"/>
            <a:ext cx="2948940" cy="384048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sz="15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Evidence preserved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023360" y="9144000"/>
            <a:ext cx="29489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>
                <a:solidFill>
                  <a:srgbClr val="1F3864"/>
                </a:solidFill>
                <a:latin typeface="Lilita One"/>
                <a:ea typeface="Lilita One"/>
                <a:cs typeface="Lilita One"/>
                <a:sym typeface="Lilita One"/>
              </a:rPr>
              <a:t>every event verifiable, byte for byte</a:t>
            </a:r>
          </a:p>
        </p:txBody>
      </p:sp>
      <p:pic>
        <p:nvPicPr>
          <p:cNvPr id="153" name="Picture 152" descr="rotat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18020" y="8942832"/>
            <a:ext cx="548640" cy="548640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7658100" y="8778240"/>
            <a:ext cx="2948940" cy="384048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sz="15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Parsers repair themselves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658100" y="9144000"/>
            <a:ext cx="29489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>
                <a:solidFill>
                  <a:srgbClr val="1F3864"/>
                </a:solidFill>
                <a:latin typeface="Lilita One"/>
                <a:ea typeface="Lilita One"/>
                <a:cs typeface="Lilita One"/>
                <a:sym typeface="Lilita One"/>
              </a:rPr>
              <a:t>format changes fixed in minutes, audited</a:t>
            </a:r>
          </a:p>
        </p:txBody>
      </p:sp>
      <p:pic>
        <p:nvPicPr>
          <p:cNvPr id="156" name="Picture 155" descr="rupe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652760" y="8942832"/>
            <a:ext cx="548640" cy="548640"/>
          </a:xfrm>
          <a:prstGeom prst="rect">
            <a:avLst/>
          </a:prstGeom>
        </p:spPr>
      </p:pic>
      <p:sp>
        <p:nvSpPr>
          <p:cNvPr id="157" name="TextBox 156"/>
          <p:cNvSpPr txBox="1"/>
          <p:nvPr/>
        </p:nvSpPr>
        <p:spPr>
          <a:xfrm>
            <a:off x="11292840" y="8778240"/>
            <a:ext cx="2948940" cy="384048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sz="15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Lower SIEM bill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1292840" y="9144000"/>
            <a:ext cx="29489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>
                <a:solidFill>
                  <a:srgbClr val="1F3864"/>
                </a:solidFill>
                <a:latin typeface="Lilita One"/>
                <a:ea typeface="Lilita One"/>
                <a:cs typeface="Lilita One"/>
                <a:sym typeface="Lilita One"/>
              </a:rPr>
              <a:t>60.6% less ingest, full data in the lake</a:t>
            </a:r>
          </a:p>
        </p:txBody>
      </p:sp>
      <p:pic>
        <p:nvPicPr>
          <p:cNvPr id="159" name="Picture 158" descr="plug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4287500" y="8942832"/>
            <a:ext cx="548640" cy="548640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14927580" y="8778240"/>
            <a:ext cx="2948940" cy="384048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sz="15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Faster onboarding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4927580" y="9144000"/>
            <a:ext cx="29489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>
                <a:solidFill>
                  <a:srgbClr val="1F3864"/>
                </a:solidFill>
                <a:latin typeface="Lilita One"/>
                <a:ea typeface="Lilita One"/>
                <a:cs typeface="Lilita One"/>
                <a:sym typeface="Lilita One"/>
              </a:rPr>
              <a:t>new formats via Parser studio, no code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953767"/>
            <a:ext cx="18288000" cy="333233"/>
            <a:chOff x="0" y="0"/>
            <a:chExt cx="24384000" cy="4443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444311"/>
            </a:xfrm>
            <a:custGeom>
              <a:avLst/>
              <a:gdLst/>
              <a:ahLst/>
              <a:cxnLst/>
              <a:rect r="r" b="b" t="t" l="l"/>
              <a:pathLst>
                <a:path h="44431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44311"/>
                  </a:lnTo>
                  <a:lnTo>
                    <a:pt x="0" y="444311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17930067" y="9891813"/>
            <a:ext cx="136803" cy="36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8" id="8"/>
          <p:cNvGrpSpPr/>
          <p:nvPr/>
        </p:nvGrpSpPr>
        <p:grpSpPr>
          <a:xfrm rot="0">
            <a:off x="98700" y="116854"/>
            <a:ext cx="1695941" cy="1105703"/>
            <a:chOff x="0" y="0"/>
            <a:chExt cx="2554516" cy="1665468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554516" cy="166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sz="2400">
                  <a:solidFill>
                    <a:srgbClr val="000000"/>
                  </a:solidFill>
                  <a:latin typeface="Lilita One"/>
                  <a:ea typeface="Lilita One"/>
                  <a:cs typeface="Lilita One"/>
                  <a:sym typeface="Lilita One"/>
                </a:rPr>
                <a:t>CODE BANDITS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935547" y="0"/>
            <a:ext cx="2352453" cy="1110783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0" name="Title"/>
          <p:cNvSpPr txBox="1"/>
          <p:nvPr/>
        </p:nvSpPr>
        <p:spPr>
          <a:xfrm>
            <a:off x="2103120" y="109728"/>
            <a:ext cx="13716000" cy="10515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0">
                <a:solidFill>
                  <a:srgbClr val="1F497D"/>
                </a:solidFill>
                <a:latin typeface="Lilita One"/>
                <a:ea typeface="Lilita One"/>
                <a:cs typeface="Lilita One"/>
                <a:sym typeface="Lilita One"/>
              </a:rPr>
              <a:t>Feasibility and Viability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0584" y="1271016"/>
            <a:ext cx="9043416" cy="4233672"/>
          </a:xfrm>
          <a:prstGeom prst="roundRect">
            <a:avLst>
              <a:gd name="adj" fmla="val 3000"/>
            </a:avLst>
          </a:prstGeom>
          <a:solidFill>
            <a:srgbClr val="DCE6F2">
              <a:alpha val="43000"/>
            </a:srgbClr>
          </a:solidFill>
          <a:ln w="12700">
            <a:solidFill>
              <a:srgbClr val="000000">
                <a:alpha val="1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502920" y="1271016"/>
            <a:ext cx="8229600" cy="621792"/>
          </a:xfrm>
          <a:prstGeom prst="roundRect">
            <a:avLst>
              <a:gd name="adj" fmla="val 12000"/>
            </a:avLst>
          </a:prstGeom>
          <a:solidFill>
            <a:srgbClr val="5CE1E6">
              <a:alpha val="30000"/>
            </a:srgbClr>
          </a:solidFill>
          <a:ln w="28575">
            <a:solidFill>
              <a:srgbClr val="000000">
                <a:alpha val="3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600200" y="1344168"/>
            <a:ext cx="603504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600200" y="1344168"/>
            <a:ext cx="603504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6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FEASIBILITY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2011680"/>
            <a:ext cx="868680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6" name="Picture 105" descr="microchip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1480" y="2194560"/>
            <a:ext cx="384048" cy="384048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960120" y="2011680"/>
            <a:ext cx="7909560" cy="7589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>
                <a:solidFill>
                  <a:srgbClr val="1F4E79"/>
                </a:solidFill>
                <a:latin typeface="Lilita One"/>
                <a:ea typeface="Lilita One"/>
                <a:cs typeface="Lilita One"/>
                <a:sym typeface="Lilita One"/>
              </a:rPr>
              <a:t>Runs today: </a:t>
            </a:r>
            <a:r>
              <a:rPr sz="14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one docker compose starts collector, 2 workers, monitor, exporter, Redis, PostgreSQL, MinIO and the console.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4320" y="2880360"/>
            <a:ext cx="868680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9" name="Picture 108" descr="checkdoubl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1480" y="3063240"/>
            <a:ext cx="384048" cy="384048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960120" y="2880360"/>
            <a:ext cx="7909560" cy="7589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>
                <a:solidFill>
                  <a:srgbClr val="1F4E79"/>
                </a:solidFill>
                <a:latin typeface="Lilita One"/>
                <a:ea typeface="Lilita One"/>
                <a:cs typeface="Lilita One"/>
                <a:sym typeface="Lilita One"/>
              </a:rPr>
              <a:t>Tested: </a:t>
            </a:r>
            <a:r>
              <a:rPr sz="14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52 unit and golden tests per format and vendor, plus an end-to-end checker (verify_ulpf.py).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4320" y="3749039"/>
            <a:ext cx="868680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2" name="Picture 111" descr="bolt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1480" y="3931920"/>
            <a:ext cx="384048" cy="384048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960120" y="3749039"/>
            <a:ext cx="7909560" cy="7589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>
                <a:solidFill>
                  <a:srgbClr val="1F4E79"/>
                </a:solidFill>
                <a:latin typeface="Lilita One"/>
                <a:ea typeface="Lilita One"/>
                <a:cs typeface="Lilita One"/>
                <a:sym typeface="Lilita One"/>
              </a:rPr>
              <a:t>Scales out: </a:t>
            </a:r>
            <a:r>
              <a:rPr sz="14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stateless workers on a Redis consumer group, about 2,500 events/s each (Benchmarks page).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74320" y="4617720"/>
            <a:ext cx="868680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5" name="Picture 114" descr="lockB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1480" y="4800600"/>
            <a:ext cx="384048" cy="384048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960120" y="4617720"/>
            <a:ext cx="7909560" cy="7589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>
                <a:solidFill>
                  <a:srgbClr val="1F4E79"/>
                </a:solidFill>
                <a:latin typeface="Lilita One"/>
                <a:ea typeface="Lilita One"/>
                <a:cs typeface="Lilita One"/>
                <a:sym typeface="Lilita One"/>
              </a:rPr>
              <a:t>Self-hosted: </a:t>
            </a:r>
            <a:r>
              <a:rPr sz="14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images on Docker Hub plus an offline image-packaging script; GeoIP and fonts bundled.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9372600" y="1271016"/>
            <a:ext cx="8750808" cy="4233672"/>
          </a:xfrm>
          <a:prstGeom prst="roundRect">
            <a:avLst>
              <a:gd name="adj" fmla="val 3000"/>
            </a:avLst>
          </a:prstGeom>
          <a:solidFill>
            <a:srgbClr val="E2A9F1">
              <a:alpha val="45000"/>
            </a:srgbClr>
          </a:solidFill>
          <a:ln w="12700">
            <a:solidFill>
              <a:srgbClr val="000000">
                <a:alpha val="1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9555480" y="1271016"/>
            <a:ext cx="8412480" cy="621792"/>
          </a:xfrm>
          <a:prstGeom prst="roundRect">
            <a:avLst>
              <a:gd name="adj" fmla="val 12000"/>
            </a:avLst>
          </a:prstGeom>
          <a:solidFill>
            <a:srgbClr val="5CE1E6">
              <a:alpha val="30000"/>
            </a:srgbClr>
          </a:solidFill>
          <a:ln w="28575">
            <a:solidFill>
              <a:srgbClr val="000000">
                <a:alpha val="3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10744200" y="1344168"/>
            <a:ext cx="603504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744200" y="1344168"/>
            <a:ext cx="603504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6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VIABILITY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509760" y="2011680"/>
            <a:ext cx="8476488" cy="804672"/>
          </a:xfrm>
          <a:prstGeom prst="rect">
            <a:avLst/>
          </a:prstGeom>
          <a:solidFill>
            <a:srgbClr val="FFF5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2" name="Picture 121" descr="sitemapG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46920" y="2176272"/>
            <a:ext cx="475488" cy="475488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10287000" y="2029968"/>
            <a:ext cx="7635240" cy="7863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Fits SOC workflows</a:t>
            </a:r>
          </a:p>
          <a:p>
            <a:pPr algn="l"/>
            <a:r>
              <a:rPr sz="12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OCSF + Sigma out of the box; outputs for Parquet lakes, Splunk HEC, CEF syslog, OpenSearch, Kafka.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509760" y="2907792"/>
            <a:ext cx="8476488" cy="804672"/>
          </a:xfrm>
          <a:prstGeom prst="rect">
            <a:avLst/>
          </a:prstGeom>
          <a:solidFill>
            <a:srgbClr val="FFF5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5" name="Picture 124" descr="dbB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46920" y="3072384"/>
            <a:ext cx="475488" cy="475488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10287000" y="2926080"/>
            <a:ext cx="7635240" cy="7863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Low cost, no lock-in</a:t>
            </a:r>
          </a:p>
          <a:p>
            <a:pPr algn="l"/>
            <a:r>
              <a:rPr sz="12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open-source stack; SIEM ingest measured 60.6% lower with nothing dropped.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509760" y="3803904"/>
            <a:ext cx="8476488" cy="804672"/>
          </a:xfrm>
          <a:prstGeom prst="rect">
            <a:avLst/>
          </a:prstGeom>
          <a:solidFill>
            <a:srgbClr val="FFF5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8" name="Picture 127" descr="usershieldP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646920" y="3968496"/>
            <a:ext cx="475488" cy="475488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10287000" y="3822191"/>
            <a:ext cx="7635240" cy="7863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Trust by design</a:t>
            </a:r>
          </a:p>
          <a:p>
            <a:pPr algn="l"/>
            <a:r>
              <a:rPr sz="125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parser changes pass shadow tests and policy rules; every action is audited.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9509760" y="4754880"/>
            <a:ext cx="8476488" cy="566928"/>
          </a:xfrm>
          <a:prstGeom prst="roundRect">
            <a:avLst>
              <a:gd name="adj" fmla="val 30000"/>
            </a:avLst>
          </a:prstGeom>
          <a:solidFill>
            <a:srgbClr val="D9D2C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509760" y="4754880"/>
            <a:ext cx="847648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>
                <a:solidFill>
                  <a:srgbClr val="0B8A3E"/>
                </a:solidFill>
                <a:latin typeface="Lilita One"/>
                <a:ea typeface="Lilita One"/>
                <a:cs typeface="Lilita One"/>
                <a:sym typeface="Lilita One"/>
              </a:rPr>
              <a:t>Impact: unified logs and preserved evidence for SOCs and critical-infrastructure teams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00584" y="5650992"/>
            <a:ext cx="9043416" cy="4160520"/>
          </a:xfrm>
          <a:prstGeom prst="roundRect">
            <a:avLst>
              <a:gd name="adj" fmla="val 3000"/>
            </a:avLst>
          </a:prstGeom>
          <a:solidFill>
            <a:srgbClr val="E2A9F1">
              <a:alpha val="45000"/>
            </a:srgbClr>
          </a:solidFill>
          <a:ln w="12700">
            <a:solidFill>
              <a:srgbClr val="000000">
                <a:alpha val="1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420624" y="5614416"/>
            <a:ext cx="8412480" cy="621792"/>
          </a:xfrm>
          <a:prstGeom prst="roundRect">
            <a:avLst>
              <a:gd name="adj" fmla="val 12000"/>
            </a:avLst>
          </a:prstGeom>
          <a:solidFill>
            <a:srgbClr val="5CE1E6">
              <a:alpha val="30000"/>
            </a:srgbClr>
          </a:solidFill>
          <a:ln w="28575">
            <a:solidFill>
              <a:srgbClr val="000000">
                <a:alpha val="3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1335023" y="5687568"/>
            <a:ext cx="658368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335023" y="5687568"/>
            <a:ext cx="658368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6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CHALLENGES &amp; MITIGATION</a:t>
            </a:r>
          </a:p>
        </p:txBody>
      </p:sp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11480" y="6382512"/>
          <a:ext cx="8412480" cy="32918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46120"/>
                <a:gridCol w="516636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C55A11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Identified Risk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D6D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C55A11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Engineering Mitigation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D6DCE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Vendor changes its log format without notice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Fill-rate drift detection; repaired pack shadow-tested, promoted, rolled back if it fails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Unknown or in-house log formats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Parser studio: Drain3 proposal, tested on samples before activation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Tampering or loss after ingestion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Write-once vault, SHA-256 hash chain, conservation counter, lossless check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Prototype runs on generated demo logs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Pilot with live device feeds; packs already follow vendor log formats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High event volumes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Lilita One"/>
                          <a:ea typeface="Lilita One"/>
                          <a:cs typeface="Lilita One"/>
                          <a:sym typeface="Lilita One"/>
                        </a:rPr>
                        <a:t>Stateless workers scale out; routine flows summarised for the SIEM</a:t>
                      </a:r>
                    </a:p>
                  </a:txBody>
                  <a:tcPr marL="73152" marR="73152" marT="27432" marB="27432" anchor="ctr">
                    <a:lnL w="12700" cmpd="sng">
                      <a:solidFill>
                        <a:srgbClr val="BFBFBF"/>
                      </a:solidFill>
                    </a:lnL>
                    <a:lnR w="12700" cmpd="sng">
                      <a:solidFill>
                        <a:srgbClr val="BFBFBF"/>
                      </a:solidFill>
                    </a:lnR>
                    <a:lnT w="12700" cmpd="sng">
                      <a:solidFill>
                        <a:srgbClr val="BFBFBF"/>
                      </a:solidFill>
                    </a:lnT>
                    <a:lnB w="12700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7" name="Rounded Rectangle 136"/>
          <p:cNvSpPr/>
          <p:nvPr/>
        </p:nvSpPr>
        <p:spPr>
          <a:xfrm>
            <a:off x="9372600" y="5650992"/>
            <a:ext cx="8705088" cy="4160520"/>
          </a:xfrm>
          <a:prstGeom prst="roundRect">
            <a:avLst>
              <a:gd name="adj" fmla="val 3000"/>
            </a:avLst>
          </a:prstGeom>
          <a:solidFill>
            <a:srgbClr val="DCE6F2">
              <a:alpha val="43000"/>
            </a:srgbClr>
          </a:solidFill>
          <a:ln w="12700">
            <a:solidFill>
              <a:srgbClr val="000000">
                <a:alpha val="1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9518904" y="5586984"/>
            <a:ext cx="8412480" cy="621792"/>
          </a:xfrm>
          <a:prstGeom prst="roundRect">
            <a:avLst>
              <a:gd name="adj" fmla="val 12000"/>
            </a:avLst>
          </a:prstGeom>
          <a:solidFill>
            <a:srgbClr val="5CE1E6">
              <a:alpha val="30000"/>
            </a:srgbClr>
          </a:solidFill>
          <a:ln w="28575">
            <a:solidFill>
              <a:srgbClr val="000000">
                <a:alpha val="3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0250424" y="5660136"/>
            <a:ext cx="694944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250424" y="5660136"/>
            <a:ext cx="694944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6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FROM DEMO TO REAL DEPLOYMENT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528048" y="6400800"/>
            <a:ext cx="2606040" cy="2743200"/>
          </a:xfrm>
          <a:prstGeom prst="rect">
            <a:avLst/>
          </a:prstGeom>
          <a:solidFill>
            <a:srgbClr val="FFF5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619488" y="6446520"/>
            <a:ext cx="2423160" cy="457200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ctr"/>
            <a:r>
              <a:rPr sz="19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Now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637776" y="6949440"/>
            <a:ext cx="2386584" cy="2148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Working prototype: multi-vendor intake, OCSF, lossless vault, Parser studio, self-repairing parsers, outputs.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12161519" y="7772400"/>
            <a:ext cx="219457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/>
          <p:cNvSpPr/>
          <p:nvPr/>
        </p:nvSpPr>
        <p:spPr>
          <a:xfrm>
            <a:off x="12408408" y="6400800"/>
            <a:ext cx="2606040" cy="2743200"/>
          </a:xfrm>
          <a:prstGeom prst="rect">
            <a:avLst/>
          </a:prstGeom>
          <a:solidFill>
            <a:srgbClr val="FFF5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2499848" y="6446520"/>
            <a:ext cx="2423160" cy="457200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ctr"/>
            <a:r>
              <a:rPr sz="19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~3 months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518136" y="6949440"/>
            <a:ext cx="2386584" cy="2148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Pilot at a partner SOC on live feeds; more vendor packs; Kubernetes/Helm, SSO and roles.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15041880" y="7772400"/>
            <a:ext cx="219456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148"/>
          <p:cNvSpPr/>
          <p:nvPr/>
        </p:nvSpPr>
        <p:spPr>
          <a:xfrm>
            <a:off x="15288767" y="6400800"/>
            <a:ext cx="2606040" cy="2743200"/>
          </a:xfrm>
          <a:prstGeom prst="rect">
            <a:avLst/>
          </a:prstGeom>
          <a:solidFill>
            <a:srgbClr val="FFF5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5380208" y="6446520"/>
            <a:ext cx="2423160" cy="457200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ctr"/>
            <a:r>
              <a:rPr sz="1900">
                <a:solidFill>
                  <a:srgbClr val="001F60"/>
                </a:solidFill>
                <a:latin typeface="Lilita One"/>
                <a:ea typeface="Lilita One"/>
                <a:cs typeface="Lilita One"/>
                <a:sym typeface="Lilita One"/>
              </a:rPr>
              <a:t>6–12 months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5398496" y="6949440"/>
            <a:ext cx="2386584" cy="2148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Multi-site clusters, object-lock vault, SOAR integration, shared signed-pack library.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418320" y="9253728"/>
            <a:ext cx="8595360" cy="411480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ctr"/>
            <a:r>
              <a:rPr sz="1400">
                <a:solidFill>
                  <a:srgbClr val="404040"/>
                </a:solidFill>
                <a:latin typeface="Lilita One"/>
                <a:ea typeface="Lilita One"/>
                <a:cs typeface="Lilita One"/>
                <a:sym typeface="Lilita One"/>
              </a:rPr>
              <a:t>Unified logs • preserved evidence • self-repairing parsers • OCSF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0" y="9953767"/>
            <a:ext cx="18288000" cy="333233"/>
            <a:chOff x="0" y="0"/>
            <a:chExt cx="24384000" cy="4443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4000" cy="444311"/>
            </a:xfrm>
            <a:custGeom>
              <a:avLst/>
              <a:gdLst/>
              <a:ahLst/>
              <a:cxnLst/>
              <a:rect r="r" b="b" t="t" l="l"/>
              <a:pathLst>
                <a:path h="44431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44311"/>
                  </a:lnTo>
                  <a:lnTo>
                    <a:pt x="0" y="444311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99" id="99"/>
          <p:cNvSpPr txBox="true"/>
          <p:nvPr/>
        </p:nvSpPr>
        <p:spPr>
          <a:xfrm rot="0">
            <a:off x="17938550" y="9891813"/>
            <a:ext cx="119836" cy="36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700" y="116854"/>
            <a:ext cx="1695941" cy="1105703"/>
            <a:chOff x="0" y="0"/>
            <a:chExt cx="2554516" cy="1665468"/>
          </a:xfrm>
        </p:grpSpPr>
        <p:sp>
          <p:nvSpPr>
            <p:cNvPr name="Freeform 3" id="3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554516" cy="166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sz="2400">
                  <a:solidFill>
                    <a:srgbClr val="000000"/>
                  </a:solidFill>
                  <a:latin typeface="Lilita One"/>
                  <a:ea typeface="Lilita One"/>
                  <a:cs typeface="Lilita One"/>
                  <a:sym typeface="Lilita One"/>
                </a:rPr>
                <a:t>CODE BANDITS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935547" y="0"/>
            <a:ext cx="2352453" cy="1110783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79" name="Title"/>
          <p:cNvSpPr txBox="1"/>
          <p:nvPr/>
        </p:nvSpPr>
        <p:spPr>
          <a:xfrm>
            <a:off x="2103120" y="109728"/>
            <a:ext cx="13716000" cy="10515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0">
                <a:solidFill>
                  <a:srgbClr val="1F497D"/>
                </a:solidFill>
                <a:latin typeface="Lilita One"/>
                <a:ea typeface="Lilita One"/>
                <a:cs typeface="Lilita One"/>
                <a:sym typeface="Lilita One"/>
              </a:rPr>
              <a:t>Research and References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85800" y="118872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E2A9F1">
              <a:alpha val="50000"/>
            </a:srgbClr>
          </a:solidFill>
          <a:ln w="19050">
            <a:solidFill>
              <a:srgbClr val="000000">
                <a:alpha val="3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85800" y="1188720"/>
            <a:ext cx="3429000" cy="548640"/>
          </a:xfrm>
          <a:prstGeom prst="roundRect">
            <a:avLst>
              <a:gd name="adj" fmla="val 12000"/>
            </a:avLst>
          </a:prstGeom>
          <a:solidFill>
            <a:srgbClr val="5CE1E6">
              <a:alpha val="30000"/>
            </a:srgbClr>
          </a:solidFill>
          <a:ln w="28575">
            <a:solidFill>
              <a:srgbClr val="000000">
                <a:alpha val="3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028700" y="1261872"/>
            <a:ext cx="2743200" cy="4023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28700" y="1261872"/>
            <a:ext cx="2743200" cy="40233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2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DEMO VIDEO</a:t>
            </a:r>
          </a:p>
        </p:txBody>
      </p:sp>
      <p:pic>
        <p:nvPicPr>
          <p:cNvPr id="84" name="Picture 83" descr="youtub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03120" y="1783080"/>
            <a:ext cx="603504" cy="603504"/>
          </a:xfrm>
          <a:prstGeom prst="rect">
            <a:avLst/>
          </a:prstGeom>
        </p:spPr>
      </p:pic>
      <p:sp>
        <p:nvSpPr>
          <p:cNvPr id="85" name="Rounded Rectangle 84"/>
          <p:cNvSpPr/>
          <p:nvPr/>
        </p:nvSpPr>
        <p:spPr>
          <a:xfrm>
            <a:off x="4663440" y="118872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E2A9F1">
              <a:alpha val="50000"/>
            </a:srgbClr>
          </a:solidFill>
          <a:ln w="19050">
            <a:solidFill>
              <a:srgbClr val="000000">
                <a:alpha val="3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4663440" y="1188720"/>
            <a:ext cx="3429000" cy="548640"/>
          </a:xfrm>
          <a:prstGeom prst="roundRect">
            <a:avLst>
              <a:gd name="adj" fmla="val 12000"/>
            </a:avLst>
          </a:prstGeom>
          <a:solidFill>
            <a:srgbClr val="5CE1E6">
              <a:alpha val="30000"/>
            </a:srgbClr>
          </a:solidFill>
          <a:ln w="28575">
            <a:solidFill>
              <a:srgbClr val="000000">
                <a:alpha val="3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5006340" y="1261872"/>
            <a:ext cx="2743200" cy="4023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06340" y="1261872"/>
            <a:ext cx="2743200" cy="40233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2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GITHUB REPO</a:t>
            </a:r>
          </a:p>
        </p:txBody>
      </p:sp>
      <p:pic>
        <p:nvPicPr>
          <p:cNvPr id="89" name="Picture 88" descr="github.png">
            <a:hlinkClick r:id="rId22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80759" y="1783080"/>
            <a:ext cx="603504" cy="603504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4663440" y="2359152"/>
            <a:ext cx="342900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>
                <a:solidFill>
                  <a:srgbClr val="0563C1"/>
                </a:solidFill>
                <a:latin typeface="Lilita One"/>
                <a:ea typeface="Lilita One"/>
                <a:cs typeface="Lilita One"/>
                <a:sym typeface="Lilita One"/>
                <a:hlinkClick r:id="rId22"/>
              </a:rPr>
              <a:t>github.com/VedantBist/causalops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0584" y="2798064"/>
            <a:ext cx="8549640" cy="7004304"/>
          </a:xfrm>
          <a:prstGeom prst="roundRect">
            <a:avLst>
              <a:gd name="adj" fmla="val 3000"/>
            </a:avLst>
          </a:prstGeom>
          <a:solidFill>
            <a:srgbClr val="DCE6F2">
              <a:alpha val="43000"/>
            </a:srgbClr>
          </a:solidFill>
          <a:ln w="12700">
            <a:solidFill>
              <a:srgbClr val="000000">
                <a:alpha val="1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566928" y="2743200"/>
            <a:ext cx="7616952" cy="566928"/>
          </a:xfrm>
          <a:prstGeom prst="roundRect">
            <a:avLst>
              <a:gd name="adj" fmla="val 12000"/>
            </a:avLst>
          </a:prstGeom>
          <a:solidFill>
            <a:srgbClr val="5CE1E6">
              <a:alpha val="30000"/>
            </a:srgbClr>
          </a:solidFill>
          <a:ln w="28575">
            <a:solidFill>
              <a:srgbClr val="000000">
                <a:alpha val="3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2272284" y="2816352"/>
            <a:ext cx="4206240" cy="42062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272284" y="2816352"/>
            <a:ext cx="4206240" cy="42062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6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SYSTEM PREVIEW</a:t>
            </a:r>
          </a:p>
        </p:txBody>
      </p:sp>
      <p:pic>
        <p:nvPicPr>
          <p:cNvPr id="95" name="Picture 94" descr="p_src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4320" y="3456432"/>
            <a:ext cx="4023360" cy="260604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274320" y="6089904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>
                <a:solidFill>
                  <a:srgbClr val="1F3864"/>
                </a:solidFill>
                <a:latin typeface="Lilita One"/>
                <a:ea typeface="Lilita One"/>
                <a:cs typeface="Lilita One"/>
                <a:sym typeface="Lilita One"/>
              </a:rPr>
              <a:t>Log sources: live intake, conservation</a:t>
            </a:r>
          </a:p>
        </p:txBody>
      </p:sp>
      <p:pic>
        <p:nvPicPr>
          <p:cNvPr id="97" name="Picture 96" descr="p_lin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53128" y="3456432"/>
            <a:ext cx="4023360" cy="260604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4453128" y="6089904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>
                <a:solidFill>
                  <a:srgbClr val="1F3864"/>
                </a:solidFill>
                <a:latin typeface="Lilita One"/>
                <a:ea typeface="Lilita One"/>
                <a:cs typeface="Lilita One"/>
                <a:sym typeface="Lilita One"/>
              </a:rPr>
              <a:t>Event explorer: raw ↔ OCSF, verify lossless</a:t>
            </a:r>
          </a:p>
        </p:txBody>
      </p:sp>
      <p:pic>
        <p:nvPicPr>
          <p:cNvPr id="99" name="Picture 98" descr="p_inc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74320" y="6611112"/>
            <a:ext cx="4023360" cy="260604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274320" y="9244584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>
                <a:solidFill>
                  <a:srgbClr val="1F3864"/>
                </a:solidFill>
                <a:latin typeface="Lilita One"/>
                <a:ea typeface="Lilita One"/>
                <a:cs typeface="Lilita One"/>
                <a:sym typeface="Lilita One"/>
              </a:rPr>
              <a:t>Pipeline health: parser-drift incident</a:t>
            </a:r>
          </a:p>
        </p:txBody>
      </p:sp>
      <p:pic>
        <p:nvPicPr>
          <p:cNvPr id="101" name="Picture 100" descr="p_out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53128" y="6611112"/>
            <a:ext cx="4023360" cy="260604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4453128" y="9244584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>
                <a:solidFill>
                  <a:srgbClr val="1F3864"/>
                </a:solidFill>
                <a:latin typeface="Lilita One"/>
                <a:ea typeface="Lilita One"/>
                <a:cs typeface="Lilita One"/>
                <a:sym typeface="Lilita One"/>
              </a:rPr>
              <a:t>Outputs &amp; cost: lake, SIEM tier, ₹ saved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778240" y="1316736"/>
            <a:ext cx="9235440" cy="4846320"/>
          </a:xfrm>
          <a:prstGeom prst="roundRect">
            <a:avLst>
              <a:gd name="adj" fmla="val 3000"/>
            </a:avLst>
          </a:prstGeom>
          <a:solidFill>
            <a:srgbClr val="DCE6F2">
              <a:alpha val="43000"/>
            </a:srgbClr>
          </a:solidFill>
          <a:ln w="12700">
            <a:solidFill>
              <a:srgbClr val="000000">
                <a:alpha val="1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9235440" y="1316736"/>
            <a:ext cx="8412480" cy="603504"/>
          </a:xfrm>
          <a:prstGeom prst="roundRect">
            <a:avLst>
              <a:gd name="adj" fmla="val 12000"/>
            </a:avLst>
          </a:prstGeom>
          <a:solidFill>
            <a:srgbClr val="5CE1E6">
              <a:alpha val="30000"/>
            </a:srgbClr>
          </a:solidFill>
          <a:ln w="28575">
            <a:solidFill>
              <a:srgbClr val="000000">
                <a:alpha val="3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10698480" y="1389888"/>
            <a:ext cx="54864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698480" y="1389888"/>
            <a:ext cx="54864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6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RESEARCH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887968" y="2011680"/>
            <a:ext cx="9015984" cy="1481328"/>
          </a:xfrm>
          <a:prstGeom prst="rect">
            <a:avLst/>
          </a:prstGeom>
          <a:solidFill>
            <a:srgbClr val="FFF5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42832" y="2011680"/>
            <a:ext cx="8915400" cy="14813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SchemaOps is a universal log pre-processing framework for heterogeneous security logs. It keeps every raw log byte for byte in a hash-chained vault, normalizes it to OCSF, proves each event lossless, and watches parsing quality so that a vendor format change is detected and repaired instead of silently losing fields.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887968" y="3584448"/>
            <a:ext cx="4206240" cy="2487168"/>
          </a:xfrm>
          <a:prstGeom prst="rect">
            <a:avLst/>
          </a:prstGeom>
          <a:solidFill>
            <a:srgbClr val="FFF5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61120" y="3602736"/>
            <a:ext cx="4069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Built on open standards and published methods: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61120" y="4160520"/>
            <a:ext cx="4069080" cy="1920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74942" indent="-174942">
              <a:spcAft>
                <a:spcPts val="200"/>
              </a:spcAft>
              <a:buFont typeface="Lilita One"/>
              <a:buChar char="•"/>
            </a:pPr>
            <a:r>
              <a:rPr sz="14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OCSF 1.3 event schema</a:t>
            </a:r>
          </a:p>
          <a:p>
            <a:pPr algn="l" marL="174942" indent="-174942">
              <a:spcAft>
                <a:spcPts val="200"/>
              </a:spcAft>
              <a:buFont typeface="Lilita One"/>
              <a:buChar char="•"/>
            </a:pPr>
            <a:r>
              <a:rPr sz="14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Syslog RFC 5424 / 3164 / 6587</a:t>
            </a:r>
          </a:p>
          <a:p>
            <a:pPr algn="l" marL="174942" indent="-174942">
              <a:spcAft>
                <a:spcPts val="200"/>
              </a:spcAft>
              <a:buFont typeface="Lilita One"/>
              <a:buChar char="•"/>
            </a:pPr>
            <a:r>
              <a:rPr sz="14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ArcSight CEF and IBM LEEF</a:t>
            </a:r>
          </a:p>
          <a:p>
            <a:pPr algn="l" marL="174942" indent="-174942">
              <a:spcAft>
                <a:spcPts val="200"/>
              </a:spcAft>
              <a:buFont typeface="Lilita One"/>
              <a:buChar char="•"/>
            </a:pPr>
            <a:r>
              <a:rPr sz="14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Drain log parsing (He et al., 2017)</a:t>
            </a:r>
          </a:p>
          <a:p>
            <a:pPr algn="l" marL="174942" indent="-174942">
              <a:spcAft>
                <a:spcPts val="200"/>
              </a:spcAft>
              <a:buFont typeface="Lilita One"/>
              <a:buChar char="•"/>
            </a:pPr>
            <a:r>
              <a:rPr sz="14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Sigma rules, MITRE ATT&amp;CK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3185648" y="3584448"/>
            <a:ext cx="4718304" cy="2487168"/>
          </a:xfrm>
          <a:prstGeom prst="rect">
            <a:avLst/>
          </a:prstGeom>
          <a:solidFill>
            <a:srgbClr val="FFF5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3258800" y="3602736"/>
            <a:ext cx="4572000" cy="2468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Contribution: losslessness is verified by rebuilding the raw bytes from the normalized record and comparing hashes with the vault; parser drift is detected from learned fill-rate baselines and repaired through shadow tests, policy rules, live verification and re-processing of the affected history.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778240" y="6291072"/>
            <a:ext cx="9235440" cy="3511296"/>
          </a:xfrm>
          <a:prstGeom prst="roundRect">
            <a:avLst>
              <a:gd name="adj" fmla="val 3000"/>
            </a:avLst>
          </a:prstGeom>
          <a:solidFill>
            <a:srgbClr val="E2A9F1">
              <a:alpha val="45000"/>
            </a:srgbClr>
          </a:solidFill>
          <a:ln w="12700">
            <a:solidFill>
              <a:srgbClr val="000000">
                <a:alpha val="1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9235440" y="6272784"/>
            <a:ext cx="8412480" cy="585216"/>
          </a:xfrm>
          <a:prstGeom prst="roundRect">
            <a:avLst>
              <a:gd name="adj" fmla="val 12000"/>
            </a:avLst>
          </a:prstGeom>
          <a:solidFill>
            <a:srgbClr val="5CE1E6">
              <a:alpha val="30000"/>
            </a:srgbClr>
          </a:solidFill>
          <a:ln w="28575">
            <a:solidFill>
              <a:srgbClr val="000000">
                <a:alpha val="3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10698480" y="6345936"/>
            <a:ext cx="54864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698480" y="6345936"/>
            <a:ext cx="5486400" cy="4389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600">
                <a:solidFill>
                  <a:srgbClr val="F26720"/>
                </a:solidFill>
                <a:latin typeface="Lilita One"/>
                <a:ea typeface="Lilita One"/>
                <a:cs typeface="Lilita One"/>
                <a:sym typeface="Lilita One"/>
              </a:rPr>
              <a:t>REFERENCES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887968" y="6949440"/>
            <a:ext cx="4480560" cy="2788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1. OCSF Schema 1.3</a:t>
            </a:r>
          </a:p>
          <a:p>
            <a:pPr algn="l">
              <a:spcAft>
                <a:spcPts val="200"/>
              </a:spcAft>
            </a:pPr>
            <a:r>
              <a:rPr sz="1200" u="sng">
                <a:solidFill>
                  <a:srgbClr val="0563C1"/>
                </a:solidFill>
                <a:latin typeface="Lilita One"/>
                <a:ea typeface="Lilita One"/>
                <a:cs typeface="Lilita One"/>
                <a:sym typeface="Lilita One"/>
                <a:hlinkClick r:id="rId27"/>
              </a:rPr>
              <a:t>    https://schema.ocsf.io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2. RFC 5424: The Syslog Protocol</a:t>
            </a:r>
          </a:p>
          <a:p>
            <a:pPr algn="l">
              <a:spcAft>
                <a:spcPts val="200"/>
              </a:spcAft>
            </a:pPr>
            <a:r>
              <a:rPr sz="1200" u="sng">
                <a:solidFill>
                  <a:srgbClr val="0563C1"/>
                </a:solidFill>
                <a:latin typeface="Lilita One"/>
                <a:ea typeface="Lilita One"/>
                <a:cs typeface="Lilita One"/>
                <a:sym typeface="Lilita One"/>
                <a:hlinkClick r:id="rId28"/>
              </a:rPr>
              <a:t>    https://www.rfc-editor.org/rfc/rfc5424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3. RFC 6587: Syslog over TCP</a:t>
            </a:r>
          </a:p>
          <a:p>
            <a:pPr algn="l">
              <a:spcAft>
                <a:spcPts val="200"/>
              </a:spcAft>
            </a:pPr>
            <a:r>
              <a:rPr sz="1200" u="sng">
                <a:solidFill>
                  <a:srgbClr val="0563C1"/>
                </a:solidFill>
                <a:latin typeface="Lilita One"/>
                <a:ea typeface="Lilita One"/>
                <a:cs typeface="Lilita One"/>
                <a:sym typeface="Lilita One"/>
                <a:hlinkClick r:id="rId29"/>
              </a:rPr>
              <a:t>    https://www.rfc-editor.org/rfc/rfc6587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4. He, P. et al. (2017) Drain: online log parsing, IEEE ICWS</a:t>
            </a:r>
          </a:p>
          <a:p>
            <a:pPr algn="l">
              <a:spcAft>
                <a:spcPts val="200"/>
              </a:spcAft>
            </a:pPr>
            <a:r>
              <a:rPr sz="1200" u="sng">
                <a:solidFill>
                  <a:srgbClr val="0563C1"/>
                </a:solidFill>
                <a:latin typeface="Lilita One"/>
                <a:ea typeface="Lilita One"/>
                <a:cs typeface="Lilita One"/>
                <a:sym typeface="Lilita One"/>
                <a:hlinkClick r:id="rId30"/>
              </a:rPr>
              <a:t>    https://doi.org/10.1109/ICWS.2017.13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459968" y="6949440"/>
            <a:ext cx="4480560" cy="2788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5. Sigma detection rule format</a:t>
            </a:r>
          </a:p>
          <a:p>
            <a:pPr algn="l">
              <a:spcAft>
                <a:spcPts val="200"/>
              </a:spcAft>
            </a:pPr>
            <a:r>
              <a:rPr sz="1200" u="sng">
                <a:solidFill>
                  <a:srgbClr val="0563C1"/>
                </a:solidFill>
                <a:latin typeface="Lilita One"/>
                <a:ea typeface="Lilita One"/>
                <a:cs typeface="Lilita One"/>
                <a:sym typeface="Lilita One"/>
                <a:hlinkClick r:id="rId31"/>
              </a:rPr>
              <a:t>    https://github.com/SigmaHQ/sigma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6. CERT-In Directions, 28 April 2022</a:t>
            </a:r>
          </a:p>
          <a:p>
            <a:pPr algn="l">
              <a:spcAft>
                <a:spcPts val="200"/>
              </a:spcAft>
            </a:pPr>
            <a:r>
              <a:rPr sz="1200" u="sng">
                <a:solidFill>
                  <a:srgbClr val="0563C1"/>
                </a:solidFill>
                <a:latin typeface="Lilita One"/>
                <a:ea typeface="Lilita One"/>
                <a:cs typeface="Lilita One"/>
                <a:sym typeface="Lilita One"/>
                <a:hlinkClick r:id="rId32"/>
              </a:rPr>
              <a:t>    https://www.cert-in.org.in/Directions70B.jsp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7. Digital Personal Data Protection Act, 2023</a:t>
            </a:r>
          </a:p>
          <a:p>
            <a:pPr algn="l">
              <a:spcAft>
                <a:spcPts val="200"/>
              </a:spcAft>
            </a:pPr>
            <a:r>
              <a:rPr sz="1200" u="sng">
                <a:solidFill>
                  <a:srgbClr val="0563C1"/>
                </a:solidFill>
                <a:latin typeface="Lilita One"/>
                <a:ea typeface="Lilita One"/>
                <a:cs typeface="Lilita One"/>
                <a:sym typeface="Lilita One"/>
                <a:hlinkClick r:id="rId33"/>
              </a:rPr>
              <a:t>    https://www.meity.gov.in</a:t>
            </a:r>
          </a:p>
          <a:p>
            <a:pPr algn="l">
              <a:spcAft>
                <a:spcPts val="200"/>
              </a:spcAft>
            </a:pPr>
            <a:r>
              <a:rPr sz="135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8. MITRE ATT&amp;CK</a:t>
            </a:r>
          </a:p>
          <a:p>
            <a:pPr algn="l">
              <a:spcAft>
                <a:spcPts val="200"/>
              </a:spcAft>
            </a:pPr>
            <a:r>
              <a:rPr sz="1200" u="sng">
                <a:solidFill>
                  <a:srgbClr val="0563C1"/>
                </a:solidFill>
                <a:latin typeface="Lilita One"/>
                <a:ea typeface="Lilita One"/>
                <a:cs typeface="Lilita One"/>
                <a:sym typeface="Lilita One"/>
                <a:hlinkClick r:id="rId34"/>
              </a:rPr>
              <a:t>    https://attack.mitre.org/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953767"/>
            <a:ext cx="18288000" cy="333233"/>
            <a:chOff x="0" y="0"/>
            <a:chExt cx="24384000" cy="4443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444311"/>
            </a:xfrm>
            <a:custGeom>
              <a:avLst/>
              <a:gdLst/>
              <a:ahLst/>
              <a:cxnLst/>
              <a:rect r="r" b="b" t="t" l="l"/>
              <a:pathLst>
                <a:path h="44431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44311"/>
                  </a:lnTo>
                  <a:lnTo>
                    <a:pt x="0" y="444311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17932746" y="9891813"/>
            <a:ext cx="131445" cy="36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ilita One"/>
        <a:ea typeface="Lilita One"/>
        <a:cs typeface="Lilita One"/>
        <a:font script="Jpan" typeface="Lilita One"/>
        <a:font script="Hang" typeface="Lilita One"/>
        <a:font script="Hans" typeface="Lilita One"/>
        <a:font script="Hant" typeface="Lilita One"/>
        <a:font script="Arab" typeface="Lilita One"/>
        <a:font script="Hebr" typeface="Lilita One"/>
        <a:font script="Thai" typeface="Lilita One"/>
        <a:font script="Ethi" typeface="Lilita One"/>
        <a:font script="Beng" typeface="Lilita One"/>
        <a:font script="Gujr" typeface="Lilita One"/>
        <a:font script="Khmr" typeface="Lilita One"/>
        <a:font script="Knda" typeface="Lilita One"/>
        <a:font script="Guru" typeface="Lilita One"/>
        <a:font script="Cans" typeface="Lilita One"/>
        <a:font script="Cher" typeface="Lilita One"/>
        <a:font script="Yiii" typeface="Lilita One"/>
        <a:font script="Tibt" typeface="Lilita One"/>
        <a:font script="Thaa" typeface="Lilita One"/>
        <a:font script="Deva" typeface="Lilita One"/>
        <a:font script="Telu" typeface="Lilita One"/>
        <a:font script="Taml" typeface="Lilita One"/>
        <a:font script="Syrc" typeface="Lilita One"/>
        <a:font script="Orya" typeface="Lilita One"/>
        <a:font script="Mlym" typeface="Lilita One"/>
        <a:font script="Laoo" typeface="Lilita One"/>
        <a:font script="Sinh" typeface="Lilita One"/>
        <a:font script="Mong" typeface="Lilita One"/>
        <a:font script="Viet" typeface="Lilita One"/>
        <a:font script="Uigh" typeface="Lilita One"/>
      </a:majorFont>
      <a:minorFont>
        <a:latin typeface="Lilita One"/>
        <a:ea typeface="Lilita One"/>
        <a:cs typeface="Lilita One"/>
        <a:font script="Jpan" typeface="Lilita One"/>
        <a:font script="Hang" typeface="Lilita One"/>
        <a:font script="Hans" typeface="Lilita One"/>
        <a:font script="Hant" typeface="Lilita One"/>
        <a:font script="Arab" typeface="Lilita One"/>
        <a:font script="Hebr" typeface="Lilita One"/>
        <a:font script="Thai" typeface="Lilita One"/>
        <a:font script="Ethi" typeface="Lilita One"/>
        <a:font script="Beng" typeface="Lilita One"/>
        <a:font script="Gujr" typeface="Lilita One"/>
        <a:font script="Khmr" typeface="Lilita One"/>
        <a:font script="Knda" typeface="Lilita One"/>
        <a:font script="Guru" typeface="Lilita One"/>
        <a:font script="Cans" typeface="Lilita One"/>
        <a:font script="Cher" typeface="Lilita One"/>
        <a:font script="Yiii" typeface="Lilita One"/>
        <a:font script="Tibt" typeface="Lilita One"/>
        <a:font script="Thaa" typeface="Lilita One"/>
        <a:font script="Deva" typeface="Lilita One"/>
        <a:font script="Telu" typeface="Lilita One"/>
        <a:font script="Taml" typeface="Lilita One"/>
        <a:font script="Syrc" typeface="Lilita One"/>
        <a:font script="Orya" typeface="Lilita One"/>
        <a:font script="Mlym" typeface="Lilita One"/>
        <a:font script="Laoo" typeface="Lilita One"/>
        <a:font script="Sinh" typeface="Lilita One"/>
        <a:font script="Mong" typeface="Lilita One"/>
        <a:font script="Viet" typeface="Lilita One"/>
        <a:font script="Uigh" typeface="Lilita On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ilita One"/>
        <a:ea typeface="Lilita One"/>
        <a:cs typeface="Lilita One"/>
        <a:font script="Jpan" typeface="Lilita One"/>
        <a:font script="Hang" typeface="Lilita One"/>
        <a:font script="Hans" typeface="Lilita One"/>
        <a:font script="Hant" typeface="Lilita One"/>
        <a:font script="Arab" typeface="Lilita One"/>
        <a:font script="Hebr" typeface="Lilita One"/>
        <a:font script="Thai" typeface="Lilita One"/>
        <a:font script="Ethi" typeface="Lilita One"/>
        <a:font script="Beng" typeface="Lilita One"/>
        <a:font script="Gujr" typeface="Lilita One"/>
        <a:font script="Khmr" typeface="Lilita One"/>
        <a:font script="Knda" typeface="Lilita One"/>
        <a:font script="Guru" typeface="Lilita One"/>
        <a:font script="Cans" typeface="Lilita One"/>
        <a:font script="Cher" typeface="Lilita One"/>
        <a:font script="Yiii" typeface="Lilita One"/>
        <a:font script="Tibt" typeface="Lilita One"/>
        <a:font script="Thaa" typeface="Lilita One"/>
        <a:font script="Deva" typeface="Lilita One"/>
        <a:font script="Telu" typeface="Lilita One"/>
        <a:font script="Taml" typeface="Lilita One"/>
        <a:font script="Syrc" typeface="Lilita One"/>
        <a:font script="Orya" typeface="Lilita One"/>
        <a:font script="Mlym" typeface="Lilita One"/>
        <a:font script="Laoo" typeface="Lilita One"/>
        <a:font script="Sinh" typeface="Lilita One"/>
        <a:font script="Mong" typeface="Lilita One"/>
        <a:font script="Viet" typeface="Lilita One"/>
        <a:font script="Uigh" typeface="Lilita One"/>
      </a:majorFont>
      <a:minorFont>
        <a:latin typeface="Lilita One"/>
        <a:ea typeface="Lilita One"/>
        <a:cs typeface="Lilita One"/>
        <a:font script="Jpan" typeface="Lilita One"/>
        <a:font script="Hang" typeface="Lilita One"/>
        <a:font script="Hans" typeface="Lilita One"/>
        <a:font script="Hant" typeface="Lilita One"/>
        <a:font script="Arab" typeface="Lilita One"/>
        <a:font script="Hebr" typeface="Lilita One"/>
        <a:font script="Thai" typeface="Lilita One"/>
        <a:font script="Ethi" typeface="Lilita One"/>
        <a:font script="Beng" typeface="Lilita One"/>
        <a:font script="Gujr" typeface="Lilita One"/>
        <a:font script="Khmr" typeface="Lilita One"/>
        <a:font script="Knda" typeface="Lilita One"/>
        <a:font script="Guru" typeface="Lilita One"/>
        <a:font script="Cans" typeface="Lilita One"/>
        <a:font script="Cher" typeface="Lilita One"/>
        <a:font script="Yiii" typeface="Lilita One"/>
        <a:font script="Tibt" typeface="Lilita One"/>
        <a:font script="Thaa" typeface="Lilita One"/>
        <a:font script="Deva" typeface="Lilita One"/>
        <a:font script="Telu" typeface="Lilita One"/>
        <a:font script="Taml" typeface="Lilita One"/>
        <a:font script="Syrc" typeface="Lilita One"/>
        <a:font script="Orya" typeface="Lilita One"/>
        <a:font script="Mlym" typeface="Lilita One"/>
        <a:font script="Laoo" typeface="Lilita One"/>
        <a:font script="Sinh" typeface="Lilita One"/>
        <a:font script="Mong" typeface="Lilita One"/>
        <a:font script="Viet" typeface="Lilita One"/>
        <a:font script="Uigh" typeface="Lilita On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DAHVoU5HTwg</dc:identifier>
  <dcterms:modified xsi:type="dcterms:W3CDTF">2011-08-01T06:04:30Z</dcterms:modified>
  <cp:revision>1</cp:revision>
  <dc:title>SIH 2026 Winners</dc:title>
</cp:coreProperties>
</file>